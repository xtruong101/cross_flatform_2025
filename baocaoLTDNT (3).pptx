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51"/>
  </p:notesMasterIdLst>
  <p:sldIdLst>
    <p:sldId id="312" r:id="rId5"/>
    <p:sldId id="341" r:id="rId6"/>
    <p:sldId id="391" r:id="rId7"/>
    <p:sldId id="334" r:id="rId8"/>
    <p:sldId id="339" r:id="rId9"/>
    <p:sldId id="346" r:id="rId10"/>
    <p:sldId id="372" r:id="rId11"/>
    <p:sldId id="343" r:id="rId12"/>
    <p:sldId id="397" r:id="rId13"/>
    <p:sldId id="401" r:id="rId14"/>
    <p:sldId id="355" r:id="rId15"/>
    <p:sldId id="347" r:id="rId16"/>
    <p:sldId id="356" r:id="rId17"/>
    <p:sldId id="358" r:id="rId18"/>
    <p:sldId id="359" r:id="rId19"/>
    <p:sldId id="360" r:id="rId20"/>
    <p:sldId id="368" r:id="rId21"/>
    <p:sldId id="361" r:id="rId22"/>
    <p:sldId id="363" r:id="rId23"/>
    <p:sldId id="364" r:id="rId24"/>
    <p:sldId id="369" r:id="rId25"/>
    <p:sldId id="365" r:id="rId26"/>
    <p:sldId id="379" r:id="rId27"/>
    <p:sldId id="380" r:id="rId28"/>
    <p:sldId id="381" r:id="rId29"/>
    <p:sldId id="393" r:id="rId30"/>
    <p:sldId id="382" r:id="rId31"/>
    <p:sldId id="383" r:id="rId32"/>
    <p:sldId id="370" r:id="rId33"/>
    <p:sldId id="384" r:id="rId34"/>
    <p:sldId id="378" r:id="rId35"/>
    <p:sldId id="385" r:id="rId36"/>
    <p:sldId id="373" r:id="rId37"/>
    <p:sldId id="374" r:id="rId38"/>
    <p:sldId id="386" r:id="rId39"/>
    <p:sldId id="375" r:id="rId40"/>
    <p:sldId id="394" r:id="rId41"/>
    <p:sldId id="387" r:id="rId42"/>
    <p:sldId id="371" r:id="rId43"/>
    <p:sldId id="376" r:id="rId44"/>
    <p:sldId id="395" r:id="rId45"/>
    <p:sldId id="389" r:id="rId46"/>
    <p:sldId id="396" r:id="rId47"/>
    <p:sldId id="392" r:id="rId48"/>
    <p:sldId id="398" r:id="rId49"/>
    <p:sldId id="390" r:id="rId50"/>
  </p:sldIdLst>
  <p:sldSz cx="9144000" cy="5143500" type="screen16x9"/>
  <p:notesSz cx="6858000" cy="9144000"/>
  <p:embeddedFontLst>
    <p:embeddedFont>
      <p:font typeface="Albert Sans" panose="020B0604020202020204" charset="0"/>
      <p:regular r:id="rId52"/>
      <p:bold r:id="rId53"/>
      <p:italic r:id="rId54"/>
      <p:boldItalic r:id="rId55"/>
    </p:embeddedFont>
    <p:embeddedFont>
      <p:font typeface="Cambria" panose="02040503050406030204" pitchFamily="18" charset="0"/>
      <p:regular r:id="rId56"/>
      <p:bold r:id="rId57"/>
      <p:italic r:id="rId58"/>
      <p:boldItalic r:id="rId59"/>
    </p:embeddedFont>
    <p:embeddedFont>
      <p:font typeface="DM Sans" pitchFamily="2" charset="0"/>
      <p:regular r:id="rId60"/>
      <p:bold r:id="rId61"/>
      <p:italic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EA0A50E-D806-47F9-8622-6DD71D228117}">
  <a:tblStyle styleId="{5EA0A50E-D806-47F9-8622-6DD71D228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5872E5-C1AD-4070-BBC1-F28DE486AA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79248" autoAdjust="0"/>
  </p:normalViewPr>
  <p:slideViewPr>
    <p:cSldViewPr snapToGrid="0">
      <p:cViewPr varScale="1">
        <p:scale>
          <a:sx n="109" d="100"/>
          <a:sy n="109" d="100"/>
        </p:scale>
        <p:origin x="706" y="8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font" Target="fonts/font10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font" Target="fonts/font5.fntdata"/><Relationship Id="rId64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8.fntdata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font" Target="fonts/font6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2D75284-4872-09BD-0C34-9CBAC7EE6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59FAC60-474F-BCB9-56D2-7FBA3993D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614FD04-5E25-15E3-2E21-74BDEE1BF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3703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1923616-AA71-F027-ADB3-3FE94157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06F5AF0-2FFD-80B4-FC2E-B1A8583DB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55C41F2-F92E-87E6-2545-2DD32720F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400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FF7C4AF-77C2-E4FC-0324-802C2C1F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0CD7D73-E346-51E6-7C4D-A660B7A0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68CC264-EA0E-2CE1-D0D6-528261A26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51619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253851F-390E-E7E4-D429-ACF773D56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C1871C7-0DA1-7DEB-129E-6FE0D2B8A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A41B40B-EB07-38CE-15AF-EA977F9B84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6822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F54D249-78A6-FD10-ABAD-419BEE1A6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4CF864A-96DA-DE84-3CB7-5E810D3D79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C80CC72-6749-5CA5-75FB-EFF1708CF2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30216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8B530FD-748A-CE71-C65C-D1E25294D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971B3B-1E00-86E1-1696-681A485677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63E5268-F26D-6587-3D51-C5ECA4110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3572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CD7AF53-9278-C2C2-C958-7758EE30D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8788E9D1-61B9-FB0D-270F-4FFFBB2267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70376CA-F29C-13D5-9FA7-5E3C153A9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5565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A7F6D3A5-D6EA-8761-61EA-4755784BF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0B4B143-097E-67BB-20B1-81EFE19707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B847DB2-F632-9E2A-9633-B3D2B64159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2478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8D0A2B1-ACC5-14B8-1918-25A487752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0222207-A56E-15B8-E644-918C0B3110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B7FDC7A-B45E-16C9-8AD9-102D5F582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344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D7F3B2F-771A-51A0-A75E-43C80F94E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A77017F-318F-B55F-F872-DB49BFE3A4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4DDBBBE-87DD-3B9C-D485-EB250DA55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803285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F91EF5B-D167-375B-5D39-55E6CB71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4634783-C3EC-0752-AFDA-BA7DE60841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9777FD8-9781-63B8-E5F6-546D31B074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38735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7233049-E4AE-896A-C735-DD02D303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7D3FEE7-0F5F-0AD9-5DC3-152C5E9648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3C6B4F3-E6DA-80DB-530D-FD97F5228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08167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487D7AF-596F-EE1E-FA29-839E0F4B6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1D38A20-03FB-79CD-A0D8-20754BD8A7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B13D6BB-ECB6-8BC1-F60E-E7CA94BFDC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02905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EC42FD4-72FE-72B3-12ED-C3DD6A65B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EAD27C7-5893-1DF7-1514-E2343D20E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2AD0341-76B2-FC96-056E-596E0EABA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61647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23C5006-2916-A3EA-358F-532DC33E9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DA6BD1E-A64B-B45C-0131-24604B60D9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2856032-224B-C4D8-5220-B1C00FD06F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340710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5F43E69-74A7-8869-283B-95755B9B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324F539-608F-7551-BB2E-9A30E1FE5E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DF89FB6-1C24-3545-696F-F2A8805CA4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55084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49D62B0-1668-6664-2E53-A0CD50CF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50B2D12-99E7-03DD-5E0B-FFB5E8052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0219619-CD3F-7ED0-4BA3-024CD79CA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97377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D5367C6-0E8F-4316-462C-958523D5F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08EB4F7-2AFA-922B-B2EA-59203C788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CDD68EF-2AA2-6AED-90E1-243F90878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09418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A1F49D8-1E4C-EB27-0785-33FE3B29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242D7C7-CA3C-CAF2-BBCA-E1C2D00869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BC315A7-CE5A-D7FF-C1D7-2B8D6BA67B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376878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9AA23CD-3F8A-BE25-E446-3D0AD2214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6A6B02D-B796-6C81-0FB7-0DD50C0500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FBFCEF9-2D73-02E6-62D4-D7C9FD6B6A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2301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BAC7F19-F79A-C6BE-282B-C0CD664D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50B985E-CA73-E0C1-1E46-CC515A053C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F560CB6-94FD-2400-744A-803FF83C49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41818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4CCAE65-7F32-EE76-B574-7737817F2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C685E51-A226-67B7-B509-29AE41016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85F3848-0563-5216-4C1C-2AB3B7C4C8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20503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9634342-BFAC-D5B4-E4C6-2FBEB52D4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DC75A1-A878-269D-34D1-682B489800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F0BC73A-D973-9854-66A5-56CC1CE795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518300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5E6426-B2E4-B598-EC6D-13C582B7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2F52443-450D-9B70-1D60-CB9C361A0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8AB152A-C556-11C1-FED7-01E262D565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56889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A85EC1-92BE-7CFD-6AF0-51A34C0A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AF1F378-5500-78F3-CFD2-32F4CABDA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ECACEDA-7DF3-E4BC-E7A3-3224AFF31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7057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8507B43-DAAB-977B-ACC5-FF7CACD7E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A7846137-F2EC-571A-32B8-190AC6A26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85D1BE5-1D13-E7B1-9547-8AE7F53449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504394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8141504-829F-EE44-76F6-BC3CC4F3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00CB3BD-21C4-25C1-65AF-94A2A7D147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803D3E2-B8B3-0F8F-37F1-B20673BEC0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029913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C4F8B91-5BD8-B0CA-BBB2-245527A56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A1B0A22-043B-A080-A137-522032C4FE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8F80FC1-25FF-93C2-D023-53B02A5F1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53110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3D9B370-38AB-49A3-BACC-57D29DE4F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9BFB0DE-C9C2-7A3B-090D-691E9BBE4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1BBF92B-79F7-7F20-DFD5-7577C2186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57785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B53CB96-F1FD-457F-B78A-8058DCB3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9F48A92-7F26-CDF1-05FC-338F070D1C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2BAB8F8-5FAE-9C4C-6F69-39198A0CA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53518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CB2ADD1-DE6E-ED66-2D66-57ADBA6A7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7D73B00-362F-00E5-B8D3-79AB16D3B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9928C3B-B41C-2DAE-BC14-E1C499814F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882916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0AB5FE3-27DF-B6F4-15BC-A5AE1C05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A46ECEE0-5FA0-D917-A226-A300D3293D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9C94247-62EF-6AF7-7E73-513840195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766137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DE1F727-9409-539C-5C74-1FB8C73FD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401CDBF-BC8D-C0ED-EFB3-7484061DB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4E67631-4D2C-F401-666E-6B9C8E4CCC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98863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BC6F907-7965-1FCE-540F-4A43BABA8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6C575C6-7E03-396E-4B8E-E30285D98E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0CB059E-F90A-5B21-66B4-B75EB64497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15356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4AE1D50-FEA7-D1A0-E49B-DA4444404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2702D46-5558-59F3-E083-0B0E009C4A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F25B0C9-BFA3-C0F2-D205-DCE5AAD509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54460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A6AD27B5-08C6-4D61-405B-26C39A8D9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79DC573-662F-9FB6-EF8F-8862E1898F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139258D-1270-356A-A20A-29330BD66A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011224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5AE1A24-0419-FBDF-207A-A4826483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742B42A-AFEE-FF6C-01B7-5DAE468F3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D5D5B06-43A2-3AB1-5741-FC83973C1A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93538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324999C-5A4E-4454-9D20-209C2C72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C692357-F755-91CD-789A-1506D5A19E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03125A4-25D7-A194-9C00-6018F8C65D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56527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893A2D89-32E2-C7FF-0B66-CEE5F82C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1D3530A-FDD6-58EB-0DBC-A6EAAC4256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2308816-85AD-DFB8-84DA-436A0551A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15436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B6A9CBF-15E0-B447-F9E4-8DE631382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A766B2F-A1AC-E5F0-3488-3B93F117E8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EC0B2A4-1129-75EF-4361-9BD9FEF013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45328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C7E90DC-CBC3-B3E8-E886-A0B6D63C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67DEC67-45A6-3CF2-ECF1-0BB1FB5D50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DF86D934-D39E-45B7-210E-208508EA3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19077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B7C34F2-A810-2AF1-AB6C-96A5A0EBA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751207A-0693-47BC-8A35-17D62651A4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C6BC5FC-E53D-EB07-95D4-4177EA132F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917156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F992113-E755-605F-127A-A274EA87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F0234CD5-9569-739F-BA8A-D1819C5104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DE4B359-7C37-E01E-5C81-DFA443CC4C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512498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A0615AD-39AE-C903-9C61-D9640F5B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9E4D04A-A355-BF93-8811-3321C71665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7713DF8-02B9-8261-7808-B5F2A396C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9021892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81DB1D7-BFB9-1E9A-4F75-0720C116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64F605C-7405-6DF8-0483-2378AD835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BAF433A-194C-04BE-4860-6A0F001B5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983043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F931383-D12A-F021-1728-32465847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CEB857A-B09C-9CFB-3C75-2A8F879F9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61073A7-8447-C970-809F-31D9DB410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743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3"/>
          <p:cNvSpPr txBox="1">
            <a:spLocks noGrp="1"/>
          </p:cNvSpPr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6" name="Google Shape;486;p31"/>
          <p:cNvSpPr txBox="1">
            <a:spLocks noGrp="1"/>
          </p:cNvSpPr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>
            <a:spLocks noGrp="1"/>
          </p:cNvSpPr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8" name="Google Shape;488;p31"/>
          <p:cNvSpPr txBox="1">
            <a:spLocks noGrp="1"/>
          </p:cNvSpPr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89" name="Google Shape;489;p31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9" r:id="rId2"/>
    <p:sldLayoutId id="2147483677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flutter/flutter-tutorial/" TargetMode="External"/><Relationship Id="rId5" Type="http://schemas.openxmlformats.org/officeDocument/2006/relationships/hyperlink" Target="https://docs.flutter.dev/" TargetMode="External"/><Relationship Id="rId4" Type="http://schemas.openxmlformats.org/officeDocument/2006/relationships/hyperlink" Target="https://api.flutter.dev/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1DD1CF1-43C9-F5F5-CBA8-8FEC3593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F762E-ECD9-D0C7-3028-2575F52ABF68}"/>
              </a:ext>
            </a:extLst>
          </p:cNvPr>
          <p:cNvSpPr txBox="1"/>
          <p:nvPr/>
        </p:nvSpPr>
        <p:spPr>
          <a:xfrm>
            <a:off x="2296184" y="3286466"/>
            <a:ext cx="50032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+mj-lt"/>
              </a:rPr>
              <a:t>GVHD:	TS. Nguyễn Duy Nhật </a:t>
            </a:r>
            <a:r>
              <a:rPr lang="en-US" b="1" dirty="0" err="1">
                <a:latin typeface="+mj-lt"/>
              </a:rPr>
              <a:t>Viễn</a:t>
            </a:r>
            <a:endParaRPr lang="en-US" b="1" dirty="0">
              <a:latin typeface="+mj-lt"/>
            </a:endParaRPr>
          </a:p>
          <a:p>
            <a:endParaRPr lang="en-US" b="1" dirty="0">
              <a:latin typeface="+mj-lt"/>
            </a:endParaRPr>
          </a:p>
          <a:p>
            <a:r>
              <a:rPr lang="en-US" b="1" dirty="0">
                <a:latin typeface="+mj-lt"/>
              </a:rPr>
              <a:t>SVTH:	Trần Đại Tín – 22KTMT2 – 106220272</a:t>
            </a:r>
          </a:p>
          <a:p>
            <a:r>
              <a:rPr lang="en-US" b="1" dirty="0">
                <a:latin typeface="+mj-lt"/>
              </a:rPr>
              <a:t>	Nguyễn Xuân Trường – 22KTMT2 - 106220275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2D26FC4-9D00-F995-6DDC-AFCCDB3AB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20562" cy="729253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6B3D812-303A-5830-1A92-D25C989B557D}"/>
              </a:ext>
            </a:extLst>
          </p:cNvPr>
          <p:cNvSpPr txBox="1">
            <a:spLocks/>
          </p:cNvSpPr>
          <p:nvPr/>
        </p:nvSpPr>
        <p:spPr>
          <a:xfrm>
            <a:off x="810281" y="1060137"/>
            <a:ext cx="7975100" cy="729253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cáo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Tuần</a:t>
            </a:r>
            <a:endParaRPr lang="en-US" sz="2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Môn: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đa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nền</a:t>
            </a:r>
            <a:r>
              <a:rPr lang="en-US" sz="2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tảng</a:t>
            </a:r>
            <a:endParaRPr lang="vi-VN" sz="2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869ED-74B9-F172-0824-979E695F56BF}"/>
              </a:ext>
            </a:extLst>
          </p:cNvPr>
          <p:cNvSpPr txBox="1">
            <a:spLocks/>
          </p:cNvSpPr>
          <p:nvPr/>
        </p:nvSpPr>
        <p:spPr>
          <a:xfrm>
            <a:off x="209985" y="1966486"/>
            <a:ext cx="8914998" cy="86594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41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41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1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41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Buttons </a:t>
            </a:r>
            <a:r>
              <a:rPr lang="en-US" sz="41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1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Input Widgets</a:t>
            </a:r>
            <a:endParaRPr lang="vi-VN" sz="41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B40A9-8515-59B8-F99C-5C0740CD38F4}"/>
              </a:ext>
            </a:extLst>
          </p:cNvPr>
          <p:cNvSpPr txBox="1"/>
          <p:nvPr/>
        </p:nvSpPr>
        <p:spPr>
          <a:xfrm>
            <a:off x="3191759" y="247502"/>
            <a:ext cx="29514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TRƯỜNG ĐẠI HỌC BÁCH KHOA</a:t>
            </a:r>
          </a:p>
          <a:p>
            <a:r>
              <a:rPr lang="en-US" b="1" dirty="0"/>
              <a:t>KHOA ĐIỆN TỬ - VIỄN THÔNG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DA343-5C9C-CBF9-357E-C9336CE7C6BC}"/>
              </a:ext>
            </a:extLst>
          </p:cNvPr>
          <p:cNvSpPr txBox="1"/>
          <p:nvPr/>
        </p:nvSpPr>
        <p:spPr>
          <a:xfrm>
            <a:off x="3877738" y="4694613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Đà</a:t>
            </a:r>
            <a:r>
              <a:rPr lang="en-US" sz="1200" dirty="0"/>
              <a:t> </a:t>
            </a:r>
            <a:r>
              <a:rPr lang="en-US" sz="1200" dirty="0" err="1"/>
              <a:t>Nẵng</a:t>
            </a:r>
            <a:r>
              <a:rPr lang="en-US" sz="1200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77450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BA7BF79-2DD7-E1BC-964B-D07EDD00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BD57E4-89B4-07A7-2031-FD6FEC3FD4BD}"/>
              </a:ext>
            </a:extLst>
          </p:cNvPr>
          <p:cNvSpPr/>
          <p:nvPr/>
        </p:nvSpPr>
        <p:spPr>
          <a:xfrm>
            <a:off x="609836" y="5376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 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3A40FD6-1F05-A1E0-763B-C6164B4C0298}"/>
              </a:ext>
            </a:extLst>
          </p:cNvPr>
          <p:cNvSpPr txBox="1"/>
          <p:nvPr/>
        </p:nvSpPr>
        <p:spPr>
          <a:xfrm>
            <a:off x="976502" y="1038346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</a:t>
            </a:r>
            <a:r>
              <a:rPr lang="en-US" sz="2000" b="1" dirty="0"/>
              <a:t>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B75AEB05-3252-F347-843D-C3492858F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90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69F50C2-E992-8B78-46FA-6FCD6D8C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4C54C9-C3AA-C4EC-536C-1CC8478780BC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Phân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công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công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việc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6886CA0-332E-0342-4DB0-B5426125C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E642668-66A7-EEDC-19C0-0EB497C1C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6679974"/>
              </p:ext>
            </p:extLst>
          </p:nvPr>
        </p:nvGraphicFramePr>
        <p:xfrm>
          <a:off x="840376" y="1367790"/>
          <a:ext cx="7463248" cy="2407920"/>
        </p:xfrm>
        <a:graphic>
          <a:graphicData uri="http://schemas.openxmlformats.org/drawingml/2006/table">
            <a:tbl>
              <a:tblPr firstRow="1" bandRow="1">
                <a:tableStyleId>{5EA0A50E-D806-47F9-8622-6DD71D228117}</a:tableStyleId>
              </a:tblPr>
              <a:tblGrid>
                <a:gridCol w="886099">
                  <a:extLst>
                    <a:ext uri="{9D8B030D-6E8A-4147-A177-3AD203B41FA5}">
                      <a16:colId xmlns:a16="http://schemas.microsoft.com/office/drawing/2014/main" val="1707618354"/>
                    </a:ext>
                  </a:extLst>
                </a:gridCol>
                <a:gridCol w="2266406">
                  <a:extLst>
                    <a:ext uri="{9D8B030D-6E8A-4147-A177-3AD203B41FA5}">
                      <a16:colId xmlns:a16="http://schemas.microsoft.com/office/drawing/2014/main" val="820199955"/>
                    </a:ext>
                  </a:extLst>
                </a:gridCol>
                <a:gridCol w="3344091">
                  <a:extLst>
                    <a:ext uri="{9D8B030D-6E8A-4147-A177-3AD203B41FA5}">
                      <a16:colId xmlns:a16="http://schemas.microsoft.com/office/drawing/2014/main" val="457859812"/>
                    </a:ext>
                  </a:extLst>
                </a:gridCol>
                <a:gridCol w="966652">
                  <a:extLst>
                    <a:ext uri="{9D8B030D-6E8A-4147-A177-3AD203B41FA5}">
                      <a16:colId xmlns:a16="http://schemas.microsoft.com/office/drawing/2014/main" val="4242739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STT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HỌ VÀ TÊN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NỘI DUNG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TỶ LỆ ĐÓNG GÓP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8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Trần Đại Tín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- </a:t>
                      </a: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chọn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nội</a:t>
                      </a:r>
                      <a:r>
                        <a:rPr lang="en-US" dirty="0"/>
                        <a:t> dung </a:t>
                      </a:r>
                      <a:r>
                        <a:rPr lang="en-US" dirty="0" err="1"/>
                        <a:t>tham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khảo</a:t>
                      </a:r>
                      <a:r>
                        <a:rPr lang="en-US" dirty="0"/>
                        <a:t>.</a:t>
                      </a:r>
                    </a:p>
                    <a:p>
                      <a:pPr algn="l"/>
                      <a:r>
                        <a:rPr lang="en-US" dirty="0"/>
                        <a:t>-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1, 2, 3;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4, 5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642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Nguyễn Xuân Trường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dirty="0" err="1"/>
                        <a:t>Tìm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và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chọn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lọc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nội</a:t>
                      </a:r>
                      <a:r>
                        <a:rPr lang="en-US" dirty="0"/>
                        <a:t> dung </a:t>
                      </a:r>
                      <a:r>
                        <a:rPr lang="en-US" dirty="0" err="1"/>
                        <a:t>tham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khảo</a:t>
                      </a:r>
                      <a:r>
                        <a:rPr lang="en-US" dirty="0"/>
                        <a:t>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- </a:t>
                      </a:r>
                      <a:r>
                        <a:rPr lang="en-US" dirty="0" err="1"/>
                        <a:t>Thực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hiện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3, 4, 5; </a:t>
                      </a:r>
                      <a:r>
                        <a:rPr lang="en-US" dirty="0" err="1"/>
                        <a:t>kiểm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tra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lại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phần</a:t>
                      </a:r>
                      <a:r>
                        <a:rPr lang="en-US" dirty="0"/>
                        <a:t> 1,2.</a:t>
                      </a:r>
                    </a:p>
                    <a:p>
                      <a:pPr algn="l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63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426AD63-8D48-39E5-270F-2AEB96F7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2" name="TextBox 4221">
            <a:extLst>
              <a:ext uri="{FF2B5EF4-FFF2-40B4-BE49-F238E27FC236}">
                <a16:creationId xmlns:a16="http://schemas.microsoft.com/office/drawing/2014/main" id="{DDA79E7B-5217-EA1E-6490-769DF648276E}"/>
              </a:ext>
            </a:extLst>
          </p:cNvPr>
          <p:cNvSpPr txBox="1"/>
          <p:nvPr/>
        </p:nvSpPr>
        <p:spPr>
          <a:xfrm>
            <a:off x="782430" y="1411698"/>
            <a:ext cx="5559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b="1" dirty="0">
                <a:latin typeface="+mj-lt"/>
                <a:cs typeface="Times New Roman" panose="02020603050405020304" pitchFamily="18" charset="0"/>
              </a:rPr>
              <a:t>Flutter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framework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mã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nguồn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mở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Google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giúp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phát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triển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ứng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đa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nền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tảng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từ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một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codebase,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sử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dụng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ngôn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ngữ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Dart.</a:t>
            </a:r>
          </a:p>
          <a:p>
            <a:pPr algn="just"/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Ưu</a:t>
            </a:r>
            <a:r>
              <a:rPr lang="en-US" sz="1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điểm</a:t>
            </a:r>
            <a:r>
              <a:rPr lang="en-US" sz="1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nổi</a:t>
            </a:r>
            <a:r>
              <a:rPr lang="en-US" sz="1800" b="1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+mj-lt"/>
                <a:cs typeface="Times New Roman" panose="02020603050405020304" pitchFamily="18" charset="0"/>
              </a:rPr>
              <a:t>bật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Tx/>
              <a:buChar char="-"/>
            </a:pP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Đa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nền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tảng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toàn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diện</a:t>
            </a:r>
            <a:r>
              <a:rPr lang="en-US" sz="1800" dirty="0">
                <a:latin typeface="+mj-lt"/>
                <a:cs typeface="Times New Roman" panose="02020603050405020304" pitchFamily="18" charset="0"/>
              </a:rPr>
              <a:t>: </a:t>
            </a:r>
            <a:r>
              <a:rPr lang="en-US" sz="1800" dirty="0" err="1">
                <a:latin typeface="+mj-lt"/>
                <a:cs typeface="Times New Roman" panose="02020603050405020304" pitchFamily="18" charset="0"/>
              </a:rPr>
              <a:t>C</a:t>
            </a:r>
            <a:r>
              <a:rPr lang="en-US" sz="1800" dirty="0" err="1">
                <a:cs typeface="Times New Roman" panose="02020603050405020304" pitchFamily="18" charset="0"/>
              </a:rPr>
              <a:t>hạy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trên</a:t>
            </a:r>
            <a:r>
              <a:rPr lang="en-US" sz="1800" dirty="0">
                <a:cs typeface="Times New Roman" panose="02020603050405020304" pitchFamily="18" charset="0"/>
              </a:rPr>
              <a:t> Android, iOS, Web, Desktop.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Hot Reload: </a:t>
            </a:r>
            <a:r>
              <a:rPr lang="vi-VN" sz="1800" dirty="0">
                <a:cs typeface="Times New Roman" panose="02020603050405020304" pitchFamily="18" charset="0"/>
              </a:rPr>
              <a:t>Xem </a:t>
            </a:r>
            <a:r>
              <a:rPr lang="en-US" sz="1800" dirty="0" err="1">
                <a:cs typeface="Times New Roman" panose="02020603050405020304" pitchFamily="18" charset="0"/>
              </a:rPr>
              <a:t>cập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nhật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thay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đổi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vi-VN" sz="1800" dirty="0">
                <a:cs typeface="Times New Roman" panose="02020603050405020304" pitchFamily="18" charset="0"/>
              </a:rPr>
              <a:t>tức thì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en-US" sz="1800" dirty="0">
                <a:latin typeface="+mj-lt"/>
                <a:cs typeface="Times New Roman" panose="02020603050405020304" pitchFamily="18" charset="0"/>
              </a:rPr>
              <a:t>Widget-based: </a:t>
            </a:r>
            <a:r>
              <a:rPr lang="vi-VN" sz="1800" dirty="0">
                <a:cs typeface="Times New Roman" panose="02020603050405020304" pitchFamily="18" charset="0"/>
              </a:rPr>
              <a:t>Giao diện tùy biến cao</a:t>
            </a:r>
            <a:r>
              <a:rPr lang="en-US" sz="1800" dirty="0">
                <a:cs typeface="Times New Roman" panose="02020603050405020304" pitchFamily="18" charset="0"/>
              </a:rPr>
              <a:t>, </a:t>
            </a:r>
            <a:r>
              <a:rPr lang="en-US" sz="1800" dirty="0" err="1">
                <a:cs typeface="Times New Roman" panose="02020603050405020304" pitchFamily="18" charset="0"/>
              </a:rPr>
              <a:t>linh</a:t>
            </a:r>
            <a:r>
              <a:rPr lang="en-US" sz="1800" dirty="0"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cs typeface="Times New Roman" panose="02020603050405020304" pitchFamily="18" charset="0"/>
              </a:rPr>
              <a:t>hoạt</a:t>
            </a:r>
            <a:r>
              <a:rPr lang="en-US" sz="1800" dirty="0">
                <a:cs typeface="Times New Roman" panose="02020603050405020304" pitchFamily="18" charset="0"/>
              </a:rPr>
              <a:t>.</a:t>
            </a:r>
            <a:endParaRPr lang="en-US" sz="1800" dirty="0">
              <a:latin typeface="+mj-lt"/>
              <a:cs typeface="Times New Roman" panose="02020603050405020304" pitchFamily="18" charset="0"/>
            </a:endParaRPr>
          </a:p>
          <a:p>
            <a:pPr lvl="1" algn="just"/>
            <a:r>
              <a:rPr lang="en-US" sz="1800" dirty="0">
                <a:latin typeface="+mj-lt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4232" name="Picture 4231">
            <a:extLst>
              <a:ext uri="{FF2B5EF4-FFF2-40B4-BE49-F238E27FC236}">
                <a16:creationId xmlns:a16="http://schemas.microsoft.com/office/drawing/2014/main" id="{381D18DA-5BEE-5B19-EAA9-00323609F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5408" y="0"/>
            <a:ext cx="2488592" cy="5143500"/>
          </a:xfrm>
          <a:prstGeom prst="rect">
            <a:avLst/>
          </a:prstGeom>
        </p:spPr>
      </p:pic>
      <p:pic>
        <p:nvPicPr>
          <p:cNvPr id="4234" name="Picture 4233">
            <a:extLst>
              <a:ext uri="{FF2B5EF4-FFF2-40B4-BE49-F238E27FC236}">
                <a16:creationId xmlns:a16="http://schemas.microsoft.com/office/drawing/2014/main" id="{F2D4DDD5-6D08-51DE-2BEB-8A2B9A6E6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8976"/>
            <a:ext cx="2638697" cy="68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46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42F1F29D-3C5E-0ABF-64C9-FE04FD717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9522BE-1974-ABFC-07DF-DDE2255395B5}"/>
              </a:ext>
            </a:extLst>
          </p:cNvPr>
          <p:cNvSpPr txBox="1"/>
          <p:nvPr/>
        </p:nvSpPr>
        <p:spPr>
          <a:xfrm>
            <a:off x="1322223" y="1366780"/>
            <a:ext cx="59799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2000" b="1" dirty="0"/>
              <a:t>Widget</a:t>
            </a:r>
            <a:r>
              <a:rPr lang="en-US" sz="2000" b="1" dirty="0"/>
              <a:t>s</a:t>
            </a:r>
            <a:r>
              <a:rPr lang="vi-VN" sz="2000" dirty="0"/>
              <a:t> là những thành phần xây dựng nên giao diện người dùng của ứng dụng</a:t>
            </a:r>
            <a:r>
              <a:rPr lang="en-US" sz="2000" dirty="0"/>
              <a:t> </a:t>
            </a:r>
            <a:r>
              <a:rPr lang="vi-VN" sz="2000" dirty="0"/>
              <a:t>Flutter</a:t>
            </a:r>
            <a:r>
              <a:rPr lang="en-US" sz="20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dirty="0" err="1"/>
              <a:t>Mọi</a:t>
            </a:r>
            <a:r>
              <a:rPr lang="en-US" sz="2000" dirty="0"/>
              <a:t> </a:t>
            </a:r>
            <a:r>
              <a:rPr lang="en-US" sz="2000" dirty="0" err="1"/>
              <a:t>thứ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Flutter </a:t>
            </a:r>
            <a:r>
              <a:rPr lang="en-US" sz="2000" dirty="0" err="1"/>
              <a:t>đều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Widget.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vi-VN" sz="2000" dirty="0"/>
              <a:t>Widgets được dùng để mô tả tất cả các khía cạnh của giao diện</a:t>
            </a:r>
            <a:r>
              <a:rPr lang="en-US" sz="2000" dirty="0"/>
              <a:t>, c</a:t>
            </a:r>
            <a:r>
              <a:rPr lang="vi-VN" sz="2000" dirty="0"/>
              <a:t>ác thành phần cơ bản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vi-VN" sz="2000" dirty="0"/>
              <a:t>nút, văn bản, hình ảnh, bố cục...</a:t>
            </a:r>
            <a:endParaRPr lang="en-US" sz="2000" dirty="0"/>
          </a:p>
          <a:p>
            <a:pPr algn="just"/>
            <a:r>
              <a:rPr lang="en-US" sz="20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6D7BB-F92F-177A-BC33-51692E81EA62}"/>
              </a:ext>
            </a:extLst>
          </p:cNvPr>
          <p:cNvSpPr/>
          <p:nvPr/>
        </p:nvSpPr>
        <p:spPr>
          <a:xfrm>
            <a:off x="609836" y="12783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Widget </a:t>
            </a:r>
            <a:r>
              <a:rPr lang="en-US" sz="2800" b="1" dirty="0" err="1">
                <a:solidFill>
                  <a:schemeClr val="tx1"/>
                </a:solidFill>
              </a:rPr>
              <a:t>trong</a:t>
            </a:r>
            <a:r>
              <a:rPr lang="en-US" sz="2800" b="1" dirty="0">
                <a:solidFill>
                  <a:schemeClr val="tx1"/>
                </a:solidFill>
              </a:rPr>
              <a:t> Flutter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39EE45-6FB4-5147-2C1A-E478E46B2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943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B4C5505-ABF6-FA1D-FA4A-1468A285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4BA9FA-98F8-DA27-A3FA-95D014A4B07F}"/>
              </a:ext>
            </a:extLst>
          </p:cNvPr>
          <p:cNvSpPr txBox="1"/>
          <p:nvPr/>
        </p:nvSpPr>
        <p:spPr>
          <a:xfrm>
            <a:off x="1210959" y="1223085"/>
            <a:ext cx="625446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 err="1"/>
              <a:t>Một</a:t>
            </a:r>
            <a:r>
              <a:rPr lang="en-US" sz="1800" dirty="0"/>
              <a:t> widget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stateful (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) </a:t>
            </a:r>
            <a:r>
              <a:rPr lang="en-US" sz="1800" dirty="0" err="1"/>
              <a:t>hoặc</a:t>
            </a:r>
            <a:r>
              <a:rPr lang="en-US" sz="1800" dirty="0"/>
              <a:t> stateless (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).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/>
              <a:t>Stateless widgets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trạng</a:t>
            </a:r>
            <a:r>
              <a:rPr lang="en-US" sz="1800" dirty="0"/>
              <a:t> </a:t>
            </a:r>
            <a:r>
              <a:rPr lang="en-US" sz="1800" dirty="0" err="1"/>
              <a:t>thái</a:t>
            </a:r>
            <a:r>
              <a:rPr lang="en-US" sz="1800" dirty="0"/>
              <a:t> (</a:t>
            </a: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Icon, Text). Các stateless widgets </a:t>
            </a:r>
            <a:r>
              <a:rPr lang="en-US" sz="1800" dirty="0" err="1"/>
              <a:t>kế</a:t>
            </a:r>
            <a:r>
              <a:rPr lang="en-US" sz="1800" dirty="0"/>
              <a:t> </a:t>
            </a:r>
            <a:r>
              <a:rPr lang="en-US" sz="1800" dirty="0" err="1"/>
              <a:t>thừa</a:t>
            </a:r>
            <a:r>
              <a:rPr lang="en-US" sz="1800" dirty="0"/>
              <a:t> </a:t>
            </a:r>
            <a:r>
              <a:rPr lang="en-US" sz="1800" dirty="0" err="1"/>
              <a:t>từ</a:t>
            </a:r>
            <a:r>
              <a:rPr lang="en-US" sz="1800" dirty="0"/>
              <a:t> </a:t>
            </a:r>
            <a:r>
              <a:rPr lang="en-US" sz="1800" dirty="0" err="1"/>
              <a:t>lớp</a:t>
            </a:r>
            <a:r>
              <a:rPr lang="en-US" sz="1800" dirty="0"/>
              <a:t> </a:t>
            </a:r>
            <a:r>
              <a:rPr lang="en-US" sz="1800" b="1" dirty="0" err="1"/>
              <a:t>StatelessWidget</a:t>
            </a:r>
            <a:r>
              <a:rPr lang="en-US" sz="1800" dirty="0"/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1800" dirty="0"/>
              <a:t>Stateful widgets </a:t>
            </a:r>
            <a:r>
              <a:rPr lang="vi-VN" sz="1800" dirty="0"/>
              <a:t>có thể thay đổi để phản hồi các sự kiện do người dùng kích hoạt hoặc khi nhận dữ liệu mới</a:t>
            </a:r>
            <a:r>
              <a:rPr lang="en-US" sz="1800" dirty="0"/>
              <a:t> (</a:t>
            </a: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</a:t>
            </a:r>
            <a:r>
              <a:rPr lang="vi-VN" sz="1800" dirty="0"/>
              <a:t>Checkbox, Slider, Form</a:t>
            </a:r>
            <a:r>
              <a:rPr lang="en-US" sz="1800" dirty="0"/>
              <a:t>)</a:t>
            </a:r>
            <a:r>
              <a:rPr lang="vi-VN" sz="1800" dirty="0"/>
              <a:t>. Các stateful widget</a:t>
            </a:r>
            <a:r>
              <a:rPr lang="en-US" sz="1800" dirty="0"/>
              <a:t>s</a:t>
            </a:r>
            <a:r>
              <a:rPr lang="vi-VN" sz="1800" dirty="0"/>
              <a:t> kế thừa từ lớp </a:t>
            </a:r>
            <a:r>
              <a:rPr lang="vi-VN" sz="1800" b="1" dirty="0"/>
              <a:t>StatefulWidget</a:t>
            </a:r>
            <a:r>
              <a:rPr lang="vi-VN" sz="1800" dirty="0"/>
              <a:t>.</a:t>
            </a:r>
            <a:endParaRPr lang="en-US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2AC0FD-DD65-A6A4-79B3-EB8903285F17}"/>
              </a:ext>
            </a:extLst>
          </p:cNvPr>
          <p:cNvSpPr/>
          <p:nvPr/>
        </p:nvSpPr>
        <p:spPr>
          <a:xfrm>
            <a:off x="609836" y="12783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 Widget </a:t>
            </a:r>
            <a:r>
              <a:rPr lang="en-US" sz="2800" b="1" dirty="0" err="1">
                <a:solidFill>
                  <a:schemeClr val="tx1"/>
                </a:solidFill>
              </a:rPr>
              <a:t>trong</a:t>
            </a:r>
            <a:r>
              <a:rPr lang="en-US" sz="2800" b="1" dirty="0">
                <a:solidFill>
                  <a:schemeClr val="tx1"/>
                </a:solidFill>
              </a:rPr>
              <a:t> Flutter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344DA2-C52C-2920-5B68-AA7631744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48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BDA953F-7BB2-11CB-0AA5-ACAC5D2AC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6DC40A9-9DF3-A7B7-7B9A-BDDD158611E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Widgets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3693B1B3-ACB2-47CF-FFF5-94E998239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FA7B0F-E0F1-952E-5766-146E25B37FA1}"/>
              </a:ext>
            </a:extLst>
          </p:cNvPr>
          <p:cNvSpPr txBox="1"/>
          <p:nvPr/>
        </p:nvSpPr>
        <p:spPr>
          <a:xfrm>
            <a:off x="763791" y="1555938"/>
            <a:ext cx="734824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 dirty="0">
                <a:latin typeface="+mn-lt"/>
              </a:rPr>
              <a:t>Nút (Button) là </a:t>
            </a:r>
            <a:r>
              <a:rPr lang="en-US" sz="2000" dirty="0">
                <a:latin typeface="+mn-lt"/>
              </a:rPr>
              <a:t>widget </a:t>
            </a:r>
            <a:r>
              <a:rPr lang="vi-VN" sz="2000" dirty="0">
                <a:latin typeface="+mn-lt"/>
              </a:rPr>
              <a:t>cung cấp cho người dùng khả năng </a:t>
            </a:r>
            <a:r>
              <a:rPr lang="vi-VN" sz="2000" b="1" dirty="0">
                <a:latin typeface="+mn-lt"/>
              </a:rPr>
              <a:t>chạm</a:t>
            </a:r>
            <a:r>
              <a:rPr lang="vi-VN" sz="2000" dirty="0">
                <a:latin typeface="+mn-lt"/>
              </a:rPr>
              <a:t> để thực hiện hành động, đưa ra lựa chọn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nhấn</a:t>
            </a:r>
            <a:r>
              <a:rPr lang="vi-VN" sz="2000" dirty="0">
                <a:latin typeface="+mn-lt"/>
              </a:rPr>
              <a:t> gửi form, lưu dữ liệu, mở trang mới, v.v. </a:t>
            </a:r>
            <a:r>
              <a:rPr lang="en-US" sz="2000" dirty="0">
                <a:latin typeface="+mn-lt"/>
              </a:rPr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</a:rPr>
              <a:t>Buttons </a:t>
            </a:r>
            <a:r>
              <a:rPr lang="en-US" sz="2000" dirty="0" err="1">
                <a:latin typeface="+mn-lt"/>
              </a:rPr>
              <a:t>là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tính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năng</a:t>
            </a:r>
            <a:r>
              <a:rPr lang="en-US" sz="2000" dirty="0">
                <a:latin typeface="+mn-lt"/>
              </a:rPr>
              <a:t> </a:t>
            </a:r>
            <a:r>
              <a:rPr lang="vi-VN" sz="2000" dirty="0">
                <a:latin typeface="+mn-lt"/>
              </a:rPr>
              <a:t>được sử dụng phổ biến</a:t>
            </a:r>
            <a:r>
              <a:rPr lang="en-US" sz="2000" dirty="0">
                <a:latin typeface="+mn-lt"/>
              </a:rPr>
              <a:t> </a:t>
            </a:r>
            <a:r>
              <a:rPr lang="vi-VN" sz="2000" dirty="0">
                <a:latin typeface="+mn-lt"/>
              </a:rPr>
              <a:t>trong hầu hết các ứng dụng Flutter</a:t>
            </a:r>
            <a:r>
              <a:rPr lang="en-US" sz="2000" dirty="0"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9253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3037CC8-7941-CF42-8554-798C7073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EB368A7-3F34-8CCB-C332-F735BBE3240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Buttons Widgets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1D0B6AA3-6948-A9ED-67BA-96C8EA54B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9C0A8F-2E2C-0291-9501-D7712B541157}"/>
              </a:ext>
            </a:extLst>
          </p:cNvPr>
          <p:cNvSpPr txBox="1"/>
          <p:nvPr/>
        </p:nvSpPr>
        <p:spPr>
          <a:xfrm>
            <a:off x="609836" y="1448365"/>
            <a:ext cx="772577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en-US" sz="2000" dirty="0"/>
              <a:t>Flutter </a:t>
            </a:r>
            <a:r>
              <a:rPr lang="en-US" sz="2000" dirty="0" err="1"/>
              <a:t>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loại</a:t>
            </a:r>
            <a:r>
              <a:rPr lang="en-US" sz="2000" dirty="0"/>
              <a:t> Button </a:t>
            </a:r>
            <a:r>
              <a:rPr lang="en-US" sz="2000" dirty="0" err="1"/>
              <a:t>như</a:t>
            </a:r>
            <a:r>
              <a:rPr lang="en-US" sz="2000" dirty="0"/>
              <a:t>: Elevated Button, </a:t>
            </a:r>
            <a:r>
              <a:rPr lang="en-US" sz="2000" dirty="0">
                <a:latin typeface="+mn-lt"/>
              </a:rPr>
              <a:t>Text Button, Icon Button, </a:t>
            </a:r>
            <a:r>
              <a:rPr lang="en-US" sz="2000" dirty="0" err="1"/>
              <a:t>OutlinedButton</a:t>
            </a:r>
            <a:r>
              <a:rPr lang="en-US" sz="2000" dirty="0"/>
              <a:t>.</a:t>
            </a:r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 fontAlgn="base">
              <a:buFont typeface="Arial" panose="020B0604020202020204" pitchFamily="34" charset="0"/>
              <a:buChar char="•"/>
            </a:pPr>
            <a:r>
              <a:rPr lang="vi-VN" sz="2000" dirty="0"/>
              <a:t>Button</a:t>
            </a:r>
            <a:r>
              <a:rPr lang="en-US" sz="2000" dirty="0"/>
              <a:t>s</a:t>
            </a:r>
            <a:r>
              <a:rPr lang="vi-VN" sz="2000" dirty="0"/>
              <a:t> có các thuộc tính như:</a:t>
            </a:r>
            <a:endParaRPr lang="en-US" sz="2000" dirty="0"/>
          </a:p>
          <a:p>
            <a:pPr algn="just" fontAlgn="base"/>
            <a:r>
              <a:rPr lang="en-US" sz="2000" dirty="0"/>
              <a:t>     - </a:t>
            </a:r>
            <a:r>
              <a:rPr lang="en-US" sz="2000" b="1" dirty="0" err="1"/>
              <a:t>onPressed</a:t>
            </a:r>
            <a:r>
              <a:rPr lang="vi-VN" sz="2000" dirty="0"/>
              <a:t>: Hàm callback được gọi khi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vi-VN" sz="2000" dirty="0"/>
              <a:t>nhấn</a:t>
            </a:r>
            <a:r>
              <a:rPr lang="en-US" sz="2000" dirty="0"/>
              <a:t> </a:t>
            </a:r>
            <a:r>
              <a:rPr lang="en-US" sz="2000" dirty="0" err="1"/>
              <a:t>nút</a:t>
            </a:r>
            <a:r>
              <a:rPr lang="en-US" sz="2000" dirty="0"/>
              <a:t>.</a:t>
            </a:r>
          </a:p>
          <a:p>
            <a:pPr lvl="1" algn="just" fontAlgn="base"/>
            <a:r>
              <a:rPr lang="en-US" sz="2000" dirty="0"/>
              <a:t>     - </a:t>
            </a:r>
            <a:r>
              <a:rPr lang="en-US" sz="2000" b="1" dirty="0"/>
              <a:t>child</a:t>
            </a:r>
            <a:r>
              <a:rPr lang="en-US" sz="2000" dirty="0"/>
              <a:t>: Widget con </a:t>
            </a:r>
            <a:r>
              <a:rPr lang="en-US" sz="2000" dirty="0" err="1"/>
              <a:t>bên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Button (</a:t>
            </a:r>
            <a:r>
              <a:rPr lang="en-US" sz="2000" dirty="0" err="1"/>
              <a:t>thường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Text, Icon).</a:t>
            </a:r>
          </a:p>
          <a:p>
            <a:pPr lvl="1" algn="just" fontAlgn="base"/>
            <a:r>
              <a:rPr lang="en-US" sz="2000" dirty="0"/>
              <a:t>     - </a:t>
            </a:r>
            <a:r>
              <a:rPr lang="vi-VN" sz="2000" b="1" dirty="0"/>
              <a:t>style</a:t>
            </a:r>
            <a:r>
              <a:rPr lang="vi-VN" sz="2000" dirty="0"/>
              <a:t>: Tùy chỉnh </a:t>
            </a:r>
            <a:r>
              <a:rPr lang="en-US" sz="2000" dirty="0" err="1"/>
              <a:t>giao</a:t>
            </a:r>
            <a:r>
              <a:rPr lang="en-US" sz="2000" dirty="0"/>
              <a:t> </a:t>
            </a:r>
            <a:r>
              <a:rPr lang="en-US" sz="2000" dirty="0" err="1"/>
              <a:t>diện</a:t>
            </a:r>
            <a:r>
              <a:rPr lang="en-US" sz="2000" dirty="0"/>
              <a:t> </a:t>
            </a:r>
            <a:r>
              <a:rPr lang="en-US" sz="2000" dirty="0" err="1"/>
              <a:t>nút</a:t>
            </a:r>
            <a:r>
              <a:rPr lang="en-US" sz="2000" dirty="0"/>
              <a:t> (</a:t>
            </a:r>
            <a:r>
              <a:rPr lang="vi-VN" sz="2000" dirty="0"/>
              <a:t>màu sắc, kích thước, </a:t>
            </a:r>
            <a:r>
              <a:rPr lang="en-US" sz="2000" dirty="0" err="1"/>
              <a:t>viền</a:t>
            </a:r>
            <a:r>
              <a:rPr lang="en-US" sz="2000" dirty="0"/>
              <a:t>,…)</a:t>
            </a: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1707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24595F8-DA46-6F7B-4421-21D78FD6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F5E4AA9-9492-B053-767D-3F151C8698EC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Input Widgets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34F1ADFC-6FD2-0463-9078-D0F830AE3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F3E7C2C-1C41-7ED7-6740-F5096E185110}"/>
              </a:ext>
            </a:extLst>
          </p:cNvPr>
          <p:cNvSpPr txBox="1"/>
          <p:nvPr/>
        </p:nvSpPr>
        <p:spPr>
          <a:xfrm>
            <a:off x="1314353" y="1240163"/>
            <a:ext cx="570693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000" b="1" dirty="0"/>
              <a:t>Input Widgets</a:t>
            </a:r>
            <a:r>
              <a:rPr lang="vi-VN" sz="2000" dirty="0"/>
              <a:t> là các widget cho phép người dùng nhập dữ liệu hoặc lựa chọn thông tin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vi-VN" sz="2000" dirty="0"/>
              <a:t>ứng dụng Flutter có khả năng tương tác hai chiều với người dùng.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Đóng</a:t>
            </a:r>
            <a:r>
              <a:rPr lang="en-US" sz="2000" dirty="0"/>
              <a:t> </a:t>
            </a:r>
            <a:r>
              <a:rPr lang="en-US" sz="2000" dirty="0" err="1"/>
              <a:t>vai</a:t>
            </a:r>
            <a:r>
              <a:rPr lang="en-US" sz="2000" dirty="0"/>
              <a:t> </a:t>
            </a:r>
            <a:r>
              <a:rPr lang="en-US" sz="2000" dirty="0" err="1"/>
              <a:t>trò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thu</a:t>
            </a:r>
            <a:r>
              <a:rPr lang="en-US" sz="2000" dirty="0"/>
              <a:t> </a:t>
            </a:r>
            <a:r>
              <a:rPr lang="en-US" sz="2000" dirty="0" err="1"/>
              <a:t>thập</a:t>
            </a:r>
            <a:r>
              <a:rPr lang="en-US" sz="2000" dirty="0"/>
              <a:t>, </a:t>
            </a:r>
            <a:r>
              <a:rPr lang="en-US" sz="2000" dirty="0" err="1"/>
              <a:t>xác</a:t>
            </a:r>
            <a:r>
              <a:rPr lang="en-US" sz="2000" dirty="0"/>
              <a:t> </a:t>
            </a:r>
            <a:r>
              <a:rPr lang="en-US" sz="2000" dirty="0" err="1"/>
              <a:t>thực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đầu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: </a:t>
            </a:r>
            <a:r>
              <a:rPr lang="en-US" sz="2000" b="1" dirty="0" err="1"/>
              <a:t>TextField</a:t>
            </a:r>
            <a:r>
              <a:rPr lang="en-US" sz="2000" b="1" dirty="0"/>
              <a:t>, Checkbox, Radio,</a:t>
            </a:r>
            <a:r>
              <a:rPr lang="en-US" sz="2000" dirty="0"/>
              <a:t> v.v.</a:t>
            </a:r>
          </a:p>
          <a:p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539689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789E6B0-2A83-B258-4BAC-F4A09D642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C98994-D858-A9C4-B0BF-E0D86BE583CA}"/>
              </a:ext>
            </a:extLst>
          </p:cNvPr>
          <p:cNvSpPr/>
          <p:nvPr/>
        </p:nvSpPr>
        <p:spPr>
          <a:xfrm>
            <a:off x="609836" y="5376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CE019146-FAB3-8D4C-36D7-CA5F6112A491}"/>
              </a:ext>
            </a:extLst>
          </p:cNvPr>
          <p:cNvSpPr txBox="1"/>
          <p:nvPr/>
        </p:nvSpPr>
        <p:spPr>
          <a:xfrm>
            <a:off x="976502" y="1038346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</a:t>
            </a:r>
            <a:r>
              <a:rPr lang="en-US" sz="2000" b="1" dirty="0"/>
              <a:t> </a:t>
            </a:r>
            <a:r>
              <a:rPr lang="en-US" sz="2000" b="1" dirty="0" err="1"/>
              <a:t>ElevatedButton</a:t>
            </a:r>
            <a:r>
              <a:rPr lang="en-US" sz="2000" b="1" dirty="0"/>
              <a:t>, </a:t>
            </a:r>
            <a:r>
              <a:rPr lang="en-US" sz="2000" b="1" dirty="0" err="1"/>
              <a:t>TextButton</a:t>
            </a:r>
            <a:r>
              <a:rPr lang="en-US" sz="2000" b="1" dirty="0"/>
              <a:t>, </a:t>
            </a:r>
            <a:r>
              <a:rPr lang="en-US" sz="2000" b="1" dirty="0" err="1"/>
              <a:t>OutlinedButton</a:t>
            </a:r>
            <a:r>
              <a:rPr lang="en-US" sz="2000" b="1" dirty="0"/>
              <a:t>, </a:t>
            </a:r>
            <a:r>
              <a:rPr lang="en-US" sz="2000" b="1" dirty="0" err="1"/>
              <a:t>IconButton</a:t>
            </a: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2220E29-9D70-767C-054C-21223D490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68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CCF9B5-0681-9A92-FD0E-A6007ACE4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8CC52B-D883-77AD-0248-0AC97B4A2239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ElevatedButton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2644CDA-4248-1179-44FB-EB9E929BD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0293D517-63B0-A33E-ACAE-523D3366EC7D}"/>
              </a:ext>
            </a:extLst>
          </p:cNvPr>
          <p:cNvSpPr txBox="1"/>
          <p:nvPr/>
        </p:nvSpPr>
        <p:spPr>
          <a:xfrm>
            <a:off x="367268" y="1604505"/>
            <a:ext cx="504856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/>
              <a:t>ElevatedButton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loại</a:t>
            </a:r>
            <a:r>
              <a:rPr lang="en-US" sz="1800" dirty="0"/>
              <a:t> </a:t>
            </a:r>
            <a:r>
              <a:rPr lang="en-US" sz="1800" dirty="0" err="1"/>
              <a:t>nút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nổi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bóng</a:t>
            </a:r>
            <a:r>
              <a:rPr lang="en-US" sz="1800" dirty="0"/>
              <a:t> </a:t>
            </a:r>
            <a:r>
              <a:rPr lang="en-US" sz="1800" dirty="0" err="1"/>
              <a:t>đổ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Thường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, </a:t>
            </a:r>
            <a:r>
              <a:rPr lang="vi-VN" sz="1800" dirty="0"/>
              <a:t>tạo cảm giác </a:t>
            </a:r>
            <a:r>
              <a:rPr lang="vi-VN" sz="1800" b="1" dirty="0"/>
              <a:t>có chiều sâu</a:t>
            </a:r>
            <a:r>
              <a:rPr lang="vi-VN" sz="1800" dirty="0"/>
              <a:t> cho những bố cục chủ yếu phẳng</a:t>
            </a:r>
            <a:r>
              <a:rPr lang="en-US" sz="1800" dirty="0"/>
              <a:t> (</a:t>
            </a:r>
            <a:r>
              <a:rPr lang="vi-VN" sz="1800" dirty="0"/>
              <a:t>danh sách dài nhiều nội dung</a:t>
            </a:r>
            <a:r>
              <a:rPr lang="en-US" sz="1800" dirty="0"/>
              <a:t>, </a:t>
            </a:r>
            <a:r>
              <a:rPr lang="en-US" sz="1800" dirty="0" err="1"/>
              <a:t>vùng</a:t>
            </a:r>
            <a:r>
              <a:rPr lang="en-US" sz="1800" dirty="0"/>
              <a:t> </a:t>
            </a:r>
            <a:r>
              <a:rPr lang="vi-VN" sz="1800" dirty="0"/>
              <a:t>không gian rộng</a:t>
            </a:r>
            <a:r>
              <a:rPr lang="en-US" sz="1800" dirty="0"/>
              <a:t>).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6AFEE9-A70F-2988-E009-482476AE4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5780" y="2115021"/>
            <a:ext cx="2604700" cy="9134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879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CDABA36-8AC6-2DB8-024C-D92D415A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F04E0B-EC7B-87BE-8796-3CCD1CFE3A26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ElevatedButton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51303A1F-7344-4DCE-4E52-5292A75E7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21EA4D85-D9D2-BC4E-01F1-A3D73B1E87C7}"/>
              </a:ext>
            </a:extLst>
          </p:cNvPr>
          <p:cNvSpPr txBox="1"/>
          <p:nvPr/>
        </p:nvSpPr>
        <p:spPr>
          <a:xfrm>
            <a:off x="4748984" y="2501744"/>
            <a:ext cx="40261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onPressed</a:t>
            </a:r>
            <a:r>
              <a:rPr lang="en-US" sz="1600" dirty="0"/>
              <a:t>: () {}: </a:t>
            </a:r>
            <a:r>
              <a:rPr lang="en-US" sz="1600" dirty="0" err="1"/>
              <a:t>hàm</a:t>
            </a:r>
            <a:r>
              <a:rPr lang="en-US" sz="1600" dirty="0"/>
              <a:t> callback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 </a:t>
            </a:r>
            <a:r>
              <a:rPr lang="en-US" sz="1600" dirty="0" err="1"/>
              <a:t>nhấn</a:t>
            </a:r>
            <a:r>
              <a:rPr lang="en-US" sz="1600" dirty="0"/>
              <a:t> </a:t>
            </a:r>
            <a:r>
              <a:rPr lang="en-US" sz="1600" dirty="0" err="1"/>
              <a:t>nút</a:t>
            </a:r>
            <a:r>
              <a:rPr lang="en-US" sz="1600" dirty="0"/>
              <a:t>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child: const Text("</a:t>
            </a:r>
            <a:r>
              <a:rPr lang="en-US" sz="1600" dirty="0" err="1"/>
              <a:t>MyElevatedButton</a:t>
            </a:r>
            <a:r>
              <a:rPr lang="en-US" sz="1600" dirty="0"/>
              <a:t>"): </a:t>
            </a:r>
            <a:r>
              <a:rPr lang="en-US" sz="1600" dirty="0" err="1"/>
              <a:t>nội</a:t>
            </a:r>
            <a:r>
              <a:rPr lang="en-US" sz="1600" dirty="0"/>
              <a:t> dung </a:t>
            </a:r>
            <a:r>
              <a:rPr lang="en-US" sz="1600" dirty="0" err="1"/>
              <a:t>hiển</a:t>
            </a:r>
            <a:r>
              <a:rPr lang="en-US" sz="1600" dirty="0"/>
              <a:t> </a:t>
            </a:r>
            <a:r>
              <a:rPr lang="en-US" sz="1600" dirty="0" err="1"/>
              <a:t>thị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nút</a:t>
            </a:r>
            <a:r>
              <a:rPr lang="en-US" sz="1600" dirty="0"/>
              <a:t>.</a:t>
            </a:r>
            <a:endParaRPr lang="en-US" sz="2800" dirty="0"/>
          </a:p>
          <a:p>
            <a:endParaRPr lang="en-US" sz="1600" dirty="0"/>
          </a:p>
        </p:txBody>
      </p:sp>
      <p:pic>
        <p:nvPicPr>
          <p:cNvPr id="123" name="Picture 122">
            <a:extLst>
              <a:ext uri="{FF2B5EF4-FFF2-40B4-BE49-F238E27FC236}">
                <a16:creationId xmlns:a16="http://schemas.microsoft.com/office/drawing/2014/main" id="{819A40DA-CCB2-A923-D7BF-6EA2D02B64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03" y="834644"/>
            <a:ext cx="3289569" cy="10529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0F87D3-86C5-35E9-2FD8-03A61F13D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47" y="834644"/>
            <a:ext cx="4073398" cy="3874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82825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E7A7894-501D-1462-319F-A570B152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0DAC28-F1AD-4705-26BE-D1BD0454800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65002CBB-D67A-DEA5-C2D2-B305AA9C8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30CA885A-68BA-9694-2121-D6E88D10E262}"/>
              </a:ext>
            </a:extLst>
          </p:cNvPr>
          <p:cNvSpPr txBox="1"/>
          <p:nvPr/>
        </p:nvSpPr>
        <p:spPr>
          <a:xfrm>
            <a:off x="448549" y="1046742"/>
            <a:ext cx="48032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1"/>
                </a:solidFill>
              </a:rPr>
              <a:t>TextButton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loại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nút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nhấn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đơn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giản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nhất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trong</a:t>
            </a:r>
            <a:r>
              <a:rPr lang="en-US" sz="1800" dirty="0">
                <a:solidFill>
                  <a:schemeClr val="tx1"/>
                </a:solidFill>
              </a:rPr>
              <a:t> Flutter. </a:t>
            </a:r>
            <a:r>
              <a:rPr lang="en-US" sz="1800" dirty="0" err="1">
                <a:solidFill>
                  <a:schemeClr val="tx1"/>
                </a:solidFill>
              </a:rPr>
              <a:t>Chúng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là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các</a:t>
            </a:r>
            <a:r>
              <a:rPr lang="en-US" sz="1800" dirty="0">
                <a:solidFill>
                  <a:schemeClr val="tx1"/>
                </a:solidFill>
              </a:rPr>
              <a:t> Buttons ở </a:t>
            </a:r>
            <a:r>
              <a:rPr lang="en-US" sz="1800" dirty="0" err="1">
                <a:solidFill>
                  <a:schemeClr val="tx1"/>
                </a:solidFill>
              </a:rPr>
              <a:t>dạng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văn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bản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đơn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giản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không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có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đường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dirty="0" err="1">
                <a:solidFill>
                  <a:schemeClr val="tx1"/>
                </a:solidFill>
              </a:rPr>
              <a:t>viền</a:t>
            </a:r>
            <a:r>
              <a:rPr lang="en-US" sz="1800" dirty="0">
                <a:solidFill>
                  <a:schemeClr val="tx1"/>
                </a:solidFill>
              </a:rPr>
              <a:t> hay </a:t>
            </a:r>
            <a:r>
              <a:rPr lang="en-US" sz="1800" dirty="0" err="1">
                <a:solidFill>
                  <a:schemeClr val="tx1"/>
                </a:solidFill>
              </a:rPr>
              <a:t>khung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Thường s</a:t>
            </a:r>
            <a:r>
              <a:rPr lang="vi-VN" sz="1800" dirty="0"/>
              <a:t>ử dụng </a:t>
            </a:r>
            <a:r>
              <a:rPr lang="vi-VN" sz="1800" b="1" dirty="0"/>
              <a:t>TextButton</a:t>
            </a:r>
            <a:r>
              <a:rPr lang="vi-VN" sz="1800" dirty="0"/>
              <a:t> trên thanh công cụ (toolbar</a:t>
            </a:r>
            <a:r>
              <a:rPr lang="en-US" sz="1800" dirty="0"/>
              <a:t>)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vi-VN" sz="1800" dirty="0"/>
              <a:t>dialog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Tránh sử dụng TextButton ở những vị trí mà chúng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</a:t>
            </a:r>
            <a:r>
              <a:rPr lang="en-US" sz="1800" dirty="0" err="1"/>
              <a:t>bị</a:t>
            </a:r>
            <a:r>
              <a:rPr lang="vi-VN" sz="1800" dirty="0"/>
              <a:t> lẫn với nội dung khác, ví dụ như giữa các danh sách dài.</a:t>
            </a:r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ECF2A860-C6DD-7FD0-BB88-D4833546D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505" y="1816705"/>
            <a:ext cx="2775975" cy="10440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46706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F0E8C5C-B159-872A-5848-5BCA0B77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07EE2AB-E926-846B-90B2-57FC562B9205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A9818A9-668C-AA82-C6C4-B5A6101DF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99824D-6552-A2D7-B367-E52C84E47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095" y="1919755"/>
            <a:ext cx="2125421" cy="818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6362EE52-A35C-3910-AB53-42550D1D7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4095" y="827251"/>
            <a:ext cx="2116184" cy="818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31A83B21-6893-A8E7-9E72-D1047EA66C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899" y="827251"/>
            <a:ext cx="3997450" cy="3725918"/>
          </a:xfrm>
          <a:prstGeom prst="rect">
            <a:avLst/>
          </a:prstGeom>
        </p:spPr>
      </p:pic>
      <p:sp>
        <p:nvSpPr>
          <p:cNvPr id="125" name="TextBox 124">
            <a:extLst>
              <a:ext uri="{FF2B5EF4-FFF2-40B4-BE49-F238E27FC236}">
                <a16:creationId xmlns:a16="http://schemas.microsoft.com/office/drawing/2014/main" id="{1B8FA3C4-B5C5-1DDF-424E-341EBB244620}"/>
              </a:ext>
            </a:extLst>
          </p:cNvPr>
          <p:cNvSpPr txBox="1"/>
          <p:nvPr/>
        </p:nvSpPr>
        <p:spPr>
          <a:xfrm>
            <a:off x="5260494" y="3003572"/>
            <a:ext cx="30659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hai</a:t>
            </a:r>
            <a:r>
              <a:rPr lang="en-US" sz="1600" dirty="0"/>
              <a:t> </a:t>
            </a:r>
            <a:r>
              <a:rPr lang="en-US" sz="1600" dirty="0" err="1"/>
              <a:t>thuộc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bắt</a:t>
            </a:r>
            <a:r>
              <a:rPr lang="en-US" sz="1600" dirty="0"/>
              <a:t> </a:t>
            </a:r>
            <a:r>
              <a:rPr lang="en-US" sz="1600" dirty="0" err="1"/>
              <a:t>buộc</a:t>
            </a:r>
            <a:r>
              <a:rPr lang="en-US" sz="1600" dirty="0"/>
              <a:t> </a:t>
            </a:r>
            <a:r>
              <a:rPr lang="en-US" sz="1600" dirty="0" err="1"/>
              <a:t>là</a:t>
            </a:r>
            <a:r>
              <a:rPr lang="en-US" sz="1600" dirty="0"/>
              <a:t> child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onPressed</a:t>
            </a:r>
            <a:r>
              <a:rPr lang="en-US" sz="1600" dirty="0"/>
              <a:t>()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Mặc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TextButton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màu</a:t>
            </a:r>
            <a:r>
              <a:rPr lang="en-US" sz="1600" dirty="0"/>
              <a:t> </a:t>
            </a:r>
            <a:r>
              <a:rPr lang="en-US" sz="1600" dirty="0" err="1"/>
              <a:t>nền</a:t>
            </a:r>
            <a:r>
              <a:rPr lang="en-US" sz="1600" dirty="0"/>
              <a:t>, ta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thiết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</a:t>
            </a:r>
            <a:r>
              <a:rPr lang="en-US" sz="1600" dirty="0" err="1"/>
              <a:t>màu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qua style</a:t>
            </a:r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C2F739D5-06C8-AAE5-C857-35E1A81A66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899" y="827251"/>
            <a:ext cx="4128078" cy="37259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7602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0A34A00-CA10-799B-0B53-9429A794C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6B5E00-C4FF-7AC9-9705-DCFA83BBD525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OutlinedButton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3DF3A07-3C21-F5DD-93C8-C0453111D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6E51B287-7369-E476-215A-CA49FBD8C0F9}"/>
              </a:ext>
            </a:extLst>
          </p:cNvPr>
          <p:cNvSpPr txBox="1"/>
          <p:nvPr/>
        </p:nvSpPr>
        <p:spPr>
          <a:xfrm>
            <a:off x="304918" y="1350659"/>
            <a:ext cx="330827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OutlinedButton</a:t>
            </a:r>
            <a:r>
              <a:rPr lang="vi-VN" sz="1800" dirty="0"/>
              <a:t> tương tự như TextButton, nhưng có đường viền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ngoài</a:t>
            </a:r>
            <a:r>
              <a:rPr lang="en-US" sz="1800" dirty="0"/>
              <a:t>.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Chúng chứa các hành động quan trọng, nhưng</a:t>
            </a:r>
            <a:r>
              <a:rPr lang="en-US" sz="1800" dirty="0"/>
              <a:t> </a:t>
            </a:r>
            <a:r>
              <a:rPr lang="en-US" sz="1800" dirty="0" err="1"/>
              <a:t>thường</a:t>
            </a:r>
            <a:r>
              <a:rPr lang="vi-VN" sz="1800" dirty="0"/>
              <a:t> không phải là hành động chính trong ứng dụng.</a:t>
            </a:r>
            <a:endParaRPr lang="en-US" sz="1800" dirty="0"/>
          </a:p>
          <a:p>
            <a:pPr algn="just"/>
            <a:endParaRPr lang="vi-VN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61D4BA-73AA-F946-DC49-86DE863A9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071" y="3628200"/>
            <a:ext cx="2655707" cy="9405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3ABC4135-142E-BC95-0FAE-B4C5FE5B9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7457" y="574765"/>
            <a:ext cx="4558937" cy="2540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4696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1E1E916-4AD8-C1F6-E4EE-3DE009D58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C31F3C-6108-3FC2-2D20-FD80312CC922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IconButton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5C5FCAD-C150-9557-BECF-CAC4A682E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53796A-AF06-CDD0-21A4-4A895876D6A4}"/>
              </a:ext>
            </a:extLst>
          </p:cNvPr>
          <p:cNvSpPr txBox="1"/>
          <p:nvPr/>
        </p:nvSpPr>
        <p:spPr>
          <a:xfrm>
            <a:off x="4654545" y="929313"/>
            <a:ext cx="39178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b="1" dirty="0"/>
              <a:t>IconButton</a:t>
            </a:r>
            <a:r>
              <a:rPr lang="vi-VN" dirty="0"/>
              <a:t> là một button với một biểu tượng (Icon), người dùng có thể click vào nó để thực hiện một hành động.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Flutter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icon </a:t>
            </a:r>
            <a:r>
              <a:rPr lang="en-US" dirty="0" err="1"/>
              <a:t>đẹp</a:t>
            </a:r>
            <a:r>
              <a:rPr lang="en-US" dirty="0"/>
              <a:t>,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dirty="0"/>
              <a:t>IconButton sẽ không bao gồm nội dung văn bản,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vi-VN" dirty="0"/>
              <a:t>TextButton hoặc ElevatedButton</a:t>
            </a:r>
            <a:r>
              <a:rPr lang="en-US" dirty="0"/>
              <a:t> </a:t>
            </a:r>
            <a:r>
              <a:rPr lang="vi-VN" dirty="0"/>
              <a:t>nếu muốn có một button bao gồm biểu tượng và văn bản</a:t>
            </a:r>
            <a:r>
              <a:rPr lang="en-US" dirty="0"/>
              <a:t>.</a:t>
            </a:r>
          </a:p>
          <a:p>
            <a:pPr algn="just"/>
            <a:endParaRPr lang="en-US" dirty="0"/>
          </a:p>
        </p:txBody>
      </p:sp>
      <p:pic>
        <p:nvPicPr>
          <p:cNvPr id="127" name="Picture 126">
            <a:extLst>
              <a:ext uri="{FF2B5EF4-FFF2-40B4-BE49-F238E27FC236}">
                <a16:creationId xmlns:a16="http://schemas.microsoft.com/office/drawing/2014/main" id="{89239B35-57D0-9362-F9BD-31A0873B3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459" y="3485678"/>
            <a:ext cx="1194037" cy="999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1" name="Picture 130">
            <a:extLst>
              <a:ext uri="{FF2B5EF4-FFF2-40B4-BE49-F238E27FC236}">
                <a16:creationId xmlns:a16="http://schemas.microsoft.com/office/drawing/2014/main" id="{7B6C30A2-05E7-3A18-21AD-F7D60339DE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913" y="3485678"/>
            <a:ext cx="1194037" cy="9991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9028E9C4-6318-F0F8-8E15-EFB68A7F2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5367" y="3485677"/>
            <a:ext cx="1194037" cy="9991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B7CA3A7C-782D-4CCA-4899-BCF9D9EB88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764" y="773646"/>
            <a:ext cx="4261244" cy="371117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76282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AC0CCEA-0A6B-1161-45B1-95990AE66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7DC371-7C51-E5C0-C6B6-45784EAB822B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7F88076-F633-D64A-7B56-6FF12530857A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 err="1"/>
              <a:t>FloatingActionButton</a:t>
            </a:r>
            <a:r>
              <a:rPr lang="en-US" sz="2000" b="1" dirty="0"/>
              <a:t> </a:t>
            </a:r>
            <a:r>
              <a:rPr lang="en-US" sz="2000" b="1" dirty="0" err="1"/>
              <a:t>và</a:t>
            </a:r>
            <a:r>
              <a:rPr lang="en-US" sz="2000" b="1" dirty="0"/>
              <a:t> </a:t>
            </a:r>
            <a:r>
              <a:rPr lang="en-US" sz="2000" b="1" dirty="0" err="1"/>
              <a:t>các</a:t>
            </a:r>
            <a:r>
              <a:rPr lang="en-US" sz="2000" b="1" dirty="0"/>
              <a:t> variants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3BB5DC0-D76F-14BF-398F-42775CCEA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562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5903B68-B457-D132-70CE-FECE72BB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9AD99C3-3522-327F-3E00-CC8AB6769485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29B7C1C8-A359-11D1-DE0F-CF77E4E05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873BF2A-E42E-0A5B-9C95-1511A0467234}"/>
              </a:ext>
            </a:extLst>
          </p:cNvPr>
          <p:cNvSpPr txBox="1"/>
          <p:nvPr/>
        </p:nvSpPr>
        <p:spPr>
          <a:xfrm>
            <a:off x="609836" y="1351662"/>
            <a:ext cx="50611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b="1" dirty="0"/>
              <a:t>FloatingActionButton</a:t>
            </a:r>
            <a:r>
              <a:rPr lang="vi-VN" sz="1800" dirty="0"/>
              <a:t> là một nút biểu tượng hình tròn kích hoạt hành động chính trong ứng dụng.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Nên</a:t>
            </a:r>
            <a:r>
              <a:rPr lang="en-US" sz="1800" dirty="0"/>
              <a:t> s</a:t>
            </a:r>
            <a:r>
              <a:rPr lang="vi-VN" sz="1800" dirty="0"/>
              <a:t>ử dụng tối đa một FloatingActionButton trên mỗi màn hình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1800" dirty="0"/>
              <a:t>FloatingActionButton nên được dùng cho các hành động tích cực, ví dụ như “tạo mới”, “chia sẻ” hoặc “điều hướng”.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117" name="Picture 116">
            <a:extLst>
              <a:ext uri="{FF2B5EF4-FFF2-40B4-BE49-F238E27FC236}">
                <a16:creationId xmlns:a16="http://schemas.microsoft.com/office/drawing/2014/main" id="{60EA3E72-4725-9403-C791-A3FBC7461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6763" y="1820939"/>
            <a:ext cx="2214338" cy="17321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559213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EAE4943-CCE9-B057-40BC-5A719736D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F43C639-7B81-7BD3-67D7-2BE8BBBE8565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CDC1796-3419-8B58-6242-AC010126A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6C202E-5683-E72F-9DC4-EBBD005151C8}"/>
              </a:ext>
            </a:extLst>
          </p:cNvPr>
          <p:cNvSpPr txBox="1"/>
          <p:nvPr/>
        </p:nvSpPr>
        <p:spPr>
          <a:xfrm>
            <a:off x="742524" y="1065692"/>
            <a:ext cx="7139429" cy="3920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800" dirty="0"/>
              <a:t>Các </a:t>
            </a:r>
            <a:r>
              <a:rPr lang="en-US" sz="1800" dirty="0" err="1"/>
              <a:t>biến</a:t>
            </a:r>
            <a:r>
              <a:rPr lang="en-US" sz="1800" dirty="0"/>
              <a:t> </a:t>
            </a:r>
            <a:r>
              <a:rPr lang="en-US" sz="1800" dirty="0" err="1"/>
              <a:t>thể</a:t>
            </a:r>
            <a:r>
              <a:rPr lang="en-US" sz="1800" dirty="0"/>
              <a:t> (variants)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FloatingActionButton</a:t>
            </a:r>
            <a:r>
              <a:rPr lang="en-US" sz="1800" dirty="0"/>
              <a:t>:</a:t>
            </a:r>
          </a:p>
          <a:p>
            <a:pPr algn="just"/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FloatingActionButton.small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():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kích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nhỏ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/>
              <a:t> </a:t>
            </a:r>
            <a:r>
              <a:rPr lang="en-US" sz="1800" dirty="0" err="1"/>
              <a:t>Phù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cho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tác</a:t>
            </a:r>
            <a:r>
              <a:rPr lang="en-US" sz="1800" dirty="0"/>
              <a:t> </a:t>
            </a:r>
            <a:r>
              <a:rPr lang="en-US" sz="1800" dirty="0" err="1"/>
              <a:t>vụ</a:t>
            </a:r>
            <a:r>
              <a:rPr lang="en-US" sz="1800" dirty="0"/>
              <a:t> </a:t>
            </a:r>
            <a:r>
              <a:rPr lang="en-US" sz="1800" dirty="0" err="1"/>
              <a:t>phụ</a:t>
            </a:r>
            <a:r>
              <a:rPr lang="en-US" sz="1800" dirty="0"/>
              <a:t>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en-US" sz="1800" dirty="0" err="1"/>
              <a:t>giao</a:t>
            </a:r>
            <a:r>
              <a:rPr lang="en-US" sz="1800" dirty="0"/>
              <a:t> </a:t>
            </a:r>
            <a:r>
              <a:rPr lang="en-US" sz="1800" dirty="0" err="1"/>
              <a:t>diện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ít</a:t>
            </a:r>
            <a:r>
              <a:rPr lang="en-US" sz="1800" dirty="0"/>
              <a:t> </a:t>
            </a:r>
            <a:r>
              <a:rPr lang="en-US" sz="1800" dirty="0" err="1"/>
              <a:t>không</a:t>
            </a:r>
            <a:r>
              <a:rPr lang="en-US" sz="1800" dirty="0"/>
              <a:t> </a:t>
            </a:r>
            <a:r>
              <a:rPr lang="en-US" sz="1800" dirty="0" err="1"/>
              <a:t>gian</a:t>
            </a:r>
            <a:r>
              <a:rPr lang="en-US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b="1" dirty="0">
              <a:ea typeface="Aptos" panose="020B00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FloatingActionButton.large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kích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thước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lớn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dirty="0" err="1"/>
              <a:t>Phù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muốn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mạnh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chính</a:t>
            </a:r>
            <a:r>
              <a:rPr lang="en-US" sz="1800" dirty="0"/>
              <a:t> </a:t>
            </a:r>
            <a:r>
              <a:rPr lang="en-US" sz="1800" dirty="0" err="1"/>
              <a:t>trên</a:t>
            </a:r>
            <a:r>
              <a:rPr lang="en-US" sz="1800" dirty="0"/>
              <a:t>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b="1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FloatingActionButton.extended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r>
              <a:rPr lang="en-US" sz="1800" b="1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button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nổi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biểu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tượng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văn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bản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cùng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nhau</a:t>
            </a:r>
            <a:r>
              <a:rPr lang="en-US" sz="1800" kern="100" dirty="0"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en-US" sz="1800" kern="100" dirty="0" err="1"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1800" dirty="0" err="1"/>
              <a:t>hù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mô</a:t>
            </a:r>
            <a:r>
              <a:rPr lang="en-US" sz="1800" dirty="0"/>
              <a:t> </a:t>
            </a:r>
            <a:r>
              <a:rPr lang="en-US" sz="1800" dirty="0" err="1"/>
              <a:t>tả</a:t>
            </a:r>
            <a:r>
              <a:rPr lang="en-US" sz="1800" dirty="0"/>
              <a:t> </a:t>
            </a:r>
            <a:r>
              <a:rPr lang="en-US" sz="1800" dirty="0" err="1"/>
              <a:t>rõ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.</a:t>
            </a:r>
            <a:endParaRPr lang="en-US" sz="18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45393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E6BBBB1-10D6-A05F-977A-2A6381463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2FB66B-F6C1-868B-F455-7D416B11A5BA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FloatingActionButton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các</a:t>
            </a:r>
            <a:r>
              <a:rPr lang="en-US" sz="2800" b="1" dirty="0">
                <a:solidFill>
                  <a:schemeClr val="tx1"/>
                </a:solidFill>
              </a:rPr>
              <a:t> Variants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421A5CA-2186-2EA4-AA1A-49F7816F4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972BB14B-F995-B8EA-C4AD-BB29F5633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316" y="944576"/>
            <a:ext cx="2742814" cy="37806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E6A493-72E3-F25B-06D4-23FCD41CEB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57" y="601000"/>
            <a:ext cx="4460241" cy="446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458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A2D6DE2-CCE4-AE5D-59AC-F619C402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04133FB-630A-44CE-7B36-89AE057CA2A8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A4DE8D1-CC31-EEE2-D6BB-CCC5BF418333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 err="1"/>
              <a:t>TextField</a:t>
            </a:r>
            <a:r>
              <a:rPr lang="en-US" sz="2000" b="1" dirty="0"/>
              <a:t> </a:t>
            </a:r>
            <a:r>
              <a:rPr lang="en-US" sz="2000" b="1" dirty="0" err="1"/>
              <a:t>với</a:t>
            </a:r>
            <a:r>
              <a:rPr lang="en-US" sz="2000" b="1" dirty="0"/>
              <a:t> controller </a:t>
            </a:r>
            <a:r>
              <a:rPr lang="en-US" sz="2000" b="1" dirty="0" err="1"/>
              <a:t>và</a:t>
            </a:r>
            <a:r>
              <a:rPr lang="en-US" sz="2000" b="1" dirty="0"/>
              <a:t> validation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3E3948A-BF80-5853-135E-925471AC2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726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152AFF4-C53B-A3B5-63AE-0732BC077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BF9918-77B8-8E9D-40DC-9F2EF2AE66D3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42181190-66ED-F1A8-FEC8-C8051DBBB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7385706-3514-A20D-FA49-4D673084C770}"/>
              </a:ext>
            </a:extLst>
          </p:cNvPr>
          <p:cNvSpPr txBox="1"/>
          <p:nvPr/>
        </p:nvSpPr>
        <p:spPr>
          <a:xfrm>
            <a:off x="694309" y="1267085"/>
            <a:ext cx="65168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widget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</a:t>
            </a:r>
            <a:r>
              <a:rPr lang="en-US" sz="2000" dirty="0" err="1"/>
              <a:t>người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 </a:t>
            </a:r>
            <a:r>
              <a:rPr lang="en-US" sz="2000" dirty="0" err="1"/>
              <a:t>văn</a:t>
            </a:r>
            <a:r>
              <a:rPr lang="en-US" sz="2000" dirty="0"/>
              <a:t> </a:t>
            </a:r>
            <a:r>
              <a:rPr lang="en-US" sz="2000" dirty="0" err="1"/>
              <a:t>bản</a:t>
            </a:r>
            <a:r>
              <a:rPr lang="en-US" sz="2000" dirty="0"/>
              <a:t> </a:t>
            </a:r>
            <a:r>
              <a:rPr lang="en-US" sz="2000" dirty="0" err="1"/>
              <a:t>vào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bàn</a:t>
            </a:r>
            <a:r>
              <a:rPr lang="en-US" sz="2000" dirty="0"/>
              <a:t> </a:t>
            </a:r>
            <a:r>
              <a:rPr lang="en-US" sz="2000" dirty="0" err="1"/>
              <a:t>phím</a:t>
            </a:r>
            <a:r>
              <a:rPr lang="en-US" sz="20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798EB-53F8-5AD3-D716-2A1B37A0C20D}"/>
              </a:ext>
            </a:extLst>
          </p:cNvPr>
          <p:cNvSpPr txBox="1"/>
          <p:nvPr/>
        </p:nvSpPr>
        <p:spPr>
          <a:xfrm>
            <a:off x="694309" y="2257796"/>
            <a:ext cx="79989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 err="1"/>
              <a:t>Vài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b="1" dirty="0" err="1"/>
              <a:t>TextField</a:t>
            </a:r>
            <a:r>
              <a:rPr lang="en-US" sz="2000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decoration: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trang</a:t>
            </a:r>
            <a:r>
              <a:rPr lang="en-US" sz="2000" dirty="0"/>
              <a:t> </a:t>
            </a:r>
            <a:r>
              <a:rPr lang="en-US" sz="2000" dirty="0" err="1"/>
              <a:t>trí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, </a:t>
            </a:r>
            <a:r>
              <a:rPr lang="en-US" sz="2000" dirty="0" err="1"/>
              <a:t>ví</a:t>
            </a:r>
            <a:r>
              <a:rPr lang="en-US" sz="2000" dirty="0"/>
              <a:t> </a:t>
            </a:r>
            <a:r>
              <a:rPr lang="en-US" sz="2000" dirty="0" err="1"/>
              <a:t>dụ</a:t>
            </a:r>
            <a:r>
              <a:rPr lang="en-US" sz="2000" dirty="0"/>
              <a:t> label, hint, border.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labelText</a:t>
            </a:r>
            <a:r>
              <a:rPr lang="en-US" sz="2000" dirty="0"/>
              <a:t>: </a:t>
            </a:r>
            <a:r>
              <a:rPr lang="en-US" sz="2000" dirty="0" err="1"/>
              <a:t>nhãn</a:t>
            </a:r>
            <a:r>
              <a:rPr lang="en-US" sz="2000" dirty="0"/>
              <a:t> </a:t>
            </a:r>
            <a:r>
              <a:rPr lang="en-US" sz="2000" dirty="0" err="1"/>
              <a:t>hiển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</a:t>
            </a:r>
            <a:r>
              <a:rPr lang="en-US" sz="2000" dirty="0" err="1"/>
              <a:t>bên</a:t>
            </a:r>
            <a:r>
              <a:rPr lang="en-US" sz="2000" dirty="0"/>
              <a:t> </a:t>
            </a:r>
            <a:r>
              <a:rPr lang="en-US" sz="2000" dirty="0" err="1"/>
              <a:t>trên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 err="1"/>
              <a:t>hintText</a:t>
            </a:r>
            <a:r>
              <a:rPr lang="en-US" sz="2000" dirty="0"/>
              <a:t>: </a:t>
            </a:r>
            <a:r>
              <a:rPr lang="en-US" sz="2000" dirty="0" err="1"/>
              <a:t>gợi</a:t>
            </a:r>
            <a:r>
              <a:rPr lang="en-US" sz="2000" dirty="0"/>
              <a:t> ý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trống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Border: </a:t>
            </a:r>
            <a:r>
              <a:rPr lang="en-US" sz="2000" dirty="0" err="1"/>
              <a:t>kiểu</a:t>
            </a:r>
            <a:r>
              <a:rPr lang="en-US" sz="2000" dirty="0"/>
              <a:t> </a:t>
            </a:r>
            <a:r>
              <a:rPr lang="en-US" sz="2000" dirty="0" err="1"/>
              <a:t>viền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650408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FD76159-C7B2-0C61-75CE-37C22610D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1B08D2B-EB93-2A04-E2FE-F5FBDAAE0681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4CEAFB4-8A8D-CE19-FB35-3DB969E2F9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 descr="A purple rectangle with white background&#10;&#10;AI-generated content may be incorrect.">
            <a:extLst>
              <a:ext uri="{FF2B5EF4-FFF2-40B4-BE49-F238E27FC236}">
                <a16:creationId xmlns:a16="http://schemas.microsoft.com/office/drawing/2014/main" id="{78F72404-DFC6-724A-ABBE-228EFB6C0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0824" y="1975458"/>
            <a:ext cx="3585754" cy="7073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 descr="A purple rectangle with white background&#10;&#10;AI-generated content may be incorrect.">
            <a:extLst>
              <a:ext uri="{FF2B5EF4-FFF2-40B4-BE49-F238E27FC236}">
                <a16:creationId xmlns:a16="http://schemas.microsoft.com/office/drawing/2014/main" id="{416F709A-F72A-8371-E125-DD6B73F7AB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824" y="3051511"/>
            <a:ext cx="3585754" cy="7073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261DE8-1B99-DAF2-71BF-A8D016899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054" y="1639390"/>
            <a:ext cx="4248197" cy="2533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3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53E3388-01B3-4CEA-D465-F79B3312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D009914-A0F6-D253-AC9F-B7AF7B5C8025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9F20D5E3-C108-BD25-E613-C643D0122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D6F8FB9E-03F8-B4CE-BE97-8245383EC82D}"/>
              </a:ext>
            </a:extLst>
          </p:cNvPr>
          <p:cNvSpPr txBox="1"/>
          <p:nvPr/>
        </p:nvSpPr>
        <p:spPr>
          <a:xfrm>
            <a:off x="876789" y="2974471"/>
            <a:ext cx="5837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1FED060-C092-074E-7EDF-0BA0F4B6E719}"/>
              </a:ext>
            </a:extLst>
          </p:cNvPr>
          <p:cNvSpPr txBox="1"/>
          <p:nvPr/>
        </p:nvSpPr>
        <p:spPr>
          <a:xfrm>
            <a:off x="1102724" y="1306838"/>
            <a:ext cx="66043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/>
              <a:t>Trong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trường</a:t>
            </a:r>
            <a:r>
              <a:rPr lang="en-US" sz="1800" dirty="0"/>
              <a:t> </a:t>
            </a:r>
            <a:r>
              <a:rPr lang="en-US" sz="1800" dirty="0" err="1"/>
              <a:t>hợp</a:t>
            </a:r>
            <a:r>
              <a:rPr lang="en-US" sz="1800" dirty="0"/>
              <a:t>,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thi</a:t>
            </a:r>
            <a:r>
              <a:rPr lang="en-US" sz="1800" dirty="0"/>
              <a:t> </a:t>
            </a:r>
            <a:r>
              <a:rPr lang="en-US" sz="1800" dirty="0" err="1"/>
              <a:t>hàm</a:t>
            </a:r>
            <a:r>
              <a:rPr lang="en-US" sz="1800" dirty="0"/>
              <a:t> callback </a:t>
            </a:r>
            <a:r>
              <a:rPr lang="en-US" sz="1800" dirty="0" err="1"/>
              <a:t>mỗi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nội</a:t>
            </a:r>
            <a:r>
              <a:rPr lang="en-US" sz="1800" dirty="0"/>
              <a:t> dung </a:t>
            </a:r>
            <a:r>
              <a:rPr lang="en-US" sz="1800" dirty="0" err="1"/>
              <a:t>trong</a:t>
            </a:r>
            <a:r>
              <a:rPr lang="en-US" sz="1800" dirty="0"/>
              <a:t> </a:t>
            </a:r>
            <a:r>
              <a:rPr lang="en-US" sz="1800" dirty="0" err="1"/>
              <a:t>TextField</a:t>
            </a:r>
            <a:r>
              <a:rPr lang="en-US" sz="1800" dirty="0"/>
              <a:t> </a:t>
            </a:r>
            <a:r>
              <a:rPr lang="en-US" sz="1800" dirty="0" err="1"/>
              <a:t>thay</a:t>
            </a:r>
            <a:r>
              <a:rPr lang="en-US" sz="1800" dirty="0"/>
              <a:t> </a:t>
            </a:r>
            <a:r>
              <a:rPr lang="en-US" sz="1800" dirty="0" err="1"/>
              <a:t>đổi</a:t>
            </a:r>
            <a:r>
              <a:rPr lang="en-US" sz="1800" dirty="0"/>
              <a:t> </a:t>
            </a:r>
            <a:r>
              <a:rPr lang="en-US" sz="1800" dirty="0" err="1"/>
              <a:t>là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thiết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rất</a:t>
            </a:r>
            <a:r>
              <a:rPr lang="en-US" sz="1800" dirty="0"/>
              <a:t> </a:t>
            </a:r>
            <a:r>
              <a:rPr lang="en-US" sz="1800" dirty="0" err="1"/>
              <a:t>hữu</a:t>
            </a:r>
            <a:r>
              <a:rPr lang="en-US" sz="1800" dirty="0"/>
              <a:t> </a:t>
            </a:r>
            <a:r>
              <a:rPr lang="en-US" sz="1800" dirty="0" err="1"/>
              <a:t>ích</a:t>
            </a:r>
            <a:r>
              <a:rPr lang="en-US" sz="18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 </a:t>
            </a:r>
            <a:r>
              <a:rPr lang="en-US" sz="1800" dirty="0" err="1"/>
              <a:t>tìm</a:t>
            </a:r>
            <a:r>
              <a:rPr lang="en-US" sz="1800" dirty="0"/>
              <a:t> </a:t>
            </a:r>
            <a:r>
              <a:rPr lang="en-US" sz="1800" dirty="0" err="1"/>
              <a:t>kiếm</a:t>
            </a:r>
            <a:r>
              <a:rPr lang="en-US" sz="1800" dirty="0"/>
              <a:t> </a:t>
            </a:r>
            <a:r>
              <a:rPr lang="en-US" sz="1800" dirty="0" err="1"/>
              <a:t>tự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</a:t>
            </a:r>
            <a:r>
              <a:rPr lang="en-US" sz="1800" dirty="0" err="1"/>
              <a:t>cập</a:t>
            </a:r>
            <a:r>
              <a:rPr lang="en-US" sz="1800" dirty="0"/>
              <a:t> </a:t>
            </a:r>
            <a:r>
              <a:rPr lang="en-US" sz="1800" dirty="0" err="1"/>
              <a:t>nhật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quả</a:t>
            </a:r>
            <a:r>
              <a:rPr lang="en-US" sz="1800" dirty="0"/>
              <a:t> </a:t>
            </a:r>
            <a:r>
              <a:rPr lang="en-US" sz="1800" dirty="0" err="1"/>
              <a:t>khi</a:t>
            </a:r>
            <a:r>
              <a:rPr lang="en-US" sz="1800" dirty="0"/>
              <a:t> </a:t>
            </a:r>
            <a:r>
              <a:rPr lang="en-US" sz="1800" dirty="0" err="1"/>
              <a:t>người</a:t>
            </a:r>
            <a:r>
              <a:rPr lang="en-US" sz="1800" dirty="0"/>
              <a:t> </a:t>
            </a:r>
            <a:r>
              <a:rPr lang="en-US" sz="1800" dirty="0" err="1"/>
              <a:t>dùng</a:t>
            </a:r>
            <a:r>
              <a:rPr lang="en-US" sz="1800" dirty="0"/>
              <a:t> </a:t>
            </a:r>
            <a:r>
              <a:rPr lang="en-US" sz="1800" dirty="0" err="1"/>
              <a:t>nhập</a:t>
            </a:r>
            <a:r>
              <a:rPr lang="en-US" sz="1800" dirty="0"/>
              <a:t> </a:t>
            </a:r>
            <a:r>
              <a:rPr lang="en-US" sz="1800" dirty="0" err="1"/>
              <a:t>vào</a:t>
            </a:r>
            <a:r>
              <a:rPr lang="en-US" sz="18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sz="1800" dirty="0" err="1"/>
              <a:t>Có</a:t>
            </a:r>
            <a:r>
              <a:rPr lang="en-US" sz="1800" dirty="0"/>
              <a:t> 2 </a:t>
            </a:r>
            <a:r>
              <a:rPr lang="en-US" sz="1800" dirty="0" err="1"/>
              <a:t>cách</a:t>
            </a:r>
            <a:r>
              <a:rPr lang="en-US" sz="1800" dirty="0"/>
              <a:t> </a:t>
            </a:r>
            <a:r>
              <a:rPr lang="en-US" sz="1800" dirty="0" err="1"/>
              <a:t>phổ</a:t>
            </a:r>
            <a:r>
              <a:rPr lang="en-US" sz="1800" dirty="0"/>
              <a:t> </a:t>
            </a:r>
            <a:r>
              <a:rPr lang="en-US" sz="1800" dirty="0" err="1"/>
              <a:t>biến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: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800" dirty="0" err="1"/>
              <a:t>Hàm</a:t>
            </a:r>
            <a:r>
              <a:rPr lang="en-US" sz="1800" dirty="0"/>
              <a:t> </a:t>
            </a:r>
            <a:r>
              <a:rPr lang="en-US" sz="1800" dirty="0" err="1"/>
              <a:t>onChanged</a:t>
            </a:r>
            <a:r>
              <a:rPr lang="en-US" sz="1800" dirty="0"/>
              <a:t>()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en-US" sz="1800" dirty="0" err="1"/>
              <a:t>lại</a:t>
            </a:r>
            <a:r>
              <a:rPr lang="en-US" sz="1800" dirty="0"/>
              <a:t> </a:t>
            </a:r>
            <a:r>
              <a:rPr lang="en-US" sz="1800" dirty="0" err="1"/>
              <a:t>tới</a:t>
            </a:r>
            <a:r>
              <a:rPr lang="en-US" sz="1800" dirty="0"/>
              <a:t> </a:t>
            </a:r>
            <a:r>
              <a:rPr lang="en-US" sz="1800" dirty="0" err="1"/>
              <a:t>TextField</a:t>
            </a:r>
            <a:r>
              <a:rPr lang="en-US" sz="1800" dirty="0"/>
              <a:t> </a:t>
            </a:r>
            <a:r>
              <a:rPr lang="en-US" sz="1800" dirty="0" err="1"/>
              <a:t>hoặc</a:t>
            </a:r>
            <a:r>
              <a:rPr lang="en-US" sz="1800" dirty="0"/>
              <a:t> </a:t>
            </a:r>
            <a:r>
              <a:rPr lang="en-US" sz="1800" dirty="0" err="1"/>
              <a:t>TextFormField</a:t>
            </a:r>
            <a:r>
              <a:rPr lang="en-US" sz="1800" dirty="0"/>
              <a:t>.</a:t>
            </a:r>
          </a:p>
          <a:p>
            <a:pPr marL="342900" lvl="1" indent="-342900">
              <a:buFont typeface="+mj-lt"/>
              <a:buAutoNum type="arabicPeriod"/>
            </a:pP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 </a:t>
            </a:r>
            <a:r>
              <a:rPr lang="en-US" sz="1800" b="1" dirty="0" err="1"/>
              <a:t>TextEditingController</a:t>
            </a:r>
            <a:r>
              <a:rPr lang="en-US" sz="1800" b="1" dirty="0"/>
              <a:t>()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theo</a:t>
            </a:r>
            <a:r>
              <a:rPr lang="en-US" sz="1800" dirty="0"/>
              <a:t> </a:t>
            </a:r>
            <a:r>
              <a:rPr lang="en-US" sz="1800" dirty="0" err="1"/>
              <a:t>dõi</a:t>
            </a:r>
            <a:r>
              <a:rPr lang="en-US" sz="1800" dirty="0"/>
              <a:t>, </a:t>
            </a:r>
            <a:r>
              <a:rPr lang="en-US" sz="1800" dirty="0" err="1"/>
              <a:t>điều</a:t>
            </a:r>
            <a:r>
              <a:rPr lang="en-US" sz="1800" dirty="0"/>
              <a:t> </a:t>
            </a:r>
            <a:r>
              <a:rPr lang="en-US" sz="1800" dirty="0" err="1"/>
              <a:t>khiển</a:t>
            </a:r>
            <a:r>
              <a:rPr lang="en-US" sz="1800" dirty="0"/>
              <a:t> </a:t>
            </a:r>
            <a:r>
              <a:rPr lang="en-US" sz="1800" dirty="0" err="1"/>
              <a:t>nội</a:t>
            </a:r>
            <a:r>
              <a:rPr lang="en-US" sz="1800" dirty="0"/>
              <a:t> dung </a:t>
            </a:r>
            <a:r>
              <a:rPr lang="en-US" sz="1800" dirty="0" err="1"/>
              <a:t>nhập</a:t>
            </a:r>
            <a:endParaRPr lang="en-US" sz="1800" dirty="0"/>
          </a:p>
          <a:p>
            <a:pPr algn="just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636034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533620-CB82-7961-C77D-1E250C5A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A85133-68A5-A44D-5295-F2A17EDAC06C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D8A756F-14B9-F3A0-F076-B547A101B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66A0E9A7-B7C0-224F-F425-7DBEC8B83A57}"/>
              </a:ext>
            </a:extLst>
          </p:cNvPr>
          <p:cNvSpPr txBox="1"/>
          <p:nvPr/>
        </p:nvSpPr>
        <p:spPr>
          <a:xfrm>
            <a:off x="1085498" y="1188974"/>
            <a:ext cx="66477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err="1"/>
              <a:t>TextEditingController</a:t>
            </a:r>
            <a:r>
              <a:rPr lang="en-US" sz="2000" b="1" dirty="0"/>
              <a:t>()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lớp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Flutter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dõi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TextField</a:t>
            </a:r>
            <a:r>
              <a:rPr lang="en-US" sz="2000" dirty="0"/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Nó</a:t>
            </a:r>
            <a:r>
              <a:rPr lang="en-US" sz="2000" dirty="0"/>
              <a:t> </a:t>
            </a:r>
            <a:r>
              <a:rPr lang="en-US" sz="2000" dirty="0" err="1"/>
              <a:t>cho</a:t>
            </a:r>
            <a:r>
              <a:rPr lang="en-US" sz="2000" dirty="0"/>
              <a:t> </a:t>
            </a:r>
            <a:r>
              <a:rPr lang="en-US" sz="2000" dirty="0" err="1"/>
              <a:t>phép</a:t>
            </a:r>
            <a:r>
              <a:rPr lang="en-US" sz="2000" dirty="0"/>
              <a:t> ta </a:t>
            </a:r>
            <a:r>
              <a:rPr lang="en-US" sz="2000" dirty="0" err="1"/>
              <a:t>lấy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đang</a:t>
            </a:r>
            <a:r>
              <a:rPr lang="en-US" sz="2000" dirty="0"/>
              <a:t> </a:t>
            </a:r>
            <a:r>
              <a:rPr lang="en-US" sz="2000" dirty="0" err="1"/>
              <a:t>nhập</a:t>
            </a:r>
            <a:r>
              <a:rPr lang="en-US" sz="2000" dirty="0"/>
              <a:t>, </a:t>
            </a:r>
            <a:r>
              <a:rPr lang="en-US" sz="2000" dirty="0" err="1"/>
              <a:t>gán</a:t>
            </a:r>
            <a:r>
              <a:rPr lang="en-US" sz="2000" dirty="0"/>
              <a:t> </a:t>
            </a:r>
            <a:r>
              <a:rPr lang="en-US" sz="2000" dirty="0" err="1"/>
              <a:t>giá</a:t>
            </a:r>
            <a:r>
              <a:rPr lang="en-US" sz="2000" dirty="0"/>
              <a:t> </a:t>
            </a:r>
            <a:r>
              <a:rPr lang="en-US" sz="2000" dirty="0" err="1"/>
              <a:t>trị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,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dõi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nội</a:t>
            </a:r>
            <a:r>
              <a:rPr lang="en-US" sz="2000" dirty="0"/>
              <a:t> dung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,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phóng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nhớ</a:t>
            </a:r>
            <a:r>
              <a:rPr lang="en-US" sz="2000" dirty="0"/>
              <a:t> </a:t>
            </a:r>
            <a:r>
              <a:rPr lang="en-US" sz="2000" dirty="0" err="1"/>
              <a:t>khi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còn</a:t>
            </a:r>
            <a:r>
              <a:rPr lang="en-US" sz="2000" dirty="0"/>
              <a:t> </a:t>
            </a:r>
            <a:r>
              <a:rPr lang="en-US" sz="2000" dirty="0" err="1"/>
              <a:t>dùng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79713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46300492-E996-1943-ECA8-D93807EDE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86698A-5412-70E2-9E28-88D357A5F2D8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50E74E9-9731-73B7-BBF6-A20A09BD3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CFCC47-56D0-2F0E-1127-80C4434B0F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078" y="3670663"/>
            <a:ext cx="4442347" cy="1008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7EA826-E195-6E90-3690-297A0D9DD0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6362" y="850593"/>
            <a:ext cx="3434901" cy="38289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335C3F5F-6711-B6C4-90E2-25ADDE3BE6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078" y="1214846"/>
            <a:ext cx="4442348" cy="228449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4119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DAA07FF-C7C9-E437-74E1-FF0A0083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AA74A6-FE62-37C2-79F4-5642180FF163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207272E-D989-B6B5-59CE-B13AA2C6A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F37B16-D124-C5E9-8EBD-A2009DEF20EE}"/>
              </a:ext>
            </a:extLst>
          </p:cNvPr>
          <p:cNvSpPr txBox="1"/>
          <p:nvPr/>
        </p:nvSpPr>
        <p:spPr>
          <a:xfrm>
            <a:off x="1136859" y="1251621"/>
            <a:ext cx="636083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Để đảm bảo ứng dụng an toàn và dễ sử dụng, </a:t>
            </a:r>
            <a:r>
              <a:rPr lang="en-US" sz="2000" dirty="0" err="1"/>
              <a:t>cần</a:t>
            </a:r>
            <a:r>
              <a:rPr lang="vi-VN" sz="2000" dirty="0"/>
              <a:t> kiểm tra </a:t>
            </a:r>
            <a:r>
              <a:rPr lang="en-US" sz="2000" dirty="0" err="1"/>
              <a:t>tính</a:t>
            </a:r>
            <a:r>
              <a:rPr lang="en-US" sz="2000" dirty="0"/>
              <a:t> </a:t>
            </a:r>
            <a:r>
              <a:rPr lang="en-US" sz="2000" dirty="0" err="1"/>
              <a:t>hợp</a:t>
            </a:r>
            <a:r>
              <a:rPr lang="en-US" sz="2000" dirty="0"/>
              <a:t> </a:t>
            </a:r>
            <a:r>
              <a:rPr lang="en-US" sz="2000" dirty="0" err="1"/>
              <a:t>lệ</a:t>
            </a:r>
            <a:r>
              <a:rPr lang="en-US" sz="2000" dirty="0"/>
              <a:t> </a:t>
            </a:r>
            <a:r>
              <a:rPr lang="en-US" sz="2000" b="1" dirty="0"/>
              <a:t>(Validation)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vi-VN" sz="2000" dirty="0"/>
              <a:t>thông tin người dùng cung</a:t>
            </a:r>
            <a:r>
              <a:rPr lang="en-US" sz="2000" dirty="0"/>
              <a:t> </a:t>
            </a:r>
            <a:r>
              <a:rPr lang="en-US" sz="2000" dirty="0" err="1"/>
              <a:t>cấp</a:t>
            </a:r>
            <a:r>
              <a:rPr lang="en-US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Thường đ</a:t>
            </a:r>
            <a:r>
              <a:rPr lang="vi-VN" sz="2000" dirty="0"/>
              <a:t>ược sử dụng trong các form đăng ký, đăng nhập, nhập email, mật khẩu</a:t>
            </a:r>
            <a:r>
              <a:rPr lang="en-US" sz="2000" dirty="0"/>
              <a:t>, v.v.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en-US" sz="2000" dirty="0" err="1"/>
              <a:t>đảm</a:t>
            </a:r>
            <a:r>
              <a:rPr lang="en-US" sz="2000" dirty="0"/>
              <a:t> </a:t>
            </a:r>
            <a:r>
              <a:rPr lang="en-US" sz="2000" dirty="0" err="1"/>
              <a:t>bảo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xác</a:t>
            </a:r>
            <a:r>
              <a:rPr lang="en-US" sz="2000" dirty="0"/>
              <a:t>, </a:t>
            </a:r>
            <a:r>
              <a:rPr lang="en-US" sz="2000" dirty="0" err="1"/>
              <a:t>tránh</a:t>
            </a:r>
            <a:r>
              <a:rPr lang="en-US" sz="2000" dirty="0"/>
              <a:t> </a:t>
            </a:r>
            <a:r>
              <a:rPr lang="en-US" sz="2000" dirty="0" err="1"/>
              <a:t>lỗi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966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2786FB7-8DD6-4A23-ABFD-12569A5D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A2963F-EFE2-C889-1FD9-AF1F6A8DB8E0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TextField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với</a:t>
            </a:r>
            <a:r>
              <a:rPr lang="en-US" sz="2800" b="1" dirty="0">
                <a:solidFill>
                  <a:schemeClr val="tx1"/>
                </a:solidFill>
              </a:rPr>
              <a:t> controller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validation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A03CADC-2491-A224-B218-937DB3919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122" name="Picture 121">
            <a:extLst>
              <a:ext uri="{FF2B5EF4-FFF2-40B4-BE49-F238E27FC236}">
                <a16:creationId xmlns:a16="http://schemas.microsoft.com/office/drawing/2014/main" id="{FF2EDC70-8E94-E1D7-482E-E646C4315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199" y="1308951"/>
            <a:ext cx="3363155" cy="9346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D9A73EF2-F746-54C7-7738-59AA18E069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6199" y="3038802"/>
            <a:ext cx="3355528" cy="16255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5" name="Picture 144">
            <a:extLst>
              <a:ext uri="{FF2B5EF4-FFF2-40B4-BE49-F238E27FC236}">
                <a16:creationId xmlns:a16="http://schemas.microsoft.com/office/drawing/2014/main" id="{162777D5-2BB7-FE18-9162-FE862FF93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837" y="686622"/>
            <a:ext cx="4025106" cy="43752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78363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21E1906-BC2D-94DC-B2E2-A80B2C51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8C2887-C7BB-C0E9-9857-5A822F8CBE74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DC4DE05-8A15-A088-1F0E-195202485A8A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/>
              <a:t>Switch, Checkbox, Radio, Slider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GestureDetector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InkWell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5DA58E1-F7B0-ADCA-714F-312486143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2491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D46A22-8466-0304-8FB4-DF1CAC6F4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E55629-8205-AC34-F4EE-666B2397769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Switch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DFE59A60-DE57-2A56-3147-B03ECE4C9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2B41138-8382-E27A-0F37-7DD8F8340235}"/>
              </a:ext>
            </a:extLst>
          </p:cNvPr>
          <p:cNvSpPr txBox="1"/>
          <p:nvPr/>
        </p:nvSpPr>
        <p:spPr>
          <a:xfrm>
            <a:off x="1627538" y="1593806"/>
            <a:ext cx="58889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b="1" dirty="0"/>
              <a:t>Switch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widget </a:t>
            </a:r>
            <a:r>
              <a:rPr lang="en-US" sz="2000" dirty="0" err="1"/>
              <a:t>dùng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chuyển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bật</a:t>
            </a:r>
            <a:r>
              <a:rPr lang="en-US" sz="2000" dirty="0"/>
              <a:t>/</a:t>
            </a:r>
            <a:r>
              <a:rPr lang="en-US" sz="2000" dirty="0" err="1"/>
              <a:t>tắt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cài</a:t>
            </a:r>
            <a:r>
              <a:rPr lang="en-US" sz="2000" dirty="0"/>
              <a:t> </a:t>
            </a:r>
            <a:r>
              <a:rPr lang="en-US" sz="2000" dirty="0" err="1"/>
              <a:t>đặt</a:t>
            </a:r>
            <a:r>
              <a:rPr lang="en-US" sz="2000" dirty="0"/>
              <a:t> </a:t>
            </a:r>
            <a:r>
              <a:rPr lang="en-US" sz="2000" dirty="0" err="1"/>
              <a:t>duy</a:t>
            </a:r>
            <a:r>
              <a:rPr lang="en-US" sz="2000" dirty="0"/>
              <a:t> </a:t>
            </a:r>
            <a:r>
              <a:rPr lang="en-US" sz="2000" dirty="0" err="1"/>
              <a:t>nhất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Khi </a:t>
            </a:r>
            <a:r>
              <a:rPr lang="en-US" sz="2000" dirty="0" err="1"/>
              <a:t>trạng</a:t>
            </a:r>
            <a:r>
              <a:rPr lang="en-US" sz="2000" dirty="0"/>
              <a:t> </a:t>
            </a:r>
            <a:r>
              <a:rPr lang="en-US" sz="2000" dirty="0" err="1"/>
              <a:t>thái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switch </a:t>
            </a:r>
            <a:r>
              <a:rPr lang="en-US" sz="2000" dirty="0" err="1"/>
              <a:t>thay</a:t>
            </a:r>
            <a:r>
              <a:rPr lang="en-US" sz="2000" dirty="0"/>
              <a:t> </a:t>
            </a:r>
            <a:r>
              <a:rPr lang="en-US" sz="2000" dirty="0" err="1"/>
              <a:t>đổi</a:t>
            </a:r>
            <a:r>
              <a:rPr lang="en-US" sz="2000" dirty="0"/>
              <a:t>, widget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gọi</a:t>
            </a:r>
            <a:r>
              <a:rPr lang="en-US" sz="2000" dirty="0"/>
              <a:t> </a:t>
            </a:r>
            <a:r>
              <a:rPr lang="en-US" sz="2000" dirty="0" err="1"/>
              <a:t>hàm</a:t>
            </a:r>
            <a:r>
              <a:rPr lang="en-US" sz="2000" dirty="0"/>
              <a:t> callback </a:t>
            </a:r>
            <a:r>
              <a:rPr lang="en-US" sz="2000" dirty="0" err="1"/>
              <a:t>onChanged</a:t>
            </a:r>
            <a:r>
              <a:rPr lang="en-US" sz="2000" dirty="0"/>
              <a:t>()</a:t>
            </a:r>
          </a:p>
          <a:p>
            <a:endParaRPr lang="en-US" sz="2000" dirty="0"/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05772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6A6F0A3-7240-0C7A-A589-99D010C5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8A718CA-4991-2643-DD44-7EA84B07250B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Switch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832CC68-FDBB-6E42-9B3F-1C3C0878B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0B21D1D-DD54-4F88-7E01-B792D38D66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539" r="12025"/>
          <a:stretch>
            <a:fillRect/>
          </a:stretch>
        </p:blipFill>
        <p:spPr>
          <a:xfrm>
            <a:off x="6063682" y="1237319"/>
            <a:ext cx="1231924" cy="10120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42F8E8-29BD-23C7-3554-192A807F27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3682" y="2249386"/>
            <a:ext cx="1231924" cy="9261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197ED5-F884-6A4D-6374-F2FCC26FC87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605" r="6605"/>
          <a:stretch>
            <a:fillRect/>
          </a:stretch>
        </p:blipFill>
        <p:spPr>
          <a:xfrm>
            <a:off x="6063681" y="3175497"/>
            <a:ext cx="1231925" cy="9812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82235-4AD3-7366-2682-34ABABA74B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163" y="743254"/>
            <a:ext cx="3831608" cy="4081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14991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53931B7-5CEA-BF38-9889-81BD55544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6CE9C-DB75-6D18-D4CA-2E76B1291C53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Checkbox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BDDBFC49-26FC-C63C-6D4A-3FB9EB244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12D32C-11C3-03C3-F74B-E0CD8B9086E9}"/>
              </a:ext>
            </a:extLst>
          </p:cNvPr>
          <p:cNvSpPr txBox="1"/>
          <p:nvPr/>
        </p:nvSpPr>
        <p:spPr>
          <a:xfrm>
            <a:off x="1236616" y="1417588"/>
            <a:ext cx="637903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Checkbox</a:t>
            </a:r>
            <a:r>
              <a:rPr lang="vi-VN" sz="2000" dirty="0"/>
              <a:t> là một widget cho phép người dùng chọn</a:t>
            </a:r>
            <a:r>
              <a:rPr lang="en-US" sz="2000" dirty="0"/>
              <a:t> </a:t>
            </a:r>
            <a:r>
              <a:rPr lang="vi-VN" sz="2000" dirty="0"/>
              <a:t>hoặc bỏ chọn một tùy chọn</a:t>
            </a:r>
            <a:r>
              <a:rPr lang="en-US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Checkbox không tự duy trì trạng thái, mà khi </a:t>
            </a:r>
            <a:r>
              <a:rPr lang="en-US" sz="2000" dirty="0" err="1"/>
              <a:t>nó</a:t>
            </a:r>
            <a:r>
              <a:rPr lang="en-US" sz="2000" dirty="0"/>
              <a:t> </a:t>
            </a:r>
            <a:r>
              <a:rPr lang="vi-VN" sz="2000" dirty="0"/>
              <a:t>thay đổi sẽ gọi hàm onChanged() để cập nhật</a:t>
            </a:r>
            <a:r>
              <a:rPr lang="en-US" sz="2000" dirty="0"/>
              <a:t> </a:t>
            </a:r>
            <a:r>
              <a:rPr lang="vi-VN" sz="2000" dirty="0"/>
              <a:t>giá trị.</a:t>
            </a:r>
            <a:endParaRPr lang="en-US" sz="2000" dirty="0"/>
          </a:p>
          <a:p>
            <a:pPr algn="just"/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Checkbox có thể hiển thị ba trạng thái </a:t>
            </a:r>
            <a:r>
              <a:rPr lang="en-US" sz="2000" dirty="0" err="1"/>
              <a:t>là</a:t>
            </a:r>
            <a:r>
              <a:rPr lang="vi-VN" sz="2000" dirty="0"/>
              <a:t> true, false, và null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08289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B0BD847-DD65-3463-BB39-46AD9F0E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22FD90B-4711-0640-BBB4-77FE14357238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Checkbox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42F402A-C227-E8A3-F50C-A17E0C4BD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4E13EA-2421-A656-AE02-D1043E20B8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7221" y="2980740"/>
            <a:ext cx="3116245" cy="1721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7FBF12F-8891-1E2F-ABBA-524B22D9B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086" y="1126283"/>
            <a:ext cx="4476516" cy="15635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C0F71E3E-11A0-A308-D1C5-35A1DB2965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9424" y="496388"/>
            <a:ext cx="3499410" cy="44919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57839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954AADC-F152-FACF-115D-5B1C3BFC2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30DB9E-9CEB-56A4-2D64-93CC5829BB7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Radio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12647C10-7FA4-7B0F-A4BD-27E5BA940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E6982A-9FD3-E2E8-4E5B-2D9BD43E2698}"/>
              </a:ext>
            </a:extLst>
          </p:cNvPr>
          <p:cNvSpPr txBox="1"/>
          <p:nvPr/>
        </p:nvSpPr>
        <p:spPr>
          <a:xfrm>
            <a:off x="551053" y="1435040"/>
            <a:ext cx="503331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Radio</a:t>
            </a:r>
            <a:r>
              <a:rPr lang="vi-VN" sz="2000" dirty="0"/>
              <a:t> là một nút chọn (radio button)</a:t>
            </a:r>
            <a:r>
              <a:rPr lang="en-US" sz="2000" dirty="0"/>
              <a:t> </a:t>
            </a:r>
            <a:r>
              <a:rPr lang="vi-VN" sz="2000" dirty="0"/>
              <a:t>dùng để chọn một giá trị duy nhất trong một nhóm các lựa chọn</a:t>
            </a:r>
            <a:r>
              <a:rPr lang="en-US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Khi một nút radio trong nhóm được chọn </a:t>
            </a:r>
            <a:r>
              <a:rPr lang="en-US" sz="2000" dirty="0" err="1"/>
              <a:t>thì</a:t>
            </a:r>
            <a:r>
              <a:rPr lang="vi-VN" sz="2000" dirty="0"/>
              <a:t> các nút khác tự động bỏ chọn.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just"/>
            <a:endParaRPr lang="vi-VN" sz="2000" dirty="0"/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   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0F98811F-39BA-0B32-72BD-713FA3E6A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097" y="1540734"/>
            <a:ext cx="1982210" cy="20620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30373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06B6005-4C26-626C-7263-47ADAC1FA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FE50BD-B4CF-3205-29B4-A5EDEE05E3B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Radio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0C02148A-DE85-D596-3A13-81DFD8F89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1E6003-029F-D31E-4336-1000B00C1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732" y="1230644"/>
            <a:ext cx="1912749" cy="1393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132D8-A51C-2BA6-C4A0-3A149C60EA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7470" y="2892227"/>
            <a:ext cx="1912011" cy="13934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91DD51-CFA8-AD73-3595-8CB4C35F0D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806" y="65892"/>
            <a:ext cx="3657600" cy="50117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887493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2995678-4AFF-40BF-7DF1-8EFF10020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857F95-1063-5B59-52F6-4FF35CDD4130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2A2FD9EA-0387-4270-5BFB-3199E1921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677DD8-3919-3826-41B6-00DE5046E411}"/>
              </a:ext>
            </a:extLst>
          </p:cNvPr>
          <p:cNvSpPr txBox="1"/>
          <p:nvPr/>
        </p:nvSpPr>
        <p:spPr>
          <a:xfrm>
            <a:off x="1191134" y="1043355"/>
            <a:ext cx="65094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>
                <a:latin typeface="+mn-lt"/>
              </a:rPr>
              <a:t>Slider</a:t>
            </a:r>
            <a:r>
              <a:rPr lang="vi-VN" sz="2000" dirty="0">
                <a:latin typeface="+mn-lt"/>
              </a:rPr>
              <a:t> là một widget dùng để chọn một giá trị trong một khoảng cho trước</a:t>
            </a:r>
            <a:r>
              <a:rPr lang="en-US" sz="2000" dirty="0">
                <a:latin typeface="+mn-lt"/>
              </a:rPr>
              <a:t> (</a:t>
            </a:r>
            <a:r>
              <a:rPr lang="en-US" sz="2000" dirty="0" err="1">
                <a:latin typeface="+mn-lt"/>
              </a:rPr>
              <a:t>khoảng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liên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tục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hoặc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rời</a:t>
            </a:r>
            <a:r>
              <a:rPr lang="en-US" sz="2000" dirty="0">
                <a:latin typeface="+mn-lt"/>
              </a:rPr>
              <a:t> </a:t>
            </a:r>
            <a:r>
              <a:rPr lang="en-US" sz="2000" dirty="0" err="1">
                <a:latin typeface="+mn-lt"/>
              </a:rPr>
              <a:t>rạc</a:t>
            </a:r>
            <a:r>
              <a:rPr lang="en-US" sz="2000" dirty="0">
                <a:latin typeface="+mn-lt"/>
              </a:rPr>
              <a:t>).</a:t>
            </a:r>
            <a:r>
              <a:rPr lang="vi-VN" sz="2000" dirty="0">
                <a:latin typeface="+mn-lt"/>
              </a:rPr>
              <a:t> </a:t>
            </a: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>
                <a:latin typeface="+mn-lt"/>
              </a:rPr>
              <a:t>Người dùng có thể trượt thanh trượt để chọn giá trị mong muốn.</a:t>
            </a: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dirty="0"/>
              <a:t>Slider không lưu trạng thái của chính nó</a:t>
            </a:r>
            <a:r>
              <a:rPr lang="en-US" sz="20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K</a:t>
            </a:r>
            <a:r>
              <a:rPr lang="vi-VN" sz="2000" dirty="0"/>
              <a:t>hi người dùng kéo thay đổi giá trị, nó gọi onChanged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vi-VN" sz="2000" dirty="0"/>
              <a:t>cập nhật giá trị.</a:t>
            </a: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0259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5242F5-80BF-C84B-F5DB-BC64C66C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36CF4A-D7D2-B26E-4DB2-97FF23B7536D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E3D484F1-5290-67EA-0D53-37E64AC73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DA8013D-9A65-EEF2-03C4-01134A5D9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83" y="1233625"/>
            <a:ext cx="784183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+mj-lt"/>
              </a:rPr>
              <a:t>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Thumb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nút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tròn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người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dùng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kéo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Track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đường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nằm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ngang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di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chuyển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dọc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nó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Active side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track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min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trí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đã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chọn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   Inactive side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track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từ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đến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max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phần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chưa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chọn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+mj-lt"/>
              </a:rPr>
              <a:t>   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Value indicator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hiển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giá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trị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khi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kéo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thumb.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463AA7-0367-8AB1-7753-5FF59A181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282" y="3234307"/>
            <a:ext cx="4085436" cy="13511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741766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B6BBC9D-B9F6-19B7-2D3F-CAEC59223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4581C9-92D9-95B7-5414-2B32BA054E72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Slider 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DF3010D-3929-AD15-1896-FB313AF86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B0371A-9647-6081-22AF-A143B4A895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428" y="716420"/>
            <a:ext cx="4017974" cy="15022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F0616FC-A139-17F1-433A-F91577FA67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36" y="716420"/>
            <a:ext cx="3851593" cy="4252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BD8E9AA-9D37-00BF-5FE0-DE5D1685CC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1428" y="2232350"/>
            <a:ext cx="4017975" cy="27367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969038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0B58651-5F6F-A0A9-6041-EAB95F7C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2A4E96F-4331-F623-CCEA-10B11E277190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NỘI DUNG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39D76393-6BC8-D9DD-CCAD-FE2B3AB81037}"/>
              </a:ext>
            </a:extLst>
          </p:cNvPr>
          <p:cNvSpPr txBox="1"/>
          <p:nvPr/>
        </p:nvSpPr>
        <p:spPr>
          <a:xfrm>
            <a:off x="681858" y="959969"/>
            <a:ext cx="7938621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ElevatedButton</a:t>
            </a:r>
            <a:r>
              <a:rPr lang="en-US" sz="2000" dirty="0"/>
              <a:t>, </a:t>
            </a:r>
            <a:r>
              <a:rPr lang="en-US" sz="2000" dirty="0" err="1"/>
              <a:t>TextButton</a:t>
            </a:r>
            <a:r>
              <a:rPr lang="en-US" sz="2000" dirty="0"/>
              <a:t>, </a:t>
            </a:r>
            <a:r>
              <a:rPr lang="en-US" sz="2000" dirty="0" err="1"/>
              <a:t>OutlinedButton</a:t>
            </a:r>
            <a:r>
              <a:rPr lang="en-US" sz="2000" dirty="0"/>
              <a:t>, </a:t>
            </a:r>
            <a:r>
              <a:rPr lang="en-US" sz="2000" dirty="0" err="1"/>
              <a:t>IconButton</a:t>
            </a: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FloatingActionButton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variants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dirty="0" err="1"/>
              <a:t>TextField</a:t>
            </a:r>
            <a:r>
              <a:rPr lang="en-US" sz="2000" dirty="0"/>
              <a:t> </a:t>
            </a:r>
            <a:r>
              <a:rPr lang="en-US" sz="2000" dirty="0" err="1"/>
              <a:t>với</a:t>
            </a:r>
            <a:r>
              <a:rPr lang="en-US" sz="2000" dirty="0"/>
              <a:t> controller </a:t>
            </a:r>
            <a:r>
              <a:rPr lang="en-US" sz="2000" dirty="0" err="1"/>
              <a:t>và</a:t>
            </a:r>
            <a:r>
              <a:rPr lang="en-US" sz="2000" dirty="0"/>
              <a:t> validation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Switch, Checkbox, Radio, Slider</a:t>
            </a:r>
          </a:p>
          <a:p>
            <a:pPr marL="457200" indent="-457200" algn="just">
              <a:buFont typeface="+mj-lt"/>
              <a:buAutoNum type="arabicPeriod"/>
            </a:pPr>
            <a:endParaRPr lang="en-US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/>
              <a:t>  </a:t>
            </a:r>
            <a:r>
              <a:rPr lang="en-US" sz="2000" b="1" dirty="0" err="1"/>
              <a:t>GestureDetector</a:t>
            </a:r>
            <a:r>
              <a:rPr lang="en-US" sz="2000" b="1" dirty="0"/>
              <a:t> </a:t>
            </a:r>
            <a:r>
              <a:rPr lang="en-US" sz="2000" b="1" dirty="0" err="1"/>
              <a:t>và</a:t>
            </a:r>
            <a:r>
              <a:rPr lang="en-US" sz="2000" b="1" dirty="0"/>
              <a:t> </a:t>
            </a:r>
            <a:r>
              <a:rPr lang="en-US" sz="2000" b="1" dirty="0" err="1"/>
              <a:t>InkWell</a:t>
            </a:r>
            <a:endParaRPr lang="en-US" sz="2000" b="1" dirty="0"/>
          </a:p>
          <a:p>
            <a:pPr marL="457200" indent="-457200" algn="just">
              <a:buFont typeface="+mj-lt"/>
              <a:buAutoNum type="arabicPeriod"/>
            </a:pPr>
            <a:endParaRPr lang="en-US" sz="2000" b="1" dirty="0"/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56A9617-A582-EDA9-2D62-7249DBFC0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4846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CAF003-2DAD-B499-9F0C-AE27F0FBE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7B58DC-B00A-2664-2526-CFDEDBE7E1C7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7F35016-1F3E-F2DD-7D8F-B60940C4D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2728B5-B247-7B75-CD67-E7A72EDFEB45}"/>
              </a:ext>
            </a:extLst>
          </p:cNvPr>
          <p:cNvSpPr txBox="1"/>
          <p:nvPr/>
        </p:nvSpPr>
        <p:spPr>
          <a:xfrm>
            <a:off x="1453585" y="1674286"/>
            <a:ext cx="556770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GestureDetector </a:t>
            </a:r>
            <a:r>
              <a:rPr lang="vi-VN" sz="2000" dirty="0"/>
              <a:t>là widget dùng để phát hiện</a:t>
            </a:r>
            <a:r>
              <a:rPr lang="en-US" sz="2000" dirty="0"/>
              <a:t>,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vi-VN" sz="2000" dirty="0"/>
              <a:t> các cử chỉ (gestures) người dùng: nhấn, kéo, nhấn giữ, chạm đúp, v.v.</a:t>
            </a: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vi-VN" sz="2000" b="1" dirty="0"/>
              <a:t>InkWell </a:t>
            </a:r>
            <a:r>
              <a:rPr lang="vi-VN" sz="2000" dirty="0"/>
              <a:t>là widget tương tác với hiệu ứng ripple (gợn sóng) khi người dùng chạm vào</a:t>
            </a:r>
            <a:r>
              <a:rPr lang="en-US" sz="2000" dirty="0"/>
              <a:t>.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574909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1FC9828-51E5-0E0D-1B6A-C95B8F3B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C33610-B078-C34F-4797-C8458A84B3B9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và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7F1E679-8544-F4CE-4F0F-38FE02954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BB481C-20B8-A4B8-A383-DD15FD5B951A}"/>
              </a:ext>
            </a:extLst>
          </p:cNvPr>
          <p:cNvSpPr txBox="1"/>
          <p:nvPr/>
        </p:nvSpPr>
        <p:spPr>
          <a:xfrm>
            <a:off x="942612" y="1417588"/>
            <a:ext cx="73838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800" dirty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sz="1800" dirty="0" err="1"/>
              <a:t>Cả</a:t>
            </a:r>
            <a:r>
              <a:rPr lang="en-US" sz="1800" dirty="0"/>
              <a:t> </a:t>
            </a:r>
            <a:r>
              <a:rPr lang="en-US" sz="1800" dirty="0" err="1"/>
              <a:t>hai</a:t>
            </a:r>
            <a:r>
              <a:rPr lang="en-US" sz="1800" dirty="0"/>
              <a:t> widget </a:t>
            </a:r>
            <a:r>
              <a:rPr lang="en-US" sz="1800" dirty="0" err="1"/>
              <a:t>đều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thuộc</a:t>
            </a:r>
            <a:r>
              <a:rPr lang="en-US" sz="1800" dirty="0"/>
              <a:t> </a:t>
            </a:r>
            <a:r>
              <a:rPr lang="en-US" sz="1800" dirty="0" err="1"/>
              <a:t>tính</a:t>
            </a:r>
            <a:r>
              <a:rPr lang="en-US" sz="1800" dirty="0"/>
              <a:t>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xử</a:t>
            </a:r>
            <a:r>
              <a:rPr lang="en-US" sz="1800" dirty="0"/>
              <a:t> </a:t>
            </a:r>
            <a:r>
              <a:rPr lang="en-US" sz="1800" dirty="0" err="1"/>
              <a:t>lý</a:t>
            </a:r>
            <a:r>
              <a:rPr lang="en-US" sz="1800" dirty="0"/>
              <a:t> </a:t>
            </a:r>
            <a:r>
              <a:rPr lang="en-US" sz="1800" dirty="0" err="1"/>
              <a:t>sự</a:t>
            </a:r>
            <a:r>
              <a:rPr lang="en-US" sz="1800" dirty="0"/>
              <a:t> </a:t>
            </a:r>
            <a:r>
              <a:rPr lang="en-US" sz="1800" dirty="0" err="1"/>
              <a:t>kiện</a:t>
            </a:r>
            <a:r>
              <a:rPr lang="en-US" sz="1800" dirty="0"/>
              <a:t> </a:t>
            </a:r>
            <a:r>
              <a:rPr lang="en-US" sz="1800" dirty="0" err="1"/>
              <a:t>tương</a:t>
            </a:r>
            <a:r>
              <a:rPr lang="en-US" sz="1800" dirty="0"/>
              <a:t> </a:t>
            </a:r>
            <a:r>
              <a:rPr lang="en-US" sz="1800" dirty="0" err="1"/>
              <a:t>tác</a:t>
            </a:r>
            <a:r>
              <a:rPr lang="en-US" sz="1800" dirty="0"/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Các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thuộc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tính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chính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như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vi-VN" sz="1800" b="1" dirty="0"/>
              <a:t>onTap</a:t>
            </a:r>
            <a:r>
              <a:rPr lang="vi-VN" sz="1800" dirty="0"/>
              <a:t>: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vi-VN" sz="1800" dirty="0"/>
              <a:t>khi người dùng chạm </a:t>
            </a:r>
            <a:r>
              <a:rPr lang="en-US" sz="1800" dirty="0" err="1"/>
              <a:t>vào</a:t>
            </a:r>
            <a:r>
              <a:rPr lang="vi-VN" sz="1800" dirty="0"/>
              <a:t>.</a:t>
            </a:r>
            <a:endParaRPr lang="en-US" sz="1800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vi-VN" sz="1800" b="1" dirty="0"/>
              <a:t>onDoubleTap</a:t>
            </a:r>
            <a:r>
              <a:rPr lang="vi-VN" sz="1800" dirty="0"/>
              <a:t>: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vi-VN" sz="1800" dirty="0"/>
              <a:t>khi người dùng chạm hai lần.</a:t>
            </a:r>
            <a:endParaRPr lang="en-US" sz="1800" dirty="0"/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vi-VN" sz="1800" b="1" dirty="0"/>
              <a:t>onLongPress</a:t>
            </a:r>
            <a:r>
              <a:rPr lang="vi-VN" sz="1800" dirty="0"/>
              <a:t>: </a:t>
            </a:r>
            <a:r>
              <a:rPr lang="en-US" sz="1800" dirty="0" err="1"/>
              <a:t>Gọi</a:t>
            </a:r>
            <a:r>
              <a:rPr lang="en-US" sz="1800" dirty="0"/>
              <a:t> </a:t>
            </a:r>
            <a:r>
              <a:rPr lang="vi-VN" sz="1800" dirty="0"/>
              <a:t>khi người d</a:t>
            </a:r>
            <a:r>
              <a:rPr lang="en-US" sz="1800" dirty="0" err="1"/>
              <a:t>ùng</a:t>
            </a:r>
            <a:r>
              <a:rPr lang="en-US" sz="1800" dirty="0"/>
              <a:t> </a:t>
            </a:r>
            <a:r>
              <a:rPr lang="en-US" sz="1800" dirty="0" err="1"/>
              <a:t>nhấn</a:t>
            </a:r>
            <a:r>
              <a:rPr lang="en-US" sz="1800" dirty="0"/>
              <a:t> </a:t>
            </a:r>
            <a:r>
              <a:rPr lang="en-US" sz="1800" dirty="0" err="1"/>
              <a:t>giữ</a:t>
            </a:r>
            <a:r>
              <a:rPr lang="en-US" sz="1800" dirty="0"/>
              <a:t>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800" dirty="0"/>
              <a:t>      </a:t>
            </a:r>
            <a:r>
              <a:rPr lang="vi-VN" sz="1800" dirty="0"/>
              <a:t>– </a:t>
            </a:r>
            <a:r>
              <a:rPr lang="en-US" sz="1800" b="1" dirty="0" err="1"/>
              <a:t>borderRadius</a:t>
            </a:r>
            <a:r>
              <a:rPr lang="en-US" sz="1800" dirty="0"/>
              <a:t>: </a:t>
            </a:r>
            <a:r>
              <a:rPr lang="en-US" sz="1800" dirty="0" err="1"/>
              <a:t>Độ</a:t>
            </a:r>
            <a:r>
              <a:rPr lang="en-US" sz="1800" dirty="0"/>
              <a:t> </a:t>
            </a:r>
            <a:r>
              <a:rPr lang="en-US" sz="1800" dirty="0" err="1"/>
              <a:t>bo</a:t>
            </a:r>
            <a:r>
              <a:rPr lang="en-US" sz="1800" dirty="0"/>
              <a:t> </a:t>
            </a:r>
            <a:r>
              <a:rPr lang="en-US" sz="1800" dirty="0" err="1"/>
              <a:t>góc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hiệu</a:t>
            </a:r>
            <a:r>
              <a:rPr lang="en-US" sz="1800" dirty="0"/>
              <a:t> </a:t>
            </a:r>
            <a:r>
              <a:rPr lang="en-US" sz="1800" dirty="0" err="1"/>
              <a:t>ứng</a:t>
            </a:r>
            <a:r>
              <a:rPr lang="en-US" sz="1800" dirty="0"/>
              <a:t> ripple (</a:t>
            </a:r>
            <a:r>
              <a:rPr lang="en-US" sz="1800" dirty="0" err="1"/>
              <a:t>chỉ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r>
              <a:rPr lang="en-US" sz="1800" dirty="0"/>
              <a:t> </a:t>
            </a:r>
            <a:r>
              <a:rPr lang="en-US" sz="1800" dirty="0" err="1"/>
              <a:t>InkWell</a:t>
            </a:r>
            <a:r>
              <a:rPr lang="en-US" sz="1800" dirty="0"/>
              <a:t>).</a:t>
            </a: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2834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3C13407-EE5D-DC8E-0EE2-8E8A9915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7F9EE6-A833-D504-3EC6-80F5F6136181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GestureDetector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A17D7CD2-A061-2268-7191-03A0554AC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2559AE-980F-9351-3C2B-410EFCCE54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028" y="933995"/>
            <a:ext cx="2604432" cy="16377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3CACF85-6DCB-69F6-ED14-BD2924C5D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2028" y="2804499"/>
            <a:ext cx="2604432" cy="1637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CE0093-3669-F26B-FAE3-AE4A1A6FF9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62" y="773645"/>
            <a:ext cx="3520149" cy="39243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740409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EE59534-42AE-7247-74CD-3CB071D08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51F5943-EA2C-6CB2-4B5C-EB7B88A43ED3}"/>
              </a:ext>
            </a:extLst>
          </p:cNvPr>
          <p:cNvSpPr/>
          <p:nvPr/>
        </p:nvSpPr>
        <p:spPr>
          <a:xfrm>
            <a:off x="609836" y="-1155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InkWell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FFBC57C7-23B9-58B8-1E3B-8094F4FB2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BF5F6-4D26-14B3-9388-5BE79B57F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028" y="933995"/>
            <a:ext cx="2604432" cy="16377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948F76-98F9-71A3-4839-F428DBA35E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2028" y="2804499"/>
            <a:ext cx="2604432" cy="1637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63888C-7DE0-9D3C-C469-D68626F971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62" y="773645"/>
            <a:ext cx="3520149" cy="3924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4DE87-C6FA-79DC-5532-FA4C8A14D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62" y="773645"/>
            <a:ext cx="3520149" cy="39243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5401483-07F7-0FA4-4A0C-D5EEF1332D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029" y="933994"/>
            <a:ext cx="2604432" cy="16377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3AB142-F27C-76E4-21C9-F71AE00732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2028" y="2800531"/>
            <a:ext cx="2604432" cy="16377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31391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B4479239-9932-B36D-BFC2-D8134958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FA86D5A-635F-A40B-F391-2012BFCE9F79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 err="1">
                <a:solidFill>
                  <a:schemeClr val="tx1"/>
                </a:solidFill>
              </a:rPr>
              <a:t>Nhận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xét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BE61D488-A2CD-13CA-B4EB-92C4A4DC1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08EFCB-FE04-CB3E-AB4C-904464605767}"/>
              </a:ext>
            </a:extLst>
          </p:cNvPr>
          <p:cNvSpPr txBox="1"/>
          <p:nvPr/>
        </p:nvSpPr>
        <p:spPr>
          <a:xfrm>
            <a:off x="609836" y="1745145"/>
            <a:ext cx="57125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 dirty="0"/>
              <a:t>Các </a:t>
            </a:r>
            <a:r>
              <a:rPr lang="en-US" sz="2000" dirty="0"/>
              <a:t>Button Widget, Input Widget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vi-VN" sz="2000" dirty="0"/>
              <a:t>nền tảng của tương tác người dùng trong Flutter</a:t>
            </a:r>
            <a:r>
              <a:rPr lang="en-US" sz="2000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vi-VN" sz="2000" dirty="0"/>
              <a:t>Việc hiểu và kết hợp linh hoạt giúp tạo nên giao diện thân thiện, trực quan và chuyên nghiệp cho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vi-VN" sz="2000" dirty="0"/>
              <a:t>ứng dụng đa nền tảng</a:t>
            </a:r>
            <a:r>
              <a:rPr lang="en-US" sz="2000" dirty="0"/>
              <a:t>.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9DED0540-563C-72AB-569E-B58326634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08" y="0"/>
            <a:ext cx="248859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31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556F24-08A6-A83C-1912-5693319F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486CC9-DB8A-71FC-C187-B73B077558EF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Tài </a:t>
            </a:r>
            <a:r>
              <a:rPr lang="en-US" sz="2800" b="1" dirty="0" err="1">
                <a:solidFill>
                  <a:schemeClr val="tx1"/>
                </a:solidFill>
              </a:rPr>
              <a:t>liệu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tham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khảo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C047D32F-1C0B-2657-F47A-E3CFCE4AE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FFAE62-74A0-A040-859D-DDD710983BC1}"/>
              </a:ext>
            </a:extLst>
          </p:cNvPr>
          <p:cNvSpPr txBox="1"/>
          <p:nvPr/>
        </p:nvSpPr>
        <p:spPr>
          <a:xfrm>
            <a:off x="743383" y="1201041"/>
            <a:ext cx="736189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1800" b="1" dirty="0"/>
              <a:t>[1]. </a:t>
            </a:r>
            <a:r>
              <a:rPr lang="en-US" sz="1800" dirty="0"/>
              <a:t>Flutter API reference documentation. </a:t>
            </a:r>
          </a:p>
          <a:p>
            <a:pPr fontAlgn="base"/>
            <a:r>
              <a:rPr lang="en-US" sz="1800" dirty="0"/>
              <a:t>Link: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https://api.flutter.dev/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/>
            <a:endParaRPr lang="en-US" sz="1800" dirty="0"/>
          </a:p>
          <a:p>
            <a:pPr fontAlgn="base"/>
            <a:r>
              <a:rPr lang="en-US" sz="1800" b="1" dirty="0"/>
              <a:t>[2]. </a:t>
            </a:r>
            <a:r>
              <a:rPr lang="en-US" sz="1800" dirty="0"/>
              <a:t>Flutter Official Documentation.</a:t>
            </a:r>
          </a:p>
          <a:p>
            <a:pPr fontAlgn="base"/>
            <a:r>
              <a:rPr lang="en-US" sz="1800" dirty="0"/>
              <a:t>Link: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https://docs.flutter.dev/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/>
            <a:endParaRPr lang="en-US" sz="1800" dirty="0"/>
          </a:p>
          <a:p>
            <a:pPr fontAlgn="base"/>
            <a:r>
              <a:rPr lang="en-US" sz="1800" b="1" dirty="0"/>
              <a:t>[3]. </a:t>
            </a:r>
            <a:r>
              <a:rPr lang="en-US" sz="1800" dirty="0" err="1"/>
              <a:t>GeeksforGeeks</a:t>
            </a:r>
            <a:r>
              <a:rPr lang="en-US" sz="1800" dirty="0"/>
              <a:t> Flutter Tutorial. </a:t>
            </a:r>
          </a:p>
          <a:p>
            <a:pPr fontAlgn="base"/>
            <a:r>
              <a:rPr lang="en-US" sz="1800" dirty="0"/>
              <a:t>Link: </a:t>
            </a:r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https://www.geeksforgeeks.org/flutter/flutter-tutorial/</a:t>
            </a:r>
            <a:endParaRPr lang="en-US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fontAlgn="base"/>
            <a:endParaRPr lang="en-US" sz="1800" dirty="0"/>
          </a:p>
          <a:p>
            <a:r>
              <a:rPr lang="en-US" sz="1800" b="1" dirty="0"/>
              <a:t>[4]. </a:t>
            </a:r>
            <a:r>
              <a:rPr lang="en-US" sz="1800" dirty="0" err="1"/>
              <a:t>TS.Nguyễn</a:t>
            </a:r>
            <a:r>
              <a:rPr lang="en-US" sz="1800" dirty="0"/>
              <a:t> Duy Nhật </a:t>
            </a:r>
            <a:r>
              <a:rPr lang="en-US" sz="1800" dirty="0" err="1"/>
              <a:t>Viễn</a:t>
            </a:r>
            <a:r>
              <a:rPr lang="en-US" sz="1800" dirty="0"/>
              <a:t>, Slide </a:t>
            </a:r>
            <a:r>
              <a:rPr lang="en-US" sz="1800" dirty="0" err="1"/>
              <a:t>bài</a:t>
            </a:r>
            <a:r>
              <a:rPr lang="en-US" sz="1800" dirty="0"/>
              <a:t> </a:t>
            </a:r>
            <a:r>
              <a:rPr lang="en-US" sz="1800" dirty="0" err="1"/>
              <a:t>giảng</a:t>
            </a:r>
            <a:r>
              <a:rPr lang="en-US" sz="1800" dirty="0"/>
              <a:t> </a:t>
            </a:r>
            <a:r>
              <a:rPr lang="en-US" sz="1800" dirty="0" err="1"/>
              <a:t>lập</a:t>
            </a:r>
            <a:r>
              <a:rPr lang="en-US" sz="1800" dirty="0"/>
              <a:t> </a:t>
            </a:r>
            <a:r>
              <a:rPr lang="en-US" sz="1800" dirty="0" err="1"/>
              <a:t>trình</a:t>
            </a:r>
            <a:r>
              <a:rPr lang="en-US" sz="1800" dirty="0"/>
              <a:t> </a:t>
            </a:r>
            <a:r>
              <a:rPr lang="en-US" sz="1800" dirty="0" err="1"/>
              <a:t>đa</a:t>
            </a:r>
            <a:r>
              <a:rPr lang="en-US" sz="1800" dirty="0"/>
              <a:t> </a:t>
            </a:r>
            <a:r>
              <a:rPr lang="en-US" sz="1800" dirty="0" err="1"/>
              <a:t>nền</a:t>
            </a:r>
            <a:r>
              <a:rPr lang="en-US" sz="1800" dirty="0"/>
              <a:t> </a:t>
            </a:r>
            <a:r>
              <a:rPr lang="en-US" sz="1800" dirty="0" err="1"/>
              <a:t>tảng</a:t>
            </a:r>
            <a:r>
              <a:rPr lang="en-US" sz="1800" dirty="0"/>
              <a:t>, </a:t>
            </a:r>
          </a:p>
          <a:p>
            <a:r>
              <a:rPr lang="en-US" sz="1800" dirty="0"/>
              <a:t>Khoa ĐT-VT, Trường Đại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Bách</a:t>
            </a:r>
            <a:r>
              <a:rPr lang="en-US" sz="1800" dirty="0"/>
              <a:t> Khoa, Đại </a:t>
            </a:r>
            <a:r>
              <a:rPr lang="en-US" sz="1800" dirty="0" err="1"/>
              <a:t>học</a:t>
            </a:r>
            <a:r>
              <a:rPr lang="en-US" sz="1800" dirty="0"/>
              <a:t> </a:t>
            </a:r>
            <a:r>
              <a:rPr lang="en-US" sz="1800" dirty="0" err="1"/>
              <a:t>Đà</a:t>
            </a:r>
            <a:r>
              <a:rPr lang="en-US" sz="1800" dirty="0"/>
              <a:t> </a:t>
            </a:r>
            <a:r>
              <a:rPr lang="en-US" sz="1800" dirty="0" err="1"/>
              <a:t>Nẵng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30903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5CE7C65-06F6-B823-E891-34E2E6C9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4FCC6982-90FF-6ADB-AE37-095E18B2B50D}"/>
              </a:ext>
            </a:extLst>
          </p:cNvPr>
          <p:cNvSpPr txBox="1"/>
          <p:nvPr/>
        </p:nvSpPr>
        <p:spPr>
          <a:xfrm>
            <a:off x="1217051" y="1634569"/>
            <a:ext cx="6709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Thầy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các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chú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ý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lắng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nghe</a:t>
            </a:r>
            <a:endParaRPr lang="vi-VN" sz="4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FEE9D6-4B70-BF0A-1EAC-870DA58CA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09836" cy="622282"/>
          </a:xfrm>
          <a:prstGeom prst="rect">
            <a:avLst/>
          </a:prstGeom>
        </p:spPr>
      </p:pic>
      <p:grpSp>
        <p:nvGrpSpPr>
          <p:cNvPr id="3" name="Google Shape;9222;p75">
            <a:extLst>
              <a:ext uri="{FF2B5EF4-FFF2-40B4-BE49-F238E27FC236}">
                <a16:creationId xmlns:a16="http://schemas.microsoft.com/office/drawing/2014/main" id="{50B7C044-C41A-B827-6BC4-73FFD843ADC6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F3E25585-2BB1-A39C-DC3B-04416DE9AED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9" name="Google Shape;9224;p75">
                <a:extLst>
                  <a:ext uri="{FF2B5EF4-FFF2-40B4-BE49-F238E27FC236}">
                    <a16:creationId xmlns:a16="http://schemas.microsoft.com/office/drawing/2014/main" id="{3F3623ED-19EA-22A3-A652-FF25BDB6048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25;p75">
                <a:extLst>
                  <a:ext uri="{FF2B5EF4-FFF2-40B4-BE49-F238E27FC236}">
                    <a16:creationId xmlns:a16="http://schemas.microsoft.com/office/drawing/2014/main" id="{B0D1E382-6ED1-68C8-B333-5561F40F22A9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26;p75">
                <a:extLst>
                  <a:ext uri="{FF2B5EF4-FFF2-40B4-BE49-F238E27FC236}">
                    <a16:creationId xmlns:a16="http://schemas.microsoft.com/office/drawing/2014/main" id="{9A67456F-13C0-5173-9A6C-312FD66E5EA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7;p75">
                <a:extLst>
                  <a:ext uri="{FF2B5EF4-FFF2-40B4-BE49-F238E27FC236}">
                    <a16:creationId xmlns:a16="http://schemas.microsoft.com/office/drawing/2014/main" id="{3069FDE5-BB76-0B01-1FA7-EBFADCF6019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8;p75">
                <a:extLst>
                  <a:ext uri="{FF2B5EF4-FFF2-40B4-BE49-F238E27FC236}">
                    <a16:creationId xmlns:a16="http://schemas.microsoft.com/office/drawing/2014/main" id="{2F7699BA-F411-96D6-6120-AD31FFBAB82B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9;p75">
                <a:extLst>
                  <a:ext uri="{FF2B5EF4-FFF2-40B4-BE49-F238E27FC236}">
                    <a16:creationId xmlns:a16="http://schemas.microsoft.com/office/drawing/2014/main" id="{9BF3DFAB-0F93-BFB7-DB1E-96CABE659E1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30;p75">
                <a:extLst>
                  <a:ext uri="{FF2B5EF4-FFF2-40B4-BE49-F238E27FC236}">
                    <a16:creationId xmlns:a16="http://schemas.microsoft.com/office/drawing/2014/main" id="{7B360586-979B-CBAE-9FF2-C96D36C4DC2C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31;p75">
                <a:extLst>
                  <a:ext uri="{FF2B5EF4-FFF2-40B4-BE49-F238E27FC236}">
                    <a16:creationId xmlns:a16="http://schemas.microsoft.com/office/drawing/2014/main" id="{AE54DC45-76AE-16FA-E2D6-5C4CD11B5C10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2;p75">
                <a:extLst>
                  <a:ext uri="{FF2B5EF4-FFF2-40B4-BE49-F238E27FC236}">
                    <a16:creationId xmlns:a16="http://schemas.microsoft.com/office/drawing/2014/main" id="{E4CDD67A-4F46-969B-7FC2-21236855D3F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3;p75">
                <a:extLst>
                  <a:ext uri="{FF2B5EF4-FFF2-40B4-BE49-F238E27FC236}">
                    <a16:creationId xmlns:a16="http://schemas.microsoft.com/office/drawing/2014/main" id="{AEA53ABD-9DA4-910D-2470-2882F141047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4;p75">
                <a:extLst>
                  <a:ext uri="{FF2B5EF4-FFF2-40B4-BE49-F238E27FC236}">
                    <a16:creationId xmlns:a16="http://schemas.microsoft.com/office/drawing/2014/main" id="{5E78AD70-1043-BACB-C536-E05355A7C18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5;p75">
                <a:extLst>
                  <a:ext uri="{FF2B5EF4-FFF2-40B4-BE49-F238E27FC236}">
                    <a16:creationId xmlns:a16="http://schemas.microsoft.com/office/drawing/2014/main" id="{E8896F64-82D8-8530-B06C-02B38347308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6;p75">
                <a:extLst>
                  <a:ext uri="{FF2B5EF4-FFF2-40B4-BE49-F238E27FC236}">
                    <a16:creationId xmlns:a16="http://schemas.microsoft.com/office/drawing/2014/main" id="{B88A19DB-93C0-8BA1-8B6F-E2B4796A064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7;p75">
                <a:extLst>
                  <a:ext uri="{FF2B5EF4-FFF2-40B4-BE49-F238E27FC236}">
                    <a16:creationId xmlns:a16="http://schemas.microsoft.com/office/drawing/2014/main" id="{BF5C1714-7CCC-5EB3-2D08-91A4072609D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8;p75">
                <a:extLst>
                  <a:ext uri="{FF2B5EF4-FFF2-40B4-BE49-F238E27FC236}">
                    <a16:creationId xmlns:a16="http://schemas.microsoft.com/office/drawing/2014/main" id="{6B89834E-C90E-63CE-E4FD-1CE128870703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9;p75">
                <a:extLst>
                  <a:ext uri="{FF2B5EF4-FFF2-40B4-BE49-F238E27FC236}">
                    <a16:creationId xmlns:a16="http://schemas.microsoft.com/office/drawing/2014/main" id="{DE88222D-1DE9-2EA2-2D43-B6B4302614B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40;p75">
                <a:extLst>
                  <a:ext uri="{FF2B5EF4-FFF2-40B4-BE49-F238E27FC236}">
                    <a16:creationId xmlns:a16="http://schemas.microsoft.com/office/drawing/2014/main" id="{B112BC88-4869-B618-1461-E8FA0380A3F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41;p75">
                <a:extLst>
                  <a:ext uri="{FF2B5EF4-FFF2-40B4-BE49-F238E27FC236}">
                    <a16:creationId xmlns:a16="http://schemas.microsoft.com/office/drawing/2014/main" id="{1E61F861-5A5B-2DF3-6538-0BE541EA3C8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2;p75">
                <a:extLst>
                  <a:ext uri="{FF2B5EF4-FFF2-40B4-BE49-F238E27FC236}">
                    <a16:creationId xmlns:a16="http://schemas.microsoft.com/office/drawing/2014/main" id="{7D05971D-A700-EF8E-2EA7-1BCA97A3FC6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3;p75">
                <a:extLst>
                  <a:ext uri="{FF2B5EF4-FFF2-40B4-BE49-F238E27FC236}">
                    <a16:creationId xmlns:a16="http://schemas.microsoft.com/office/drawing/2014/main" id="{47AB2778-973A-505D-E2AE-9502AEDCCB5F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4;p75">
                <a:extLst>
                  <a:ext uri="{FF2B5EF4-FFF2-40B4-BE49-F238E27FC236}">
                    <a16:creationId xmlns:a16="http://schemas.microsoft.com/office/drawing/2014/main" id="{75CCBD08-08F9-637E-6995-990BBC7D58B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5;p75">
                <a:extLst>
                  <a:ext uri="{FF2B5EF4-FFF2-40B4-BE49-F238E27FC236}">
                    <a16:creationId xmlns:a16="http://schemas.microsoft.com/office/drawing/2014/main" id="{CEF2C177-6940-E97C-6931-4FA96D4063A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6;p75">
                <a:extLst>
                  <a:ext uri="{FF2B5EF4-FFF2-40B4-BE49-F238E27FC236}">
                    <a16:creationId xmlns:a16="http://schemas.microsoft.com/office/drawing/2014/main" id="{7D5C5171-AE36-9E99-8463-2F7D88B81BE9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247;p75">
                <a:extLst>
                  <a:ext uri="{FF2B5EF4-FFF2-40B4-BE49-F238E27FC236}">
                    <a16:creationId xmlns:a16="http://schemas.microsoft.com/office/drawing/2014/main" id="{A351B008-893C-5C82-A997-8A5F70775D3C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248;p75">
                <a:extLst>
                  <a:ext uri="{FF2B5EF4-FFF2-40B4-BE49-F238E27FC236}">
                    <a16:creationId xmlns:a16="http://schemas.microsoft.com/office/drawing/2014/main" id="{0A548714-B2CC-BC78-9917-0468A19CA9A4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249;p75">
                <a:extLst>
                  <a:ext uri="{FF2B5EF4-FFF2-40B4-BE49-F238E27FC236}">
                    <a16:creationId xmlns:a16="http://schemas.microsoft.com/office/drawing/2014/main" id="{96F5F521-04F5-4E64-5AEC-80D2B595CA49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250;p75">
                <a:extLst>
                  <a:ext uri="{FF2B5EF4-FFF2-40B4-BE49-F238E27FC236}">
                    <a16:creationId xmlns:a16="http://schemas.microsoft.com/office/drawing/2014/main" id="{E8F967A2-6E2C-8486-9BE4-230E20610AF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9251;p75">
                <a:extLst>
                  <a:ext uri="{FF2B5EF4-FFF2-40B4-BE49-F238E27FC236}">
                    <a16:creationId xmlns:a16="http://schemas.microsoft.com/office/drawing/2014/main" id="{74195B9D-85BA-BA41-0ABC-C0A04942276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9252;p75">
                <a:extLst>
                  <a:ext uri="{FF2B5EF4-FFF2-40B4-BE49-F238E27FC236}">
                    <a16:creationId xmlns:a16="http://schemas.microsoft.com/office/drawing/2014/main" id="{F98D2D1C-895F-2555-256C-2B2B9A6390B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9253;p75">
                <a:extLst>
                  <a:ext uri="{FF2B5EF4-FFF2-40B4-BE49-F238E27FC236}">
                    <a16:creationId xmlns:a16="http://schemas.microsoft.com/office/drawing/2014/main" id="{52E2A40D-4333-F86D-BB61-4E906980095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9254;p75">
                <a:extLst>
                  <a:ext uri="{FF2B5EF4-FFF2-40B4-BE49-F238E27FC236}">
                    <a16:creationId xmlns:a16="http://schemas.microsoft.com/office/drawing/2014/main" id="{3E48B3B4-F99C-6883-30E5-EAD2E11A9996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9255;p75">
                <a:extLst>
                  <a:ext uri="{FF2B5EF4-FFF2-40B4-BE49-F238E27FC236}">
                    <a16:creationId xmlns:a16="http://schemas.microsoft.com/office/drawing/2014/main" id="{1C23891E-483E-DA90-9F16-658FFF293FF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9256;p75">
                <a:extLst>
                  <a:ext uri="{FF2B5EF4-FFF2-40B4-BE49-F238E27FC236}">
                    <a16:creationId xmlns:a16="http://schemas.microsoft.com/office/drawing/2014/main" id="{6C717C84-33E5-8A09-4BDD-8716694F2C3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9257;p75">
                <a:extLst>
                  <a:ext uri="{FF2B5EF4-FFF2-40B4-BE49-F238E27FC236}">
                    <a16:creationId xmlns:a16="http://schemas.microsoft.com/office/drawing/2014/main" id="{006300C7-704B-2757-B018-FEAC2540096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9258;p75">
                <a:extLst>
                  <a:ext uri="{FF2B5EF4-FFF2-40B4-BE49-F238E27FC236}">
                    <a16:creationId xmlns:a16="http://schemas.microsoft.com/office/drawing/2014/main" id="{6893A054-3585-B94F-3815-15EF849E668E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9259;p75">
                <a:extLst>
                  <a:ext uri="{FF2B5EF4-FFF2-40B4-BE49-F238E27FC236}">
                    <a16:creationId xmlns:a16="http://schemas.microsoft.com/office/drawing/2014/main" id="{B3BB5BD2-78DF-89E6-21CC-4727A2FC3CAF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9260;p75">
                <a:extLst>
                  <a:ext uri="{FF2B5EF4-FFF2-40B4-BE49-F238E27FC236}">
                    <a16:creationId xmlns:a16="http://schemas.microsoft.com/office/drawing/2014/main" id="{C5EBD6CC-19B0-6BA0-490A-2FAE5C77D31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9261;p75">
                <a:extLst>
                  <a:ext uri="{FF2B5EF4-FFF2-40B4-BE49-F238E27FC236}">
                    <a16:creationId xmlns:a16="http://schemas.microsoft.com/office/drawing/2014/main" id="{0C14B67E-8987-F29A-230B-B99EA97E5FBE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9262;p75">
                <a:extLst>
                  <a:ext uri="{FF2B5EF4-FFF2-40B4-BE49-F238E27FC236}">
                    <a16:creationId xmlns:a16="http://schemas.microsoft.com/office/drawing/2014/main" id="{AD552FE9-060F-E56F-DADD-139D51E20AA2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9263;p75">
                <a:extLst>
                  <a:ext uri="{FF2B5EF4-FFF2-40B4-BE49-F238E27FC236}">
                    <a16:creationId xmlns:a16="http://schemas.microsoft.com/office/drawing/2014/main" id="{57700A3E-F44F-0C79-F020-436F747C559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9264;p75">
                <a:extLst>
                  <a:ext uri="{FF2B5EF4-FFF2-40B4-BE49-F238E27FC236}">
                    <a16:creationId xmlns:a16="http://schemas.microsoft.com/office/drawing/2014/main" id="{3C90C18E-553C-60F6-15B0-E8A6B9040B86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9265;p75">
                <a:extLst>
                  <a:ext uri="{FF2B5EF4-FFF2-40B4-BE49-F238E27FC236}">
                    <a16:creationId xmlns:a16="http://schemas.microsoft.com/office/drawing/2014/main" id="{25DD4AF1-1D87-9C8B-199D-685C7951ADED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6;p75">
                <a:extLst>
                  <a:ext uri="{FF2B5EF4-FFF2-40B4-BE49-F238E27FC236}">
                    <a16:creationId xmlns:a16="http://schemas.microsoft.com/office/drawing/2014/main" id="{A809D99B-E863-EFB2-2DDD-B1A20D1DB77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9267;p75">
                <a:extLst>
                  <a:ext uri="{FF2B5EF4-FFF2-40B4-BE49-F238E27FC236}">
                    <a16:creationId xmlns:a16="http://schemas.microsoft.com/office/drawing/2014/main" id="{804B018B-856F-FF83-F0B9-E40DBBA8EB23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8;p75">
                <a:extLst>
                  <a:ext uri="{FF2B5EF4-FFF2-40B4-BE49-F238E27FC236}">
                    <a16:creationId xmlns:a16="http://schemas.microsoft.com/office/drawing/2014/main" id="{79AB46EB-6BF0-A7C2-36B0-F8DA9ABA7680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9269;p75">
              <a:extLst>
                <a:ext uri="{FF2B5EF4-FFF2-40B4-BE49-F238E27FC236}">
                  <a16:creationId xmlns:a16="http://schemas.microsoft.com/office/drawing/2014/main" id="{D410A9FA-33AD-F896-A049-1B6A3F3325C4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9270;p75">
              <a:extLst>
                <a:ext uri="{FF2B5EF4-FFF2-40B4-BE49-F238E27FC236}">
                  <a16:creationId xmlns:a16="http://schemas.microsoft.com/office/drawing/2014/main" id="{757DE877-2A42-621E-6DF7-2CC76C2B6E3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7" name="Google Shape;9271;p75">
                <a:extLst>
                  <a:ext uri="{FF2B5EF4-FFF2-40B4-BE49-F238E27FC236}">
                    <a16:creationId xmlns:a16="http://schemas.microsoft.com/office/drawing/2014/main" id="{10E55A41-F4B0-3F49-26E0-5ED792A08EB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9272;p75">
                <a:extLst>
                  <a:ext uri="{FF2B5EF4-FFF2-40B4-BE49-F238E27FC236}">
                    <a16:creationId xmlns:a16="http://schemas.microsoft.com/office/drawing/2014/main" id="{B955C0B5-7AF1-084B-CBED-9F7F4A4AFEE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4367852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ded781-2f94-4d69-8848-7c5557f2fdc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C42CFF30DAD49AD9447EB755AC427" ma:contentTypeVersion="9" ma:contentTypeDescription="Create a new document." ma:contentTypeScope="" ma:versionID="00fc81c611e2d985d29b8c67f95f5336">
  <xsd:schema xmlns:xsd="http://www.w3.org/2001/XMLSchema" xmlns:xs="http://www.w3.org/2001/XMLSchema" xmlns:p="http://schemas.microsoft.com/office/2006/metadata/properties" xmlns:ns3="87ded781-2f94-4d69-8848-7c5557f2fdca" targetNamespace="http://schemas.microsoft.com/office/2006/metadata/properties" ma:root="true" ma:fieldsID="8c32b20bd09e9b12c15c9e36a944054d" ns3:_="">
    <xsd:import namespace="87ded781-2f94-4d69-8848-7c5557f2f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d781-2f94-4d69-8848-7c5557f2f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6CE2DE-889C-460E-A7A1-527106FD50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77751D-C2AE-47AE-B730-2461DCDA2DB3}">
  <ds:schemaRefs>
    <ds:schemaRef ds:uri="http://purl.org/dc/elements/1.1/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D58934A-EA2E-4B90-9DA9-E37FDA28B5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1527</TotalTime>
  <Words>2061</Words>
  <Application>Microsoft Office PowerPoint</Application>
  <PresentationFormat>On-screen Show (16:9)</PresentationFormat>
  <Paragraphs>278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Wingdings</vt:lpstr>
      <vt:lpstr>Arial</vt:lpstr>
      <vt:lpstr>Times New Roman</vt:lpstr>
      <vt:lpstr>Albert Sans</vt:lpstr>
      <vt:lpstr>DM Sans</vt:lpstr>
      <vt:lpstr>Aptos</vt:lpstr>
      <vt:lpstr>Cambria</vt:lpstr>
      <vt:lpstr>Digitization in the Classroom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Tín Trần Đại</dc:creator>
  <cp:lastModifiedBy>Nguyễn Xuân Trường</cp:lastModifiedBy>
  <cp:revision>36</cp:revision>
  <dcterms:modified xsi:type="dcterms:W3CDTF">2025-10-21T06:28:24Z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0x01010043BC42CFF30DAD49AD9447EB755AC427</vt:lpwstr>
  </property>
</Properties>
</file>