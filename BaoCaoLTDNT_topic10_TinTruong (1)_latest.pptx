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4"/>
  </p:sldMasterIdLst>
  <p:notesMasterIdLst>
    <p:notesMasterId r:id="rId36"/>
  </p:notesMasterIdLst>
  <p:sldIdLst>
    <p:sldId id="312" r:id="rId5"/>
    <p:sldId id="391" r:id="rId6"/>
    <p:sldId id="341" r:id="rId7"/>
    <p:sldId id="381" r:id="rId8"/>
    <p:sldId id="424" r:id="rId9"/>
    <p:sldId id="425" r:id="rId10"/>
    <p:sldId id="399" r:id="rId11"/>
    <p:sldId id="445" r:id="rId12"/>
    <p:sldId id="426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02" r:id="rId21"/>
    <p:sldId id="403" r:id="rId22"/>
    <p:sldId id="434" r:id="rId23"/>
    <p:sldId id="435" r:id="rId24"/>
    <p:sldId id="436" r:id="rId25"/>
    <p:sldId id="437" r:id="rId26"/>
    <p:sldId id="438" r:id="rId27"/>
    <p:sldId id="439" r:id="rId28"/>
    <p:sldId id="440" r:id="rId29"/>
    <p:sldId id="442" r:id="rId30"/>
    <p:sldId id="441" r:id="rId31"/>
    <p:sldId id="443" r:id="rId32"/>
    <p:sldId id="444" r:id="rId33"/>
    <p:sldId id="398" r:id="rId34"/>
    <p:sldId id="390" r:id="rId35"/>
  </p:sldIdLst>
  <p:sldSz cx="9144000" cy="5143500" type="screen16x9"/>
  <p:notesSz cx="6858000" cy="9144000"/>
  <p:embeddedFontLst>
    <p:embeddedFont>
      <p:font typeface="Albert Sans" panose="020B0604020202020204" charset="0"/>
      <p:regular r:id="rId37"/>
      <p:bold r:id="rId38"/>
      <p:italic r:id="rId39"/>
      <p:boldItalic r:id="rId40"/>
    </p:embeddedFont>
    <p:embeddedFont>
      <p:font typeface="Cambria" panose="02040503050406030204" pitchFamily="18" charset="0"/>
      <p:regular r:id="rId41"/>
      <p:bold r:id="rId42"/>
      <p:italic r:id="rId43"/>
      <p:boldItalic r:id="rId44"/>
    </p:embeddedFont>
    <p:embeddedFont>
      <p:font typeface="DM Sans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73BE"/>
    <a:srgbClr val="5AC6EC"/>
    <a:srgbClr val="D1F3FD"/>
    <a:srgbClr val="CFF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A0A50E-D806-47F9-8622-6DD71D228117}">
  <a:tblStyle styleId="{5EA0A50E-D806-47F9-8622-6DD71D228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5872E5-C1AD-4070-BBC1-F28DE486AAC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79248" autoAdjust="0"/>
  </p:normalViewPr>
  <p:slideViewPr>
    <p:cSldViewPr snapToGrid="0">
      <p:cViewPr varScale="1">
        <p:scale>
          <a:sx n="117" d="100"/>
          <a:sy n="117" d="100"/>
        </p:scale>
        <p:origin x="466" y="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4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C2D75284-4872-09BD-0C34-9CBAC7EE6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59FAC60-474F-BCB9-56D2-7FBA3993D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8614FD04-5E25-15E3-2E21-74BDEE1BF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3703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FF7C4AF-77C2-E4FC-0324-802C2C1F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0CD7D73-E346-51E6-7C4D-A660B7A05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68CC264-EA0E-2CE1-D0D6-528261A26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5161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1923616-AA71-F027-ADB3-3FE94157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06F5AF0-2FFD-80B4-FC2E-B1A8583DB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55C41F2-F92E-87E6-2545-2DD32720F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9400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5A85EC1-92BE-7CFD-6AF0-51A34C0A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AF1F378-5500-78F3-CFD2-32F4CABDA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ECACEDA-7DF3-E4BC-E7A3-3224AFF31B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705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6FB5963-1BF8-B43B-3445-48B77791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20E5973-7CE1-F5A1-E95F-E6C8C966C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DB922951-3787-3AC8-C712-A97F9606D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2983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F2B396CA-383B-5A78-FAC6-C51D0B3F2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169506CA-63D6-E323-E4B4-712543A9E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8FF631C-8CF2-2D62-8DAE-749332F7A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728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7F8F8D4-9CFA-5FAE-BA67-B3AB7BA3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1811CCF9-1872-EA2A-9C20-07698636AD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1C41BE8F-A706-2CEB-69FE-E7E061C0AC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508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AC0B2CF9-5E1C-D3BE-9995-9574995F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F25DB2FB-6102-5A10-9EAF-1BE360127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B20F725D-D42F-5449-A0CB-A36E124DA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7677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F6A120F-5233-A461-DF0F-E856A699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8E385804-F02A-74F0-A0AE-0872AB9A1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8AC0D464-2E1F-4168-1655-B90C62F3A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2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9396CD3-375C-494E-60B4-D504A06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28E56F0-0E71-CD0B-138A-0C485B734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92F56CFC-0AED-FBC1-BFF7-CC1D120286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8195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BA632BD-5CC2-50BC-6A7E-1CABE70F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E9D6609B-2D55-9225-2E0A-63B848974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4B30D04-CCBD-64A7-4AF6-25C082BCBC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05331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A83D2324-AB5E-2B27-C060-13AAD0B1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38189655-180C-857B-206A-756A73756E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DA8FEC9-E5BD-AD81-76F0-E97DA1F58A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9381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BEE1085-43AD-15AE-3347-29544BCA2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308BB050-8CCE-CA74-E741-AEBC43F1F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900711D7-F7D7-A4AB-6DB2-B80273929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8101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4311E31-2794-8E6D-B870-7CD71D9D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719345EE-B259-598F-716D-517A75543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8CFFFFB1-084C-8F96-71E5-5DFE526FB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7214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D10CCC7-50FB-D519-3E6D-A868574D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F7F9CC5-CFB7-4464-D75A-364429E0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308CB92-9D80-291C-D9A8-491402534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50922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810150C-8120-19B5-FE50-F38E952F2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7319D79C-B723-1CD0-78F4-FFE6C6423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B5AA02F-61F6-2B02-BC05-8344608D2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1915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E8983A3-87FA-F9B4-666E-932A8BBFD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EB00BCE8-B38C-276E-4BC0-DACB50530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172B04C5-3653-CF87-BF89-28D8AE4B5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05400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04984E3-CA80-0D1D-32F8-2219D226C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54A20086-9016-8E08-013C-F41715DB02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9A433CF8-1CE9-DE68-E82F-4495EAA79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04886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9CCD817-8AEF-CF6B-F8FB-20E8E050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67ABFC4E-856B-CF85-6232-07F3D0BE5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9C2DE953-7BC2-06E6-D9ED-E0DCAA5F2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5898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95EC316-B987-EE08-C515-A2EFE83D2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7643A83-693C-1AA2-E2AF-4D97A28A14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8A477BE7-4D94-7FBC-7D4F-B24432FD9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5767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19369F7-172A-F60C-CAE2-0C06088B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1D662A8-72FD-7166-BF05-B59620695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AA26073-E3AD-B5AC-065E-51C3AD1384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7931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FD2D78C6-501D-CF6D-3501-2238F132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F6019D7B-7B7B-1CB2-7155-937C8311F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1B7CB73-87BC-D400-C8BB-DF2422E00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97313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B5928CE-0B47-16D4-27B5-1CDD8369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76BD7B56-BEAB-AF2F-CE23-665C6C9D7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0FB6A0DB-46BD-86FC-7C2C-3F54CAB71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32850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E317247-60C8-B674-857B-938BD114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5401EE2-2600-D3FE-CBBC-B2AE44CD9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60FBC70-CCB4-569F-9C6A-4BCCF4FCD6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16130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375D9DB-C444-D17E-B348-71A76852F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C7FBA52-D261-D8DD-FF70-CE8B2BC57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3282EC9-D2FC-C0BF-0393-6D44091328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756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BC2DC39-998B-DF1D-057C-7CD0AE9B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E665059-076A-0025-8AE8-428EB40B0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B8E26CD7-A645-0C7F-6D57-7D34C59653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4751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56C1240-1DFC-9A4A-3308-EEB14ADB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E3C7F60A-24F0-B641-CE0C-382B86011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1AD89C9-9C37-4AD4-494A-ADAEEF9E41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2673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8BA104AA-7CAE-EB5C-0D94-ACE71404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535D77D6-A2BE-003D-0C71-6049BEC93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9FC3961-F967-0CB8-B7C5-85FAC5463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10583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9C514AD-6978-7C04-1BF0-9F72C4CF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EFBDFBDD-7A19-79EA-8D21-4BB105D32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0BFEE601-423E-E300-82FF-4C5E245D5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55799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81DB1D7-BFB9-1E9A-4F75-0720C116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64F605C-7405-6DF8-0483-2378AD835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BAF433A-194C-04BE-4860-6A0F001B5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98304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5F931383-D12A-F021-1728-32465847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CEB857A-B09C-9CFB-3C75-2A8F879F9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61073A7-8447-C970-809F-31D9DB410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7437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3"/>
          <p:cNvSpPr txBox="1">
            <a:spLocks noGrp="1"/>
          </p:cNvSpPr>
          <p:nvPr>
            <p:ph type="subTitle" idx="1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3"/>
          <p:cNvSpPr txBox="1">
            <a:spLocks noGrp="1"/>
          </p:cNvSpPr>
          <p:nvPr>
            <p:ph type="subTitle" idx="2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3"/>
          <p:cNvSpPr txBox="1">
            <a:spLocks noGrp="1"/>
          </p:cNvSpPr>
          <p:nvPr>
            <p:ph type="subTitle" idx="3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28" name="Google Shape;328;p23"/>
          <p:cNvSpPr txBox="1">
            <a:spLocks noGrp="1"/>
          </p:cNvSpPr>
          <p:nvPr>
            <p:ph type="subTitle" idx="4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6" name="Google Shape;486;p31"/>
          <p:cNvSpPr txBox="1">
            <a:spLocks noGrp="1"/>
          </p:cNvSpPr>
          <p:nvPr>
            <p:ph type="title" hasCustomPrompt="1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>
            <a:spLocks noGrp="1"/>
          </p:cNvSpPr>
          <p:nvPr>
            <p:ph type="subTitle" idx="1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8" name="Google Shape;488;p31"/>
          <p:cNvSpPr txBox="1">
            <a:spLocks noGrp="1"/>
          </p:cNvSpPr>
          <p:nvPr>
            <p:ph type="subTitle" idx="2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89" name="Google Shape;489;p31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>
            <a:spLocks noGrp="1"/>
          </p:cNvSpPr>
          <p:nvPr>
            <p:ph type="subTitle" idx="4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1" name="Google Shape;491;p31"/>
          <p:cNvSpPr txBox="1">
            <a:spLocks noGrp="1"/>
          </p:cNvSpPr>
          <p:nvPr>
            <p:ph type="subTitle" idx="5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2" name="Google Shape;492;p31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>
            <a:spLocks noGrp="1"/>
          </p:cNvSpPr>
          <p:nvPr>
            <p:ph type="subTitle" idx="7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4" name="Google Shape;494;p31"/>
          <p:cNvSpPr txBox="1">
            <a:spLocks noGrp="1"/>
          </p:cNvSpPr>
          <p:nvPr>
            <p:ph type="subTitle" idx="8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5" name="Google Shape;495;p31"/>
          <p:cNvSpPr txBox="1">
            <a:spLocks noGrp="1"/>
          </p:cNvSpPr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>
            <a:alpha val="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9" r:id="rId2"/>
    <p:sldLayoutId id="2147483677" r:id="rId3"/>
    <p:sldLayoutId id="2147483679" r:id="rId4"/>
    <p:sldLayoutId id="214748368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data-and-backend/serialization/json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pub.dev/packages/build_runner" TargetMode="External"/><Relationship Id="rId4" Type="http://schemas.openxmlformats.org/officeDocument/2006/relationships/hyperlink" Target="https://pub.dev/packages/json_annotation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1DD1CF1-43C9-F5F5-CBA8-8FEC3593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FF762E-ECD9-D0C7-3028-2575F52ABF68}"/>
              </a:ext>
            </a:extLst>
          </p:cNvPr>
          <p:cNvSpPr txBox="1"/>
          <p:nvPr/>
        </p:nvSpPr>
        <p:spPr>
          <a:xfrm>
            <a:off x="2292474" y="3577200"/>
            <a:ext cx="475001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>
                <a:latin typeface="+mj-lt"/>
              </a:rPr>
              <a:t>GVHD:	TS. Nguyễn Duy Nhật </a:t>
            </a:r>
            <a:r>
              <a:rPr lang="en-US" sz="1300" b="1" dirty="0" err="1">
                <a:latin typeface="+mj-lt"/>
              </a:rPr>
              <a:t>Viễn</a:t>
            </a:r>
            <a:endParaRPr lang="en-US" sz="1300" b="1" dirty="0">
              <a:latin typeface="+mj-lt"/>
            </a:endParaRPr>
          </a:p>
          <a:p>
            <a:endParaRPr lang="en-US" sz="1300" b="1" dirty="0">
              <a:latin typeface="+mj-lt"/>
            </a:endParaRPr>
          </a:p>
          <a:p>
            <a:r>
              <a:rPr lang="en-US" sz="1300" b="1" dirty="0">
                <a:latin typeface="+mj-lt"/>
              </a:rPr>
              <a:t>SVTH:	Trần Đại Tín – 22KTMT2 – 106220272</a:t>
            </a:r>
          </a:p>
          <a:p>
            <a:r>
              <a:rPr lang="en-US" sz="1300" b="1" dirty="0">
                <a:latin typeface="+mj-lt"/>
              </a:rPr>
              <a:t>	Nguyễn Xuân Trường – 22KTMT2 - 106220275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2D26FC4-9D00-F995-6DDC-AFCCDB3AB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924311" cy="865940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6B3D812-303A-5830-1A92-D25C989B557D}"/>
              </a:ext>
            </a:extLst>
          </p:cNvPr>
          <p:cNvSpPr txBox="1">
            <a:spLocks/>
          </p:cNvSpPr>
          <p:nvPr/>
        </p:nvSpPr>
        <p:spPr>
          <a:xfrm>
            <a:off x="497885" y="986166"/>
            <a:ext cx="7975100" cy="729253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Báo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cáo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Tuần</a:t>
            </a:r>
            <a:endParaRPr lang="en-US" sz="18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Môn: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Lập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trình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đa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nền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tảng</a:t>
            </a:r>
            <a:endParaRPr lang="vi-VN" sz="18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5869ED-74B9-F172-0824-979E695F56BF}"/>
              </a:ext>
            </a:extLst>
          </p:cNvPr>
          <p:cNvSpPr txBox="1">
            <a:spLocks/>
          </p:cNvSpPr>
          <p:nvPr/>
        </p:nvSpPr>
        <p:spPr>
          <a:xfrm>
            <a:off x="209984" y="2138780"/>
            <a:ext cx="8914998" cy="86594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4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34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34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JSON Serialization </a:t>
            </a:r>
            <a:r>
              <a:rPr lang="en-US" sz="34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34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Model Classes</a:t>
            </a:r>
            <a:endParaRPr lang="vi-VN" sz="34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B40A9-8515-59B8-F99C-5C0740CD38F4}"/>
              </a:ext>
            </a:extLst>
          </p:cNvPr>
          <p:cNvSpPr txBox="1"/>
          <p:nvPr/>
        </p:nvSpPr>
        <p:spPr>
          <a:xfrm>
            <a:off x="3191759" y="247502"/>
            <a:ext cx="29514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TRƯỜNG ĐẠI HỌC BÁCH KHOA</a:t>
            </a:r>
          </a:p>
          <a:p>
            <a:pPr algn="ctr"/>
            <a:r>
              <a:rPr lang="en-US" b="1" dirty="0"/>
              <a:t>KHOA ĐIỆN TỬ - VIỄN THÔNG</a:t>
            </a: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DA343-5C9C-CBF9-357E-C9336CE7C6BC}"/>
              </a:ext>
            </a:extLst>
          </p:cNvPr>
          <p:cNvSpPr txBox="1"/>
          <p:nvPr/>
        </p:nvSpPr>
        <p:spPr>
          <a:xfrm>
            <a:off x="3877737" y="4866501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Đà</a:t>
            </a:r>
            <a:r>
              <a:rPr lang="en-US" sz="1200" dirty="0"/>
              <a:t> </a:t>
            </a:r>
            <a:r>
              <a:rPr lang="en-US" sz="1200" dirty="0" err="1"/>
              <a:t>Nẵng</a:t>
            </a:r>
            <a:r>
              <a:rPr lang="en-US" sz="1200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77450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69F50C2-E992-8B78-46FA-6FCD6D8C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4C54C9-C3AA-C4EC-536C-1CC8478780BC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2073BE"/>
                </a:solidFill>
              </a:rPr>
              <a:t>Phân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công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công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việc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6886CA0-332E-0342-4DB0-B5426125C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CE642668-66A7-EEDC-19C0-0EB497C1C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663275"/>
              </p:ext>
            </p:extLst>
          </p:nvPr>
        </p:nvGraphicFramePr>
        <p:xfrm>
          <a:off x="840376" y="1367790"/>
          <a:ext cx="7463248" cy="1767840"/>
        </p:xfrm>
        <a:graphic>
          <a:graphicData uri="http://schemas.openxmlformats.org/drawingml/2006/table">
            <a:tbl>
              <a:tblPr firstRow="1" bandRow="1">
                <a:tableStyleId>{5EA0A50E-D806-47F9-8622-6DD71D228117}</a:tableStyleId>
              </a:tblPr>
              <a:tblGrid>
                <a:gridCol w="886099">
                  <a:extLst>
                    <a:ext uri="{9D8B030D-6E8A-4147-A177-3AD203B41FA5}">
                      <a16:colId xmlns:a16="http://schemas.microsoft.com/office/drawing/2014/main" val="1707618354"/>
                    </a:ext>
                  </a:extLst>
                </a:gridCol>
                <a:gridCol w="2266406">
                  <a:extLst>
                    <a:ext uri="{9D8B030D-6E8A-4147-A177-3AD203B41FA5}">
                      <a16:colId xmlns:a16="http://schemas.microsoft.com/office/drawing/2014/main" val="820199955"/>
                    </a:ext>
                  </a:extLst>
                </a:gridCol>
                <a:gridCol w="3344091">
                  <a:extLst>
                    <a:ext uri="{9D8B030D-6E8A-4147-A177-3AD203B41FA5}">
                      <a16:colId xmlns:a16="http://schemas.microsoft.com/office/drawing/2014/main" val="457859812"/>
                    </a:ext>
                  </a:extLst>
                </a:gridCol>
                <a:gridCol w="966652">
                  <a:extLst>
                    <a:ext uri="{9D8B030D-6E8A-4147-A177-3AD203B41FA5}">
                      <a16:colId xmlns:a16="http://schemas.microsoft.com/office/drawing/2014/main" val="4242739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STT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HỌ VÀ TÊN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NỘI DUNG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TỶ LỆ ĐÓNG GÓP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8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Trần Đại Tín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Tìm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hiểu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về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JSON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serialization,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làm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slide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kiểm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tra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nội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dung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642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Nguyễn Xuân Trường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Tìm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hiểu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về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JSON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serialization,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làm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báo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cáo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kiểm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tra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nội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dung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4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635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BA7BF79-2DD7-E1BC-964B-D07EDD00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BD57E4-89B4-07A7-2031-FD6FEC3FD4BD}"/>
              </a:ext>
            </a:extLst>
          </p:cNvPr>
          <p:cNvSpPr/>
          <p:nvPr/>
        </p:nvSpPr>
        <p:spPr>
          <a:xfrm>
            <a:off x="609836" y="5376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2073BE"/>
                </a:solidFill>
              </a:rPr>
              <a:t>Nội</a:t>
            </a:r>
            <a:r>
              <a:rPr lang="en-US" sz="2400" b="1" dirty="0">
                <a:solidFill>
                  <a:srgbClr val="2073BE"/>
                </a:solidFill>
              </a:rPr>
              <a:t> dung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7460CC-9670-8C7A-68F4-EDD06D147AAC}"/>
              </a:ext>
            </a:extLst>
          </p:cNvPr>
          <p:cNvSpPr/>
          <p:nvPr/>
        </p:nvSpPr>
        <p:spPr>
          <a:xfrm>
            <a:off x="337576" y="1963522"/>
            <a:ext cx="2299063" cy="1119523"/>
          </a:xfrm>
          <a:prstGeom prst="roundRect">
            <a:avLst/>
          </a:prstGeom>
          <a:solidFill>
            <a:srgbClr val="D1F3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1.Tổng </a:t>
            </a:r>
            <a:r>
              <a:rPr lang="en-US" b="1" dirty="0" err="1">
                <a:solidFill>
                  <a:sysClr val="windowText" lastClr="000000"/>
                </a:solidFill>
              </a:rPr>
              <a:t>quan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về</a:t>
            </a:r>
            <a:r>
              <a:rPr lang="en-US" b="1" dirty="0">
                <a:solidFill>
                  <a:sysClr val="windowText" lastClr="000000"/>
                </a:solidFill>
              </a:rPr>
              <a:t> JSON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732CE6-9A96-FDDC-CEF1-F915A0E94D09}"/>
              </a:ext>
            </a:extLst>
          </p:cNvPr>
          <p:cNvSpPr/>
          <p:nvPr/>
        </p:nvSpPr>
        <p:spPr>
          <a:xfrm>
            <a:off x="3424882" y="1963522"/>
            <a:ext cx="2299063" cy="1119523"/>
          </a:xfrm>
          <a:prstGeom prst="roundRect">
            <a:avLst/>
          </a:prstGeom>
          <a:solidFill>
            <a:srgbClr val="D1F3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</a:t>
            </a:r>
            <a:r>
              <a:rPr lang="en-US" b="1" dirty="0" err="1">
                <a:solidFill>
                  <a:schemeClr val="tx1"/>
                </a:solidFill>
              </a:rPr>
              <a:t>Làm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việc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với</a:t>
            </a:r>
            <a:r>
              <a:rPr lang="en-US" b="1" dirty="0">
                <a:solidFill>
                  <a:schemeClr val="tx1"/>
                </a:solidFill>
              </a:rPr>
              <a:t> JSON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83F69B-5874-7C22-FBBD-C69DFA1A5BA7}"/>
              </a:ext>
            </a:extLst>
          </p:cNvPr>
          <p:cNvSpPr/>
          <p:nvPr/>
        </p:nvSpPr>
        <p:spPr>
          <a:xfrm>
            <a:off x="6512188" y="1963830"/>
            <a:ext cx="2299063" cy="1119523"/>
          </a:xfrm>
          <a:prstGeom prst="roundRect">
            <a:avLst/>
          </a:prstGeom>
          <a:solidFill>
            <a:srgbClr val="D1F3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Best practices </a:t>
            </a:r>
            <a:r>
              <a:rPr lang="en-US" b="1" dirty="0" err="1">
                <a:solidFill>
                  <a:schemeClr val="tx1"/>
                </a:solidFill>
              </a:rPr>
              <a:t>cho</a:t>
            </a:r>
            <a:r>
              <a:rPr lang="en-US" b="1" dirty="0">
                <a:solidFill>
                  <a:schemeClr val="tx1"/>
                </a:solidFill>
              </a:rPr>
              <a:t> complex data structures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576A1D-53A7-6089-DB0A-000BF6093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9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2533620-CB82-7961-C77D-1E250C5A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DF9E5C-12E4-4D35-9C5F-59CAE23EA710}"/>
              </a:ext>
            </a:extLst>
          </p:cNvPr>
          <p:cNvSpPr txBox="1"/>
          <p:nvPr/>
        </p:nvSpPr>
        <p:spPr>
          <a:xfrm>
            <a:off x="1902352" y="1292308"/>
            <a:ext cx="52176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JSON (JavaScript Object Notation)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định</a:t>
            </a:r>
            <a:r>
              <a:rPr lang="en-US" sz="1800" dirty="0"/>
              <a:t> </a:t>
            </a:r>
            <a:r>
              <a:rPr lang="en-US" sz="1800" dirty="0" err="1"/>
              <a:t>dạng</a:t>
            </a:r>
            <a:r>
              <a:rPr lang="en-US" sz="1800" dirty="0"/>
              <a:t> </a:t>
            </a:r>
            <a:r>
              <a:rPr lang="en-US" sz="1800" dirty="0" err="1"/>
              <a:t>trao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giữa</a:t>
            </a:r>
            <a:r>
              <a:rPr lang="en-US" sz="1800" dirty="0"/>
              <a:t> client </a:t>
            </a:r>
            <a:r>
              <a:rPr lang="en-US" sz="1800" dirty="0" err="1"/>
              <a:t>và</a:t>
            </a:r>
            <a:r>
              <a:rPr lang="en-US" sz="1800" dirty="0"/>
              <a:t> server.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nhẹ</a:t>
            </a:r>
            <a:r>
              <a:rPr lang="en-US" sz="1800" dirty="0"/>
              <a:t>, </a:t>
            </a:r>
            <a:r>
              <a:rPr lang="en-US" sz="1800" dirty="0" err="1"/>
              <a:t>dễ</a:t>
            </a:r>
            <a:r>
              <a:rPr lang="en-US" sz="1800" dirty="0"/>
              <a:t> </a:t>
            </a:r>
            <a:r>
              <a:rPr lang="en-US" sz="1800" dirty="0" err="1"/>
              <a:t>đọc</a:t>
            </a:r>
            <a:r>
              <a:rPr lang="en-US" sz="1800" dirty="0"/>
              <a:t>, </a:t>
            </a:r>
            <a:r>
              <a:rPr lang="en-US" sz="1800" dirty="0" err="1"/>
              <a:t>tương</a:t>
            </a:r>
            <a:r>
              <a:rPr lang="en-US" sz="1800" dirty="0"/>
              <a:t> </a:t>
            </a:r>
            <a:r>
              <a:rPr lang="en-US" sz="1800" dirty="0" err="1"/>
              <a:t>thích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hầu</a:t>
            </a:r>
            <a:r>
              <a:rPr lang="en-US" sz="1800" dirty="0"/>
              <a:t> </a:t>
            </a:r>
            <a:r>
              <a:rPr lang="en-US" sz="1800" dirty="0" err="1"/>
              <a:t>hết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ngôn</a:t>
            </a:r>
            <a:r>
              <a:rPr lang="en-US" sz="1800" dirty="0"/>
              <a:t> </a:t>
            </a:r>
            <a:r>
              <a:rPr lang="en-US" sz="1800" dirty="0" err="1"/>
              <a:t>ngữ</a:t>
            </a:r>
            <a:r>
              <a:rPr lang="en-US" sz="1800" dirty="0"/>
              <a:t> </a:t>
            </a:r>
            <a:r>
              <a:rPr lang="en-US" sz="1800" dirty="0" err="1"/>
              <a:t>lập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cấu</a:t>
            </a:r>
            <a:r>
              <a:rPr lang="en-US" sz="1800" dirty="0"/>
              <a:t> </a:t>
            </a:r>
            <a:r>
              <a:rPr lang="en-US" sz="1800" dirty="0" err="1"/>
              <a:t>trúc</a:t>
            </a:r>
            <a:r>
              <a:rPr lang="en-US" sz="1800" dirty="0"/>
              <a:t> key–value, </a:t>
            </a:r>
            <a:r>
              <a:rPr lang="en-US" sz="1800" dirty="0" err="1"/>
              <a:t>mỗi</a:t>
            </a:r>
            <a:r>
              <a:rPr lang="en-US" sz="1800" dirty="0"/>
              <a:t> key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nằm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dấu</a:t>
            </a:r>
            <a:r>
              <a:rPr lang="en-US" sz="1800" dirty="0"/>
              <a:t> </a:t>
            </a:r>
            <a:r>
              <a:rPr lang="en-US" sz="1800" dirty="0" err="1"/>
              <a:t>nháy</a:t>
            </a:r>
            <a:r>
              <a:rPr lang="en-US" sz="1800" dirty="0"/>
              <a:t> </a:t>
            </a:r>
            <a:r>
              <a:rPr lang="en-US" sz="1800" dirty="0" err="1"/>
              <a:t>kép</a:t>
            </a:r>
            <a:r>
              <a:rPr lang="en-US" sz="1800" dirty="0"/>
              <a:t> (" ") </a:t>
            </a:r>
            <a:r>
              <a:rPr lang="en-US" sz="1800" dirty="0" err="1"/>
              <a:t>và</a:t>
            </a:r>
            <a:r>
              <a:rPr lang="en-US" sz="1800" dirty="0"/>
              <a:t> value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string, number, </a:t>
            </a:r>
            <a:r>
              <a:rPr lang="en-US" sz="1800" dirty="0" err="1"/>
              <a:t>boolean</a:t>
            </a:r>
            <a:r>
              <a:rPr lang="en-US" sz="1800" dirty="0"/>
              <a:t>, object,..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3D186-8A2A-33BE-B20F-7D83CA079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CDC41E-CF29-41FB-DEC3-4033AFA692EE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1. </a:t>
            </a:r>
            <a:r>
              <a:rPr lang="en-US" sz="2400" b="1" dirty="0" err="1">
                <a:solidFill>
                  <a:srgbClr val="2073BE"/>
                </a:solidFill>
              </a:rPr>
              <a:t>Tổng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quan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về</a:t>
            </a:r>
            <a:r>
              <a:rPr lang="en-US" sz="2400" b="1" dirty="0">
                <a:solidFill>
                  <a:srgbClr val="2073BE"/>
                </a:solidFill>
              </a:rPr>
              <a:t> JSON</a:t>
            </a:r>
          </a:p>
        </p:txBody>
      </p:sp>
    </p:spTree>
    <p:extLst>
      <p:ext uri="{BB962C8B-B14F-4D97-AF65-F5344CB8AC3E}">
        <p14:creationId xmlns:p14="http://schemas.microsoft.com/office/powerpoint/2010/main" val="317971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DBEA9A6F-2911-E78F-641D-B57ECDD79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F41115-F93E-4767-29CE-29B731BD3933}"/>
              </a:ext>
            </a:extLst>
          </p:cNvPr>
          <p:cNvSpPr txBox="1"/>
          <p:nvPr/>
        </p:nvSpPr>
        <p:spPr>
          <a:xfrm>
            <a:off x="4572000" y="1615600"/>
            <a:ext cx="41474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 err="1"/>
              <a:t>Cấu</a:t>
            </a:r>
            <a:r>
              <a:rPr lang="en-US" sz="1800" dirty="0"/>
              <a:t> </a:t>
            </a:r>
            <a:r>
              <a:rPr lang="en-US" sz="1800" dirty="0" err="1"/>
              <a:t>trúc</a:t>
            </a:r>
            <a:r>
              <a:rPr lang="en-US" sz="1800" dirty="0"/>
              <a:t> JSON </a:t>
            </a:r>
            <a:r>
              <a:rPr lang="en-US" sz="1800" dirty="0" err="1"/>
              <a:t>đơn</a:t>
            </a:r>
            <a:r>
              <a:rPr lang="en-US" sz="1800" dirty="0"/>
              <a:t> </a:t>
            </a:r>
            <a:r>
              <a:rPr lang="en-US" sz="1800" dirty="0" err="1"/>
              <a:t>giản</a:t>
            </a:r>
            <a:r>
              <a:rPr lang="en-US" sz="1800" dirty="0"/>
              <a:t>: 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Object: </a:t>
            </a: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biểu</a:t>
            </a:r>
            <a:r>
              <a:rPr lang="en-US" sz="1800" dirty="0"/>
              <a:t> </a:t>
            </a:r>
            <a:r>
              <a:rPr lang="en-US" sz="1800" dirty="0" err="1"/>
              <a:t>diễn</a:t>
            </a:r>
            <a:r>
              <a:rPr lang="en-US" sz="1800" dirty="0"/>
              <a:t> </a:t>
            </a:r>
            <a:r>
              <a:rPr lang="en-US" sz="1800" dirty="0" err="1"/>
              <a:t>bằng</a:t>
            </a:r>
            <a:r>
              <a:rPr lang="en-US" sz="1800" dirty="0"/>
              <a:t> </a:t>
            </a:r>
            <a:r>
              <a:rPr lang="en-US" sz="1800" dirty="0" err="1"/>
              <a:t>dấu</a:t>
            </a:r>
            <a:r>
              <a:rPr lang="en-US" sz="1800" dirty="0"/>
              <a:t> </a:t>
            </a:r>
            <a:r>
              <a:rPr lang="en-US" sz="1800" dirty="0" err="1"/>
              <a:t>ngoặc</a:t>
            </a:r>
            <a:r>
              <a:rPr lang="en-US" sz="1800" dirty="0"/>
              <a:t> </a:t>
            </a:r>
            <a:r>
              <a:rPr lang="en-US" sz="1800" dirty="0" err="1"/>
              <a:t>nhọn</a:t>
            </a:r>
            <a:r>
              <a:rPr lang="en-US" sz="1800" dirty="0"/>
              <a:t> {}.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Các </a:t>
            </a:r>
            <a:r>
              <a:rPr lang="en-US" sz="1800" dirty="0" err="1"/>
              <a:t>cặp</a:t>
            </a:r>
            <a:r>
              <a:rPr lang="en-US" sz="1800" dirty="0"/>
              <a:t> key-value </a:t>
            </a:r>
            <a:r>
              <a:rPr lang="en-US" sz="1800" dirty="0" err="1"/>
              <a:t>nằm</a:t>
            </a:r>
            <a:r>
              <a:rPr lang="en-US" sz="1800" dirty="0"/>
              <a:t>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dấu</a:t>
            </a:r>
            <a:r>
              <a:rPr lang="en-US" sz="1800" dirty="0"/>
              <a:t> </a:t>
            </a:r>
            <a:r>
              <a:rPr lang="en-US" sz="1800" dirty="0" err="1"/>
              <a:t>ngoặc</a:t>
            </a:r>
            <a:r>
              <a:rPr lang="en-US" sz="1800" dirty="0"/>
              <a:t> </a:t>
            </a:r>
            <a:r>
              <a:rPr lang="en-US" sz="1800" dirty="0" err="1"/>
              <a:t>nhọn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A02C9-F810-D202-D98D-BA4509C59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53" y="1335677"/>
            <a:ext cx="3012651" cy="24721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E159E6-39C1-ABAA-1589-4917DF640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C4EFC0-7007-C085-B9A9-AD1CBD7855C6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1. </a:t>
            </a:r>
            <a:r>
              <a:rPr lang="en-US" sz="2400" b="1" dirty="0" err="1">
                <a:solidFill>
                  <a:srgbClr val="2073BE"/>
                </a:solidFill>
              </a:rPr>
              <a:t>Tổng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quan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về</a:t>
            </a:r>
            <a:r>
              <a:rPr lang="en-US" sz="2400" b="1" dirty="0">
                <a:solidFill>
                  <a:srgbClr val="2073BE"/>
                </a:solidFill>
              </a:rPr>
              <a:t> JSON</a:t>
            </a:r>
          </a:p>
        </p:txBody>
      </p:sp>
    </p:spTree>
    <p:extLst>
      <p:ext uri="{BB962C8B-B14F-4D97-AF65-F5344CB8AC3E}">
        <p14:creationId xmlns:p14="http://schemas.microsoft.com/office/powerpoint/2010/main" val="3435978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484618C-34F9-FF32-6853-E735D57E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0A3849-EAE8-EF83-8164-66616C71C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039" y="587829"/>
            <a:ext cx="2523635" cy="40702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0D0E74-EEEA-0CDF-777C-BFDFC37BF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29" y="587826"/>
            <a:ext cx="2564132" cy="40702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1ED690-D2DC-6CAB-311E-FB4226E94C0D}"/>
              </a:ext>
            </a:extLst>
          </p:cNvPr>
          <p:cNvSpPr txBox="1"/>
          <p:nvPr/>
        </p:nvSpPr>
        <p:spPr>
          <a:xfrm>
            <a:off x="2303598" y="4620986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Array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731B3-884D-2E50-F821-6E923E5DC8AA}"/>
              </a:ext>
            </a:extLst>
          </p:cNvPr>
          <p:cNvSpPr txBox="1"/>
          <p:nvPr/>
        </p:nvSpPr>
        <p:spPr>
          <a:xfrm>
            <a:off x="5549593" y="4624248"/>
            <a:ext cx="1808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Nested Object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DBAD46-C03D-231C-06EB-2B04102BB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F18130-C7EA-9177-7CAA-02FF5E899268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1. </a:t>
            </a:r>
            <a:r>
              <a:rPr lang="en-US" sz="2400" b="1" dirty="0" err="1">
                <a:solidFill>
                  <a:srgbClr val="2073BE"/>
                </a:solidFill>
              </a:rPr>
              <a:t>Tổng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quan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về</a:t>
            </a:r>
            <a:r>
              <a:rPr lang="en-US" sz="2400" b="1" dirty="0">
                <a:solidFill>
                  <a:srgbClr val="2073BE"/>
                </a:solidFill>
              </a:rPr>
              <a:t> JSON</a:t>
            </a:r>
          </a:p>
        </p:txBody>
      </p:sp>
    </p:spTree>
    <p:extLst>
      <p:ext uri="{BB962C8B-B14F-4D97-AF65-F5344CB8AC3E}">
        <p14:creationId xmlns:p14="http://schemas.microsoft.com/office/powerpoint/2010/main" val="3443572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6506C91-071B-D130-896F-609A8703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3C7E35-DEE5-FFA2-8CF6-05D126D8351B}"/>
              </a:ext>
            </a:extLst>
          </p:cNvPr>
          <p:cNvSpPr txBox="1"/>
          <p:nvPr/>
        </p:nvSpPr>
        <p:spPr>
          <a:xfrm>
            <a:off x="1197910" y="1253922"/>
            <a:ext cx="6561427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Trong Flutter,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en-US" sz="1800" dirty="0" err="1"/>
              <a:t>xử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 JSON </a:t>
            </a:r>
            <a:r>
              <a:rPr lang="en-US" sz="1800" dirty="0" err="1"/>
              <a:t>rất</a:t>
            </a:r>
            <a:r>
              <a:rPr lang="en-US" sz="1800" dirty="0"/>
              <a:t> </a:t>
            </a:r>
            <a:r>
              <a:rPr lang="en-US" sz="1800" dirty="0" err="1"/>
              <a:t>quan</a:t>
            </a:r>
            <a:r>
              <a:rPr lang="en-US" sz="1800" dirty="0"/>
              <a:t> </a:t>
            </a:r>
            <a:r>
              <a:rPr lang="en-US" sz="1800" dirty="0" err="1"/>
              <a:t>trọng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truyền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nhận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dịch</a:t>
            </a:r>
            <a:r>
              <a:rPr lang="en-US" sz="1800" dirty="0"/>
              <a:t> </a:t>
            </a:r>
            <a:r>
              <a:rPr lang="en-US" sz="1800" dirty="0" err="1"/>
              <a:t>vụ</a:t>
            </a:r>
            <a:r>
              <a:rPr lang="en-US" sz="1800" dirty="0"/>
              <a:t> web.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Flutter </a:t>
            </a:r>
            <a:r>
              <a:rPr lang="en-GB" sz="1800" dirty="0" err="1"/>
              <a:t>cần</a:t>
            </a:r>
            <a:r>
              <a:rPr lang="en-GB" sz="1800" dirty="0"/>
              <a:t> </a:t>
            </a:r>
            <a:r>
              <a:rPr lang="en-GB" sz="1800" dirty="0" err="1"/>
              <a:t>chuyển</a:t>
            </a:r>
            <a:r>
              <a:rPr lang="en-GB" sz="1800" dirty="0"/>
              <a:t> </a:t>
            </a:r>
            <a:r>
              <a:rPr lang="en-GB" sz="1800" dirty="0" err="1"/>
              <a:t>đổi</a:t>
            </a:r>
            <a:r>
              <a:rPr lang="en-GB" sz="1800" dirty="0"/>
              <a:t> JSON ↔ Dart Objects </a:t>
            </a:r>
            <a:r>
              <a:rPr lang="en-GB" sz="1800" dirty="0" err="1"/>
              <a:t>đảm</a:t>
            </a:r>
            <a:r>
              <a:rPr lang="en-GB" sz="1800" dirty="0"/>
              <a:t> </a:t>
            </a:r>
            <a:r>
              <a:rPr lang="en-GB" sz="1800" dirty="0" err="1"/>
              <a:t>bảo</a:t>
            </a:r>
            <a:r>
              <a:rPr lang="en-GB" sz="1800" dirty="0"/>
              <a:t> code an </a:t>
            </a:r>
            <a:r>
              <a:rPr lang="en-GB" sz="1800" dirty="0" err="1"/>
              <a:t>toàn</a:t>
            </a:r>
            <a:r>
              <a:rPr lang="en-GB" sz="1800" dirty="0"/>
              <a:t>, </a:t>
            </a:r>
            <a:r>
              <a:rPr lang="en-GB" sz="1800" dirty="0" err="1"/>
              <a:t>dễ</a:t>
            </a:r>
            <a:r>
              <a:rPr lang="en-GB" sz="1800" dirty="0"/>
              <a:t> </a:t>
            </a:r>
            <a:r>
              <a:rPr lang="en-GB" sz="1800" dirty="0" err="1"/>
              <a:t>bảo</a:t>
            </a:r>
            <a:r>
              <a:rPr lang="en-GB" sz="1800" dirty="0"/>
              <a:t> </a:t>
            </a:r>
            <a:r>
              <a:rPr lang="en-GB" sz="1800" dirty="0" err="1"/>
              <a:t>trì</a:t>
            </a:r>
            <a:r>
              <a:rPr lang="en-GB" sz="1800" dirty="0"/>
              <a:t> </a:t>
            </a:r>
            <a:r>
              <a:rPr lang="en-GB" sz="1800" dirty="0" err="1"/>
              <a:t>và</a:t>
            </a:r>
            <a:r>
              <a:rPr lang="en-GB" sz="1800" dirty="0"/>
              <a:t> </a:t>
            </a:r>
            <a:r>
              <a:rPr lang="en-GB" sz="1800" dirty="0" err="1"/>
              <a:t>mở</a:t>
            </a:r>
            <a:r>
              <a:rPr lang="en-GB" sz="1800" dirty="0"/>
              <a:t> </a:t>
            </a:r>
            <a:r>
              <a:rPr lang="en-GB" sz="1800" dirty="0" err="1"/>
              <a:t>rộng</a:t>
            </a:r>
            <a:r>
              <a:rPr lang="en-GB" sz="18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Serialization</a:t>
            </a:r>
            <a:r>
              <a:rPr lang="en-US" sz="1800" dirty="0"/>
              <a:t>: </a:t>
            </a:r>
            <a:r>
              <a:rPr lang="en-GB" sz="1800" dirty="0" err="1"/>
              <a:t>Chuyển</a:t>
            </a:r>
            <a:r>
              <a:rPr lang="en-GB" sz="1800" dirty="0"/>
              <a:t> Dart Object </a:t>
            </a:r>
            <a:r>
              <a:rPr lang="en-GB" sz="1800" dirty="0" err="1"/>
              <a:t>thành</a:t>
            </a:r>
            <a:r>
              <a:rPr lang="en-GB" sz="1800" dirty="0"/>
              <a:t> JSON (</a:t>
            </a:r>
            <a:r>
              <a:rPr lang="en-GB" sz="1800" dirty="0" err="1"/>
              <a:t>toJson</a:t>
            </a:r>
            <a:r>
              <a:rPr lang="en-GB" sz="1800" dirty="0"/>
              <a:t>)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D</a:t>
            </a:r>
            <a:r>
              <a:rPr lang="en-GB" sz="1800" b="1" dirty="0" err="1"/>
              <a:t>eserialization</a:t>
            </a:r>
            <a:r>
              <a:rPr lang="en-GB" sz="1800" b="1" dirty="0"/>
              <a:t>: </a:t>
            </a:r>
            <a:r>
              <a:rPr lang="en-GB" sz="1800" dirty="0" err="1"/>
              <a:t>Chuyển</a:t>
            </a:r>
            <a:r>
              <a:rPr lang="en-GB" sz="1800" dirty="0"/>
              <a:t> JSON </a:t>
            </a:r>
            <a:r>
              <a:rPr lang="en-GB" sz="1800" dirty="0" err="1"/>
              <a:t>thành</a:t>
            </a:r>
            <a:r>
              <a:rPr lang="en-GB" sz="1800" dirty="0"/>
              <a:t> Dart Object (factory constructor </a:t>
            </a:r>
            <a:r>
              <a:rPr lang="en-GB" sz="1800" dirty="0" err="1"/>
              <a:t>fromJson</a:t>
            </a:r>
            <a:r>
              <a:rPr lang="en-GB" sz="1800" dirty="0"/>
              <a:t>)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EAE061-C0F0-4007-0E86-55294AD58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CAE8B8C-0061-85FC-A618-5554CBFC306C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2. </a:t>
            </a:r>
            <a:r>
              <a:rPr lang="en-US" sz="2400" b="1" dirty="0" err="1">
                <a:solidFill>
                  <a:srgbClr val="2073BE"/>
                </a:solidFill>
              </a:rPr>
              <a:t>Làm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việc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với</a:t>
            </a:r>
            <a:r>
              <a:rPr lang="en-US" sz="2400" b="1" dirty="0">
                <a:solidFill>
                  <a:srgbClr val="2073BE"/>
                </a:solidFill>
              </a:rPr>
              <a:t> JSON</a:t>
            </a:r>
          </a:p>
        </p:txBody>
      </p:sp>
    </p:spTree>
    <p:extLst>
      <p:ext uri="{BB962C8B-B14F-4D97-AF65-F5344CB8AC3E}">
        <p14:creationId xmlns:p14="http://schemas.microsoft.com/office/powerpoint/2010/main" val="495077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7550F80-B5E4-37D8-E9EC-59D3BB4A8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3DCD7C-D43B-A1C4-7E83-F91547CB4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611C66-E684-2D89-09E3-3A1CC2201166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2. </a:t>
            </a:r>
            <a:r>
              <a:rPr lang="en-US" sz="2400" b="1" dirty="0" err="1">
                <a:solidFill>
                  <a:srgbClr val="2073BE"/>
                </a:solidFill>
              </a:rPr>
              <a:t>Làm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việc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với</a:t>
            </a:r>
            <a:r>
              <a:rPr lang="en-US" sz="2400" b="1" dirty="0">
                <a:solidFill>
                  <a:srgbClr val="2073BE"/>
                </a:solidFill>
              </a:rPr>
              <a:t> JSON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867465-EF82-AA03-2881-F508B3CBD271}"/>
              </a:ext>
            </a:extLst>
          </p:cNvPr>
          <p:cNvSpPr/>
          <p:nvPr/>
        </p:nvSpPr>
        <p:spPr>
          <a:xfrm>
            <a:off x="4477915" y="35238"/>
            <a:ext cx="966652" cy="422607"/>
          </a:xfrm>
          <a:prstGeom prst="ellipse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Start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6A4C51E-7854-3445-977C-DD27F209A3EB}"/>
              </a:ext>
            </a:extLst>
          </p:cNvPr>
          <p:cNvSpPr/>
          <p:nvPr/>
        </p:nvSpPr>
        <p:spPr>
          <a:xfrm>
            <a:off x="4183220" y="631538"/>
            <a:ext cx="1556043" cy="288012"/>
          </a:xfrm>
          <a:prstGeom prst="parallelogram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Json string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F9343E-2D0F-A90C-E3F3-A2B7D9AE17EE}"/>
              </a:ext>
            </a:extLst>
          </p:cNvPr>
          <p:cNvSpPr/>
          <p:nvPr/>
        </p:nvSpPr>
        <p:spPr>
          <a:xfrm>
            <a:off x="4281974" y="1038526"/>
            <a:ext cx="1358538" cy="483325"/>
          </a:xfrm>
          <a:prstGeom prst="rect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jsonDecode</a:t>
            </a:r>
            <a:r>
              <a:rPr lang="en-US" b="1" dirty="0"/>
              <a:t>()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E2D3CB-C3B4-3D2E-25C7-105CB27D337C}"/>
              </a:ext>
            </a:extLst>
          </p:cNvPr>
          <p:cNvSpPr/>
          <p:nvPr/>
        </p:nvSpPr>
        <p:spPr>
          <a:xfrm>
            <a:off x="4477916" y="4714064"/>
            <a:ext cx="966652" cy="399275"/>
          </a:xfrm>
          <a:prstGeom prst="ellipse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58CDBB-AE47-D936-B4B0-11FE41348BBC}"/>
              </a:ext>
            </a:extLst>
          </p:cNvPr>
          <p:cNvSpPr/>
          <p:nvPr/>
        </p:nvSpPr>
        <p:spPr>
          <a:xfrm>
            <a:off x="4281973" y="1658306"/>
            <a:ext cx="1358538" cy="483325"/>
          </a:xfrm>
          <a:prstGeom prst="rect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fromJson</a:t>
            </a:r>
            <a:r>
              <a:rPr lang="en-US" b="1" dirty="0"/>
              <a:t>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19E1A6-42BD-0CDE-58A2-4F2D110864C4}"/>
              </a:ext>
            </a:extLst>
          </p:cNvPr>
          <p:cNvSpPr/>
          <p:nvPr/>
        </p:nvSpPr>
        <p:spPr>
          <a:xfrm>
            <a:off x="4281973" y="2884699"/>
            <a:ext cx="1358538" cy="483325"/>
          </a:xfrm>
          <a:prstGeom prst="rect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toJson</a:t>
            </a:r>
            <a:r>
              <a:rPr lang="en-US" b="1" dirty="0"/>
              <a:t>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BB2D22-BAEE-6048-02D8-2FF0C6600698}"/>
              </a:ext>
            </a:extLst>
          </p:cNvPr>
          <p:cNvSpPr/>
          <p:nvPr/>
        </p:nvSpPr>
        <p:spPr>
          <a:xfrm>
            <a:off x="4281973" y="3520702"/>
            <a:ext cx="1358538" cy="483325"/>
          </a:xfrm>
          <a:prstGeom prst="rect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jsonEncode</a:t>
            </a:r>
            <a:r>
              <a:rPr lang="en-US" b="1" dirty="0"/>
              <a:t>()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F9CD13F2-9EC1-2FDE-A20F-F00BBF3E8BAD}"/>
              </a:ext>
            </a:extLst>
          </p:cNvPr>
          <p:cNvSpPr/>
          <p:nvPr/>
        </p:nvSpPr>
        <p:spPr>
          <a:xfrm>
            <a:off x="4183220" y="4150955"/>
            <a:ext cx="1556043" cy="416180"/>
          </a:xfrm>
          <a:prstGeom prst="parallelogram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New Json string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E129B7-F71C-E670-CE7E-70AB3FACE327}"/>
              </a:ext>
            </a:extLst>
          </p:cNvPr>
          <p:cNvSpPr/>
          <p:nvPr/>
        </p:nvSpPr>
        <p:spPr>
          <a:xfrm>
            <a:off x="4281973" y="2275987"/>
            <a:ext cx="1358538" cy="483325"/>
          </a:xfrm>
          <a:prstGeom prst="rect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Xử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/ </a:t>
            </a:r>
          </a:p>
          <a:p>
            <a:pPr algn="ctr"/>
            <a:r>
              <a:rPr lang="en-US" b="1" dirty="0" err="1"/>
              <a:t>Cập</a:t>
            </a:r>
            <a:r>
              <a:rPr lang="en-US" b="1" dirty="0"/>
              <a:t> </a:t>
            </a:r>
            <a:r>
              <a:rPr lang="en-US" b="1" dirty="0" err="1"/>
              <a:t>nhật</a:t>
            </a:r>
            <a:endParaRPr lang="en-US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E0DB6A-AC82-B62F-6D3D-4DC846EBF51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961241" y="454967"/>
            <a:ext cx="1" cy="1765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782B34-B89F-2A84-55B3-61C1FA6CF85E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4961242" y="919550"/>
            <a:ext cx="0" cy="1189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1652CF6-D9CF-D082-99CA-71D12EDFAEF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961241" y="1521851"/>
            <a:ext cx="2" cy="13645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26C9081-FB8A-5B82-DE3F-50A8FF7D3C46}"/>
              </a:ext>
            </a:extLst>
          </p:cNvPr>
          <p:cNvCxnSpPr>
            <a:cxnSpLocks/>
          </p:cNvCxnSpPr>
          <p:nvPr/>
        </p:nvCxnSpPr>
        <p:spPr>
          <a:xfrm>
            <a:off x="4961241" y="2141631"/>
            <a:ext cx="0" cy="1189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344C895-9630-9E23-B0A5-4689BA2F3D89}"/>
              </a:ext>
            </a:extLst>
          </p:cNvPr>
          <p:cNvCxnSpPr>
            <a:cxnSpLocks/>
          </p:cNvCxnSpPr>
          <p:nvPr/>
        </p:nvCxnSpPr>
        <p:spPr>
          <a:xfrm>
            <a:off x="4961241" y="2765723"/>
            <a:ext cx="0" cy="1189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4AFB09B-1DC1-A9DB-C59F-559A23EF4EA6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4960774" y="3368024"/>
            <a:ext cx="468" cy="1526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7574293-727A-1FE6-FD9E-9256D1EDD809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4960774" y="4004027"/>
            <a:ext cx="468" cy="14692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361D367-1813-7336-1CB3-3AFB5019B93C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4960774" y="4567135"/>
            <a:ext cx="468" cy="1469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BE29CF1E-7F1C-90C9-3B08-CB94A172B4BC}"/>
              </a:ext>
            </a:extLst>
          </p:cNvPr>
          <p:cNvSpPr/>
          <p:nvPr/>
        </p:nvSpPr>
        <p:spPr>
          <a:xfrm>
            <a:off x="6811512" y="982413"/>
            <a:ext cx="966652" cy="422607"/>
          </a:xfrm>
          <a:prstGeom prst="ellipse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Start</a:t>
            </a:r>
          </a:p>
        </p:txBody>
      </p:sp>
      <p:sp>
        <p:nvSpPr>
          <p:cNvPr id="68" name="Parallelogram 67">
            <a:extLst>
              <a:ext uri="{FF2B5EF4-FFF2-40B4-BE49-F238E27FC236}">
                <a16:creationId xmlns:a16="http://schemas.microsoft.com/office/drawing/2014/main" id="{6DECDCCD-30DB-5276-2A58-E4E940EF6EBF}"/>
              </a:ext>
            </a:extLst>
          </p:cNvPr>
          <p:cNvSpPr/>
          <p:nvPr/>
        </p:nvSpPr>
        <p:spPr>
          <a:xfrm>
            <a:off x="6516817" y="1578713"/>
            <a:ext cx="1556043" cy="288012"/>
          </a:xfrm>
          <a:prstGeom prst="parallelogram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Dart Object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E007C94-A5EC-183C-99EC-032CA7016B20}"/>
              </a:ext>
            </a:extLst>
          </p:cNvPr>
          <p:cNvSpPr/>
          <p:nvPr/>
        </p:nvSpPr>
        <p:spPr>
          <a:xfrm>
            <a:off x="6615571" y="1985701"/>
            <a:ext cx="1358538" cy="483325"/>
          </a:xfrm>
          <a:prstGeom prst="rect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toJson</a:t>
            </a:r>
            <a:r>
              <a:rPr lang="en-US" b="1" dirty="0"/>
              <a:t>()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FB5613F-CDCF-DC66-52C5-2A43451CE6D1}"/>
              </a:ext>
            </a:extLst>
          </p:cNvPr>
          <p:cNvSpPr/>
          <p:nvPr/>
        </p:nvSpPr>
        <p:spPr>
          <a:xfrm>
            <a:off x="6811512" y="3756201"/>
            <a:ext cx="966652" cy="399275"/>
          </a:xfrm>
          <a:prstGeom prst="ellipse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End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5E785E2-8489-F726-87F7-4DA3654FCDD5}"/>
              </a:ext>
            </a:extLst>
          </p:cNvPr>
          <p:cNvSpPr/>
          <p:nvPr/>
        </p:nvSpPr>
        <p:spPr>
          <a:xfrm>
            <a:off x="6615570" y="2605481"/>
            <a:ext cx="1358538" cy="483325"/>
          </a:xfrm>
          <a:prstGeom prst="rect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jsonEncode</a:t>
            </a:r>
            <a:r>
              <a:rPr lang="en-US" b="1" dirty="0"/>
              <a:t>()</a:t>
            </a:r>
          </a:p>
        </p:txBody>
      </p:sp>
      <p:sp>
        <p:nvSpPr>
          <p:cNvPr id="74" name="Parallelogram 73">
            <a:extLst>
              <a:ext uri="{FF2B5EF4-FFF2-40B4-BE49-F238E27FC236}">
                <a16:creationId xmlns:a16="http://schemas.microsoft.com/office/drawing/2014/main" id="{8C4D2326-EB35-B547-F5D8-9A7DBB6BC6DB}"/>
              </a:ext>
            </a:extLst>
          </p:cNvPr>
          <p:cNvSpPr/>
          <p:nvPr/>
        </p:nvSpPr>
        <p:spPr>
          <a:xfrm>
            <a:off x="6516817" y="3207782"/>
            <a:ext cx="1556043" cy="416180"/>
          </a:xfrm>
          <a:prstGeom prst="parallelogram">
            <a:avLst/>
          </a:prstGeom>
          <a:solidFill>
            <a:srgbClr val="2073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New Json string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7DDEFDB-125C-F182-EA98-49497575F1E9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7294838" y="1402142"/>
            <a:ext cx="1" cy="1765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9DA06F0-DF34-7F12-B6C9-627C57751B82}"/>
              </a:ext>
            </a:extLst>
          </p:cNvPr>
          <p:cNvCxnSpPr>
            <a:cxnSpLocks/>
            <a:stCxn id="68" idx="4"/>
          </p:cNvCxnSpPr>
          <p:nvPr/>
        </p:nvCxnSpPr>
        <p:spPr>
          <a:xfrm>
            <a:off x="7294839" y="1866725"/>
            <a:ext cx="0" cy="1189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BB5264D-49E1-9494-1C69-B79AFDFB51A7}"/>
              </a:ext>
            </a:extLst>
          </p:cNvPr>
          <p:cNvCxnSpPr>
            <a:cxnSpLocks/>
            <a:stCxn id="69" idx="2"/>
          </p:cNvCxnSpPr>
          <p:nvPr/>
        </p:nvCxnSpPr>
        <p:spPr>
          <a:xfrm flipH="1">
            <a:off x="7294838" y="2469026"/>
            <a:ext cx="2" cy="13645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35C2B6E-BE79-992A-C0F5-4E6230113D10}"/>
              </a:ext>
            </a:extLst>
          </p:cNvPr>
          <p:cNvCxnSpPr>
            <a:cxnSpLocks/>
          </p:cNvCxnSpPr>
          <p:nvPr/>
        </p:nvCxnSpPr>
        <p:spPr>
          <a:xfrm>
            <a:off x="7294838" y="3088806"/>
            <a:ext cx="0" cy="1189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FCDEE01-3B6B-D5F9-F662-751EF0A3BC05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7294371" y="3623962"/>
            <a:ext cx="468" cy="1469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B719206-4E46-A8ED-837F-9693BACB45AD}"/>
              </a:ext>
            </a:extLst>
          </p:cNvPr>
          <p:cNvSpPr txBox="1"/>
          <p:nvPr/>
        </p:nvSpPr>
        <p:spPr>
          <a:xfrm>
            <a:off x="434221" y="1326371"/>
            <a:ext cx="32418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/>
              <a:t>jsonDecode</a:t>
            </a:r>
            <a:r>
              <a:rPr lang="en-US" b="1" dirty="0"/>
              <a:t>(): </a:t>
            </a:r>
            <a:r>
              <a:rPr lang="en-US" dirty="0" err="1"/>
              <a:t>Chuyển</a:t>
            </a:r>
            <a:r>
              <a:rPr lang="en-US" dirty="0"/>
              <a:t> Json string </a:t>
            </a:r>
            <a:r>
              <a:rPr lang="en-US" dirty="0" err="1"/>
              <a:t>thành</a:t>
            </a:r>
            <a:r>
              <a:rPr lang="en-US" dirty="0"/>
              <a:t> Collection (Map/List)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/>
              <a:t>fromJson</a:t>
            </a:r>
            <a:r>
              <a:rPr lang="en-US" b="1" dirty="0"/>
              <a:t>():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Dart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Json </a:t>
            </a:r>
            <a:r>
              <a:rPr lang="en-US" dirty="0" err="1"/>
              <a:t>đã</a:t>
            </a:r>
            <a:r>
              <a:rPr lang="en-US" dirty="0"/>
              <a:t> decode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/>
              <a:t>toJson</a:t>
            </a:r>
            <a:r>
              <a:rPr lang="en-US" b="1" dirty="0"/>
              <a:t>(): </a:t>
            </a:r>
            <a:r>
              <a:rPr lang="en-US" dirty="0" err="1"/>
              <a:t>Chuyển</a:t>
            </a:r>
            <a:r>
              <a:rPr lang="en-US" dirty="0"/>
              <a:t> Dart Object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Map/List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/>
              <a:t>jsonEncode</a:t>
            </a:r>
            <a:r>
              <a:rPr lang="en-US" b="1" dirty="0"/>
              <a:t>(): </a:t>
            </a:r>
            <a:r>
              <a:rPr lang="en-US" dirty="0" err="1"/>
              <a:t>Chuyển</a:t>
            </a:r>
            <a:r>
              <a:rPr lang="en-US" dirty="0"/>
              <a:t> Collections </a:t>
            </a:r>
            <a:r>
              <a:rPr lang="en-US" dirty="0" err="1"/>
              <a:t>thành</a:t>
            </a:r>
            <a:r>
              <a:rPr lang="en-US" dirty="0"/>
              <a:t> Json string </a:t>
            </a:r>
            <a:r>
              <a:rPr lang="en-US" dirty="0" err="1"/>
              <a:t>mới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29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5E93F40-8FA2-383C-EE26-B6D504F1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E87CA-7033-A76E-76E7-3E02D7834C96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JSON Serialization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58568-4C16-C236-70A2-D4059CD141D6}"/>
              </a:ext>
            </a:extLst>
          </p:cNvPr>
          <p:cNvSpPr txBox="1"/>
          <p:nvPr/>
        </p:nvSpPr>
        <p:spPr>
          <a:xfrm>
            <a:off x="1558695" y="1568422"/>
            <a:ext cx="63573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Flutter </a:t>
            </a:r>
            <a:r>
              <a:rPr lang="en-GB" sz="2000" dirty="0" err="1"/>
              <a:t>có</a:t>
            </a:r>
            <a:r>
              <a:rPr lang="en-GB" sz="2000" dirty="0"/>
              <a:t> 2 </a:t>
            </a:r>
            <a:r>
              <a:rPr lang="en-GB" sz="2000" dirty="0" err="1"/>
              <a:t>cách</a:t>
            </a:r>
            <a:r>
              <a:rPr lang="en-GB" sz="2000" dirty="0"/>
              <a:t> </a:t>
            </a:r>
            <a:r>
              <a:rPr lang="en-GB" sz="2000" dirty="0" err="1"/>
              <a:t>chính</a:t>
            </a:r>
            <a:r>
              <a:rPr lang="en-GB" sz="2000" dirty="0"/>
              <a:t> </a:t>
            </a:r>
            <a:r>
              <a:rPr lang="en-GB" sz="2000" dirty="0" err="1"/>
              <a:t>để</a:t>
            </a:r>
            <a:r>
              <a:rPr lang="en-GB" sz="2000" dirty="0"/>
              <a:t> </a:t>
            </a:r>
            <a:r>
              <a:rPr lang="en-GB" sz="2000" dirty="0" err="1"/>
              <a:t>xử</a:t>
            </a:r>
            <a:r>
              <a:rPr lang="en-GB" sz="2000" dirty="0"/>
              <a:t> </a:t>
            </a:r>
            <a:r>
              <a:rPr lang="en-GB" sz="2000" dirty="0" err="1"/>
              <a:t>lý</a:t>
            </a:r>
            <a:r>
              <a:rPr lang="en-GB" sz="2000" dirty="0"/>
              <a:t> JSON serialization</a:t>
            </a:r>
          </a:p>
          <a:p>
            <a:pPr algn="just"/>
            <a:endParaRPr lang="en-GB" sz="2000" dirty="0"/>
          </a:p>
          <a:p>
            <a:pPr marL="342900" indent="-342900" algn="just">
              <a:buAutoNum type="arabicPeriod"/>
            </a:pPr>
            <a:r>
              <a:rPr lang="en-GB" sz="2000" b="1" dirty="0"/>
              <a:t>Manual Serialization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Serialization JSON inline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Serialization JSON inside model classes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/>
          </a:p>
          <a:p>
            <a:pPr algn="just"/>
            <a:r>
              <a:rPr lang="en-US" sz="2000" b="1" dirty="0"/>
              <a:t>2. Automated Serialization (using code generation)</a:t>
            </a:r>
          </a:p>
          <a:p>
            <a:pPr algn="just"/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01A3FC-490F-FB82-6DC1-085E0B791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16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02DD5B47-C6D1-E1ED-723B-AFDE284E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C857CC-5D6A-73E6-F7AF-6BEB6294AE0A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Serialization JSON inline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50604-FC73-E22D-1530-F19198221EEE}"/>
              </a:ext>
            </a:extLst>
          </p:cNvPr>
          <p:cNvSpPr txBox="1"/>
          <p:nvPr/>
        </p:nvSpPr>
        <p:spPr>
          <a:xfrm>
            <a:off x="5101571" y="1034115"/>
            <a:ext cx="370932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err="1"/>
              <a:t>jsonDecode</a:t>
            </a:r>
            <a:r>
              <a:rPr lang="en-US" sz="1600" b="1" dirty="0"/>
              <a:t>(): </a:t>
            </a:r>
            <a:r>
              <a:rPr lang="en-US" sz="1600" dirty="0" err="1"/>
              <a:t>giải</a:t>
            </a:r>
            <a:r>
              <a:rPr lang="en-US" sz="1600" dirty="0"/>
              <a:t> </a:t>
            </a:r>
            <a:r>
              <a:rPr lang="en-US" sz="1600" dirty="0" err="1"/>
              <a:t>mã</a:t>
            </a:r>
            <a:r>
              <a:rPr lang="en-US" sz="1600" dirty="0"/>
              <a:t> </a:t>
            </a:r>
            <a:r>
              <a:rPr lang="en-US" sz="1600" dirty="0" err="1"/>
              <a:t>chuỗi</a:t>
            </a:r>
            <a:r>
              <a:rPr lang="en-US" sz="1600" dirty="0"/>
              <a:t> JSON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Dart Object.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err="1"/>
              <a:t>jsonEncode</a:t>
            </a:r>
            <a:r>
              <a:rPr lang="en-US" sz="1600" b="1" dirty="0"/>
              <a:t>(): </a:t>
            </a:r>
            <a:r>
              <a:rPr lang="en-US" sz="1600" dirty="0" err="1"/>
              <a:t>mã</a:t>
            </a:r>
            <a:r>
              <a:rPr lang="en-US" sz="1600" dirty="0"/>
              <a:t> </a:t>
            </a:r>
            <a:r>
              <a:rPr lang="en-US" sz="1600" dirty="0" err="1"/>
              <a:t>hóa</a:t>
            </a:r>
            <a:r>
              <a:rPr lang="en-US" sz="1600" dirty="0"/>
              <a:t> Map </a:t>
            </a:r>
            <a:r>
              <a:rPr lang="en-US" sz="1600" dirty="0" err="1"/>
              <a:t>vừa</a:t>
            </a:r>
            <a:r>
              <a:rPr lang="en-US" sz="1600" dirty="0"/>
              <a:t> </a:t>
            </a:r>
            <a:r>
              <a:rPr lang="en-US" sz="1600" dirty="0" err="1"/>
              <a:t>nhận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chuỗi</a:t>
            </a:r>
            <a:r>
              <a:rPr lang="en-US" sz="1600" dirty="0"/>
              <a:t> JSON </a:t>
            </a:r>
            <a:r>
              <a:rPr lang="en-US" sz="1600" dirty="0" err="1"/>
              <a:t>mới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Phù</a:t>
            </a:r>
            <a:r>
              <a:rPr lang="en-US" sz="1600" dirty="0"/>
              <a:t> </a:t>
            </a:r>
            <a:r>
              <a:rPr lang="en-US" sz="1600" dirty="0" err="1"/>
              <a:t>hợp</a:t>
            </a:r>
            <a:r>
              <a:rPr lang="en-US" sz="1600" dirty="0"/>
              <a:t>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bài</a:t>
            </a:r>
            <a:r>
              <a:rPr lang="en-US" sz="1600" dirty="0"/>
              <a:t> </a:t>
            </a:r>
            <a:r>
              <a:rPr lang="en-US" sz="1600" dirty="0" err="1"/>
              <a:t>toán</a:t>
            </a:r>
            <a:r>
              <a:rPr lang="en-US" sz="1600" dirty="0"/>
              <a:t> </a:t>
            </a:r>
            <a:r>
              <a:rPr lang="en-US" sz="1600" dirty="0" err="1"/>
              <a:t>nhỏ</a:t>
            </a:r>
            <a:r>
              <a:rPr lang="en-US" sz="1600" dirty="0"/>
              <a:t>,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thích</a:t>
            </a:r>
            <a:r>
              <a:rPr lang="en-US" sz="1600" dirty="0"/>
              <a:t> </a:t>
            </a:r>
            <a:r>
              <a:rPr lang="en-US" sz="1600" dirty="0" err="1"/>
              <a:t>hợp</a:t>
            </a:r>
            <a:r>
              <a:rPr lang="en-US" sz="1600" dirty="0"/>
              <a:t>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án</a:t>
            </a:r>
            <a:r>
              <a:rPr lang="en-US" sz="1600" dirty="0"/>
              <a:t> </a:t>
            </a:r>
            <a:r>
              <a:rPr lang="en-US" sz="1600" dirty="0" err="1"/>
              <a:t>vừa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lớn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nhiều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</a:t>
            </a:r>
            <a:r>
              <a:rPr lang="en-US" sz="1600" dirty="0" err="1"/>
              <a:t>phức</a:t>
            </a:r>
            <a:r>
              <a:rPr lang="en-US" sz="1600" dirty="0"/>
              <a:t> </a:t>
            </a:r>
            <a:r>
              <a:rPr lang="en-US" sz="1600" dirty="0" err="1"/>
              <a:t>tạp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D0C1BD-5742-DA25-E9AE-AA37DA9D5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2" y="4103487"/>
            <a:ext cx="3543300" cy="44767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E716BB-0CBE-9628-E37E-F4AF33A41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6C0D90-AC96-F5A0-BB88-65C79946A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87" y="1012088"/>
            <a:ext cx="4791829" cy="291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63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9AAE4D1-190E-125B-9DA1-92C976B5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7323B7B-9767-0B20-49C6-D59D9AD72DAF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Serialization JSON inside model classes</a:t>
            </a:r>
            <a:endParaRPr lang="en-US" sz="4000" b="1" dirty="0">
              <a:solidFill>
                <a:srgbClr val="2073BE"/>
              </a:solidFill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25BEA1A-F6F7-B60B-3FF1-54446D8AC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41" y="740442"/>
            <a:ext cx="3310943" cy="4154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4E6E02-5559-85E1-83DF-6A6FDDD2E6DC}"/>
              </a:ext>
            </a:extLst>
          </p:cNvPr>
          <p:cNvSpPr txBox="1"/>
          <p:nvPr/>
        </p:nvSpPr>
        <p:spPr>
          <a:xfrm>
            <a:off x="4395650" y="1525109"/>
            <a:ext cx="46373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Tạo</a:t>
            </a:r>
            <a:r>
              <a:rPr lang="en-US" sz="1800" dirty="0"/>
              <a:t> 1 model class - Class Book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 err="1"/>
              <a:t>toJson</a:t>
            </a:r>
            <a:r>
              <a:rPr lang="en-US" sz="1800" b="1" dirty="0"/>
              <a:t>(): </a:t>
            </a:r>
            <a:r>
              <a:rPr lang="en-US" sz="1800" dirty="0" err="1"/>
              <a:t>Chuyển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đối</a:t>
            </a:r>
            <a:r>
              <a:rPr lang="en-US" sz="1800" dirty="0"/>
              <a:t> </a:t>
            </a:r>
            <a:r>
              <a:rPr lang="en-US" sz="1800" dirty="0" err="1"/>
              <a:t>tượng</a:t>
            </a:r>
            <a:r>
              <a:rPr lang="en-US" sz="1800" dirty="0"/>
              <a:t> Book </a:t>
            </a:r>
            <a:r>
              <a:rPr lang="en-US" sz="1800" dirty="0" err="1"/>
              <a:t>thành</a:t>
            </a:r>
            <a:r>
              <a:rPr lang="en-US" sz="1800" dirty="0"/>
              <a:t> </a:t>
            </a:r>
            <a:r>
              <a:rPr lang="en-US" sz="1800" dirty="0" err="1"/>
              <a:t>cấu</a:t>
            </a:r>
            <a:r>
              <a:rPr lang="en-US" sz="1800" dirty="0"/>
              <a:t> </a:t>
            </a:r>
            <a:r>
              <a:rPr lang="en-US" sz="1800" dirty="0" err="1"/>
              <a:t>trúc</a:t>
            </a:r>
            <a:r>
              <a:rPr lang="en-US" sz="1800" dirty="0"/>
              <a:t> Map (Serialization).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b="1" dirty="0" err="1"/>
              <a:t>fromJson</a:t>
            </a:r>
            <a:r>
              <a:rPr lang="en-GB" sz="1800" b="1" dirty="0"/>
              <a:t>(): </a:t>
            </a:r>
            <a:r>
              <a:rPr lang="en-GB" sz="1800" dirty="0" err="1"/>
              <a:t>Sử</a:t>
            </a:r>
            <a:r>
              <a:rPr lang="en-GB" sz="1800" dirty="0"/>
              <a:t> </a:t>
            </a:r>
            <a:r>
              <a:rPr lang="en-GB" sz="1800" dirty="0" err="1"/>
              <a:t>dụng</a:t>
            </a:r>
            <a:r>
              <a:rPr lang="en-GB" sz="1800" dirty="0"/>
              <a:t> factory constructor </a:t>
            </a:r>
            <a:r>
              <a:rPr lang="en-GB" sz="1800" dirty="0" err="1"/>
              <a:t>để</a:t>
            </a:r>
            <a:r>
              <a:rPr lang="en-GB" sz="1800" dirty="0"/>
              <a:t> </a:t>
            </a:r>
            <a:r>
              <a:rPr lang="en-GB" sz="1800" dirty="0" err="1"/>
              <a:t>tạo</a:t>
            </a:r>
            <a:r>
              <a:rPr lang="en-GB" sz="1800" dirty="0"/>
              <a:t> </a:t>
            </a:r>
            <a:r>
              <a:rPr lang="en-GB" sz="1800" dirty="0" err="1"/>
              <a:t>một</a:t>
            </a:r>
            <a:r>
              <a:rPr lang="en-GB" sz="1800" dirty="0"/>
              <a:t> </a:t>
            </a:r>
            <a:r>
              <a:rPr lang="en-GB" sz="1800" dirty="0" err="1"/>
              <a:t>đối</a:t>
            </a:r>
            <a:r>
              <a:rPr lang="en-GB" sz="1800" dirty="0"/>
              <a:t> </a:t>
            </a:r>
            <a:r>
              <a:rPr lang="en-GB" sz="1800" dirty="0" err="1"/>
              <a:t>tượng</a:t>
            </a:r>
            <a:r>
              <a:rPr lang="en-GB" sz="1800" dirty="0"/>
              <a:t> Book </a:t>
            </a:r>
            <a:r>
              <a:rPr lang="en-GB" sz="1800" dirty="0" err="1"/>
              <a:t>từ</a:t>
            </a:r>
            <a:r>
              <a:rPr lang="en-GB" sz="1800" dirty="0"/>
              <a:t> </a:t>
            </a:r>
            <a:r>
              <a:rPr lang="en-GB" sz="1800" dirty="0" err="1"/>
              <a:t>dữ</a:t>
            </a:r>
            <a:r>
              <a:rPr lang="en-GB" sz="1800" dirty="0"/>
              <a:t> </a:t>
            </a:r>
            <a:r>
              <a:rPr lang="en-GB" sz="1800" dirty="0" err="1"/>
              <a:t>liệu</a:t>
            </a:r>
            <a:r>
              <a:rPr lang="en-GB" sz="1800" dirty="0"/>
              <a:t> JSON (Deserialization).</a:t>
            </a:r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1E9FFA-E3AC-6BC9-5174-B1791D639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1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BDB23DA9-C0E0-F101-A68A-48DDF7C4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9BC3F0-92BA-7BC6-D01B-6AF7D525825C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Serialization JSON inside model classes</a:t>
            </a:r>
            <a:endParaRPr lang="en-US" sz="4000" b="1" dirty="0">
              <a:solidFill>
                <a:srgbClr val="2073B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0A905-3328-4D67-EF5E-E4D32252444A}"/>
              </a:ext>
            </a:extLst>
          </p:cNvPr>
          <p:cNvSpPr txBox="1"/>
          <p:nvPr/>
        </p:nvSpPr>
        <p:spPr>
          <a:xfrm>
            <a:off x="4972395" y="1243642"/>
            <a:ext cx="38666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Chuyển</a:t>
            </a:r>
            <a:r>
              <a:rPr lang="en-US" sz="1600" dirty="0"/>
              <a:t> </a:t>
            </a:r>
            <a:r>
              <a:rPr lang="en-US" sz="1600" dirty="0" err="1"/>
              <a:t>đổi</a:t>
            </a:r>
            <a:r>
              <a:rPr lang="en-US" sz="1600" dirty="0"/>
              <a:t> Dart Object </a:t>
            </a:r>
            <a:r>
              <a:rPr lang="en-GB" sz="1600" dirty="0">
                <a:sym typeface="Wingdings" panose="05000000000000000000" pitchFamily="2" charset="2"/>
              </a:rPr>
              <a:t></a:t>
            </a:r>
            <a:r>
              <a:rPr lang="en-GB" sz="1600" dirty="0"/>
              <a:t> </a:t>
            </a:r>
            <a:r>
              <a:rPr lang="en-US" sz="1600" dirty="0"/>
              <a:t>JSON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JSON </a:t>
            </a:r>
            <a:r>
              <a:rPr lang="en-US" sz="1600" dirty="0" err="1"/>
              <a:t>giả</a:t>
            </a:r>
            <a:r>
              <a:rPr lang="en-US" sz="1600" dirty="0"/>
              <a:t> </a:t>
            </a:r>
            <a:r>
              <a:rPr lang="en-US" sz="1600" dirty="0" err="1"/>
              <a:t>lập</a:t>
            </a:r>
            <a:r>
              <a:rPr lang="en-US" sz="1600" dirty="0"/>
              <a:t> </a:t>
            </a:r>
            <a:r>
              <a:rPr lang="en-US" sz="1600" dirty="0" err="1"/>
              <a:t>lưu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biến</a:t>
            </a:r>
            <a:r>
              <a:rPr lang="en-US" sz="1600" dirty="0"/>
              <a:t> </a:t>
            </a:r>
            <a:r>
              <a:rPr lang="en-US" sz="1600" dirty="0" err="1"/>
              <a:t>jsonData</a:t>
            </a:r>
            <a:r>
              <a:rPr lang="en-US" sz="1600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Thao </a:t>
            </a:r>
            <a:r>
              <a:rPr lang="en-US" sz="1600" dirty="0" err="1"/>
              <a:t>tác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fromJson</a:t>
            </a:r>
            <a:r>
              <a:rPr lang="en-US" sz="1600" dirty="0"/>
              <a:t>()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toJson</a:t>
            </a:r>
            <a:r>
              <a:rPr lang="en-US" sz="1600" dirty="0"/>
              <a:t>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Chỉnh</a:t>
            </a:r>
            <a:r>
              <a:rPr lang="en-US" sz="1600" dirty="0"/>
              <a:t> </a:t>
            </a:r>
            <a:r>
              <a:rPr lang="en-US" sz="1600" dirty="0" err="1"/>
              <a:t>sửa</a:t>
            </a:r>
            <a:r>
              <a:rPr lang="en-US" sz="1600" dirty="0"/>
              <a:t> </a:t>
            </a:r>
            <a:r>
              <a:rPr lang="en-US" sz="1600" dirty="0" err="1"/>
              <a:t>giá</a:t>
            </a:r>
            <a:r>
              <a:rPr lang="en-US" sz="1600" dirty="0"/>
              <a:t> </a:t>
            </a:r>
            <a:r>
              <a:rPr lang="en-US" sz="1600" dirty="0" err="1"/>
              <a:t>trị</a:t>
            </a:r>
            <a:r>
              <a:rPr lang="en-US" sz="1600" dirty="0"/>
              <a:t> </a:t>
            </a:r>
            <a:r>
              <a:rPr lang="en-US" sz="1600" dirty="0" err="1"/>
              <a:t>biến</a:t>
            </a:r>
            <a:r>
              <a:rPr lang="en-US" sz="1600" dirty="0"/>
              <a:t> rating </a:t>
            </a:r>
            <a:r>
              <a:rPr lang="en-US" sz="1600" dirty="0" err="1"/>
              <a:t>và</a:t>
            </a:r>
            <a:r>
              <a:rPr lang="en-US" sz="1600" dirty="0"/>
              <a:t> in </a:t>
            </a:r>
            <a:r>
              <a:rPr lang="en-US" sz="1600" dirty="0" err="1"/>
              <a:t>thông</a:t>
            </a:r>
            <a:r>
              <a:rPr lang="en-US" sz="1600" dirty="0"/>
              <a:t> tin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sách</a:t>
            </a:r>
            <a:r>
              <a:rPr lang="en-US" sz="1600" dirty="0"/>
              <a:t> </a:t>
            </a:r>
            <a:r>
              <a:rPr lang="en-US" sz="1600" dirty="0" err="1"/>
              <a:t>ra.</a:t>
            </a:r>
            <a:endParaRPr lang="en-US" sz="1600" dirty="0"/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5E38D05-7077-FBA1-DDB7-4E9E0F496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17" y="771072"/>
            <a:ext cx="4424795" cy="3222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BF449C-D2F2-74C6-BF41-E243762CB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17" y="4238527"/>
            <a:ext cx="7715095" cy="3974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013958-D1DC-2D1C-2794-290BE5028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74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02E6ACE4-9F1C-D310-534A-3A7C2AC04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726034-4725-2104-E45E-40547847DC75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2073BE"/>
                </a:solidFill>
              </a:rPr>
              <a:t>Xử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lý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với</a:t>
            </a:r>
            <a:r>
              <a:rPr lang="en-US" sz="2400" b="1" dirty="0">
                <a:solidFill>
                  <a:srgbClr val="2073BE"/>
                </a:solidFill>
              </a:rPr>
              <a:t> Array</a:t>
            </a:r>
            <a:endParaRPr lang="en-US" sz="4000" b="1" dirty="0">
              <a:solidFill>
                <a:srgbClr val="2073BE"/>
              </a:solidFill>
            </a:endParaRP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98085DB-3076-D369-CF09-62BBEA895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587" y="649002"/>
            <a:ext cx="2514095" cy="3878057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3F29BDF-2848-032A-50B4-69F265AE1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735" y="382314"/>
            <a:ext cx="3093135" cy="4378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A676EB-ADD4-80B3-9443-86A7CC9DA0A4}"/>
              </a:ext>
            </a:extLst>
          </p:cNvPr>
          <p:cNvSpPr txBox="1"/>
          <p:nvPr/>
        </p:nvSpPr>
        <p:spPr>
          <a:xfrm>
            <a:off x="1807568" y="4616283"/>
            <a:ext cx="1180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ProductData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8A7555-16AC-8C1D-FE8E-0927345BE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33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549B92B-0B0A-3887-ED64-88FFE2FB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D44066-B250-1B36-8B5C-82A7FDEF1E21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2073BE"/>
                </a:solidFill>
              </a:rPr>
              <a:t>Xử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lý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với</a:t>
            </a:r>
            <a:r>
              <a:rPr lang="en-US" sz="2400" b="1" dirty="0">
                <a:solidFill>
                  <a:srgbClr val="2073BE"/>
                </a:solidFill>
              </a:rPr>
              <a:t> Array</a:t>
            </a:r>
            <a:endParaRPr lang="en-US" sz="4000" b="1" dirty="0">
              <a:solidFill>
                <a:srgbClr val="2073BE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DF6B3A-18E6-FE56-7C9D-4BAFE9ADD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90" y="567731"/>
            <a:ext cx="5081045" cy="4393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86DEC0-1D9D-0F77-2030-16A5459EA88E}"/>
              </a:ext>
            </a:extLst>
          </p:cNvPr>
          <p:cNvSpPr txBox="1"/>
          <p:nvPr/>
        </p:nvSpPr>
        <p:spPr>
          <a:xfrm>
            <a:off x="5324569" y="929119"/>
            <a:ext cx="376064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jsonDecode</a:t>
            </a:r>
            <a:r>
              <a:rPr lang="en-US" sz="1600" dirty="0"/>
              <a:t>(): </a:t>
            </a:r>
            <a:r>
              <a:rPr lang="en-US" sz="1600" dirty="0" err="1"/>
              <a:t>Chuyển</a:t>
            </a:r>
            <a:r>
              <a:rPr lang="en-US" sz="1600" dirty="0"/>
              <a:t> JSON string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cấu</a:t>
            </a:r>
            <a:r>
              <a:rPr lang="en-US" sz="1600" dirty="0"/>
              <a:t> </a:t>
            </a:r>
            <a:r>
              <a:rPr lang="en-US" sz="1600" dirty="0" err="1"/>
              <a:t>trúc</a:t>
            </a:r>
            <a:r>
              <a:rPr lang="en-US" sz="1600" dirty="0"/>
              <a:t> List.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fromJson</a:t>
            </a:r>
            <a:r>
              <a:rPr lang="en-US" sz="1600" dirty="0"/>
              <a:t>(): </a:t>
            </a:r>
            <a:r>
              <a:rPr lang="en-US" sz="1600" dirty="0" err="1"/>
              <a:t>Chuyển</a:t>
            </a:r>
            <a:r>
              <a:rPr lang="en-US" sz="1600" dirty="0"/>
              <a:t> </a:t>
            </a:r>
            <a:r>
              <a:rPr lang="en-US" sz="1600" dirty="0" err="1"/>
              <a:t>mỗi</a:t>
            </a:r>
            <a:r>
              <a:rPr lang="en-US" sz="1600" dirty="0"/>
              <a:t> item JSON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đối</a:t>
            </a:r>
            <a:r>
              <a:rPr lang="en-US" sz="1600" dirty="0"/>
              <a:t> </a:t>
            </a:r>
            <a:r>
              <a:rPr lang="en-US" sz="1600" dirty="0" err="1"/>
              <a:t>tượng</a:t>
            </a:r>
            <a:r>
              <a:rPr lang="en-US" sz="1600" dirty="0"/>
              <a:t> Product.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Chỉnh</a:t>
            </a:r>
            <a:r>
              <a:rPr lang="en-US" sz="1600" dirty="0"/>
              <a:t> </a:t>
            </a:r>
            <a:r>
              <a:rPr lang="en-US" sz="1600" dirty="0" err="1"/>
              <a:t>sửa</a:t>
            </a:r>
            <a:r>
              <a:rPr lang="en-US" sz="1600" dirty="0"/>
              <a:t> </a:t>
            </a:r>
            <a:r>
              <a:rPr lang="en-US" sz="1600" dirty="0" err="1"/>
              <a:t>cập</a:t>
            </a:r>
            <a:r>
              <a:rPr lang="en-US" sz="1600" dirty="0"/>
              <a:t> </a:t>
            </a:r>
            <a:r>
              <a:rPr lang="en-US" sz="1600" dirty="0" err="1"/>
              <a:t>nhật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endParaRPr lang="en-US" sz="1600" dirty="0"/>
          </a:p>
          <a:p>
            <a:pPr algn="just"/>
            <a:endParaRPr lang="en-US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toJson</a:t>
            </a:r>
            <a:r>
              <a:rPr lang="en-US" sz="1600" dirty="0"/>
              <a:t>(): </a:t>
            </a:r>
            <a:r>
              <a:rPr lang="en-US" sz="1600" dirty="0" err="1"/>
              <a:t>Chuyển</a:t>
            </a:r>
            <a:r>
              <a:rPr lang="en-US" sz="1600" dirty="0"/>
              <a:t> </a:t>
            </a:r>
            <a:r>
              <a:rPr lang="en-US" sz="1600" dirty="0" err="1"/>
              <a:t>mỗi</a:t>
            </a:r>
            <a:r>
              <a:rPr lang="en-US" sz="1600" dirty="0"/>
              <a:t> Product object </a:t>
            </a:r>
            <a:r>
              <a:rPr lang="en-US" sz="1600" dirty="0" err="1"/>
              <a:t>thành</a:t>
            </a:r>
            <a:r>
              <a:rPr lang="en-US" sz="1600" dirty="0"/>
              <a:t> Map.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JsonEncoder.withIndent</a:t>
            </a:r>
            <a:r>
              <a:rPr lang="en-US" sz="1600" dirty="0"/>
              <a:t>():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mã</a:t>
            </a:r>
            <a:r>
              <a:rPr lang="en-US" sz="1600" dirty="0"/>
              <a:t> </a:t>
            </a:r>
            <a:r>
              <a:rPr lang="en-US" sz="1600" dirty="0" err="1"/>
              <a:t>hóa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JSON string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dạng</a:t>
            </a:r>
            <a:r>
              <a:rPr lang="en-US" sz="1600" dirty="0"/>
              <a:t> </a:t>
            </a:r>
            <a:r>
              <a:rPr lang="en-US" sz="1600" dirty="0" err="1"/>
              <a:t>dễ</a:t>
            </a:r>
            <a:r>
              <a:rPr lang="en-US" sz="1600" dirty="0"/>
              <a:t> </a:t>
            </a:r>
            <a:r>
              <a:rPr lang="en-US" sz="1600" dirty="0" err="1"/>
              <a:t>đọc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5866E-E459-7CAD-471A-F36C5ADD7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906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AD435A1-9650-DF51-78CD-F31984A8C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83B63E-3297-E4E0-1936-520B8B923F70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2073BE"/>
                </a:solidFill>
              </a:rPr>
              <a:t>Xử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lý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với</a:t>
            </a:r>
            <a:r>
              <a:rPr lang="en-US" sz="2400" b="1" dirty="0">
                <a:solidFill>
                  <a:srgbClr val="2073BE"/>
                </a:solidFill>
              </a:rPr>
              <a:t> Nested Object</a:t>
            </a:r>
            <a:endParaRPr lang="en-US" sz="4000" b="1" dirty="0">
              <a:solidFill>
                <a:srgbClr val="2073BE"/>
              </a:solidFill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DF18F4E-F7F9-8EB7-1B66-1C46C72C6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68" y="582813"/>
            <a:ext cx="2386029" cy="4479293"/>
          </a:xfrm>
          <a:prstGeom prst="rect">
            <a:avLst/>
          </a:prstGeom>
        </p:spPr>
      </p:pic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910FAB9-709F-82EB-D455-A9448637B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444" y="577500"/>
            <a:ext cx="2921372" cy="2306512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98E6387-5671-4C5B-1BAA-896E579EF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119" y="577500"/>
            <a:ext cx="3204003" cy="38377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096ABD-D5A8-237A-0E69-BF44C122DC2F}"/>
              </a:ext>
            </a:extLst>
          </p:cNvPr>
          <p:cNvSpPr txBox="1"/>
          <p:nvPr/>
        </p:nvSpPr>
        <p:spPr>
          <a:xfrm>
            <a:off x="6112670" y="3138310"/>
            <a:ext cx="28154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class Student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address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Address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Trong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Student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Address.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EF1B4-A91F-6310-8F11-AB8CB5767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532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DC79174-DF6C-8F5B-76EB-5AD8024FF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373A70-99E8-9F35-ACC3-CE78C9522775}"/>
              </a:ext>
            </a:extLst>
          </p:cNvPr>
          <p:cNvSpPr/>
          <p:nvPr/>
        </p:nvSpPr>
        <p:spPr>
          <a:xfrm>
            <a:off x="609836" y="-10952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2073BE"/>
                </a:solidFill>
              </a:rPr>
              <a:t>Xử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lý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với</a:t>
            </a:r>
            <a:r>
              <a:rPr lang="en-US" sz="2400" b="1" dirty="0">
                <a:solidFill>
                  <a:srgbClr val="2073BE"/>
                </a:solidFill>
              </a:rPr>
              <a:t> Nested Object</a:t>
            </a:r>
            <a:endParaRPr lang="en-US" sz="4000" b="1" dirty="0">
              <a:solidFill>
                <a:srgbClr val="2073BE"/>
              </a:solidFill>
            </a:endParaRPr>
          </a:p>
        </p:txBody>
      </p:sp>
      <p:pic>
        <p:nvPicPr>
          <p:cNvPr id="6" name="Picture 5" descr="A close up of text&#10;&#10;AI-generated content may be incorrect.">
            <a:extLst>
              <a:ext uri="{FF2B5EF4-FFF2-40B4-BE49-F238E27FC236}">
                <a16:creationId xmlns:a16="http://schemas.microsoft.com/office/drawing/2014/main" id="{D715E202-9856-DF8D-647A-471785068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366" y="925634"/>
            <a:ext cx="2246812" cy="7489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 descr="A close up of text&#10;&#10;AI-generated content may be incorrect.">
            <a:extLst>
              <a:ext uri="{FF2B5EF4-FFF2-40B4-BE49-F238E27FC236}">
                <a16:creationId xmlns:a16="http://schemas.microsoft.com/office/drawing/2014/main" id="{40189302-AC47-3D20-5458-3832DADE2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366" y="1915751"/>
            <a:ext cx="2246812" cy="7489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7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2FD94D18-034E-1679-CE77-58D870A1F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5917" y="2905870"/>
            <a:ext cx="1913710" cy="17818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DF56553-15C1-E59D-A50D-6979EEF57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A7B04FF-62C1-9D90-FAB4-56B42914273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00" t="20777" r="7200" b="20037"/>
          <a:stretch>
            <a:fillRect/>
          </a:stretch>
        </p:blipFill>
        <p:spPr>
          <a:xfrm>
            <a:off x="1651601" y="2358737"/>
            <a:ext cx="3142468" cy="8006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D174F7E-8B7D-CFD4-6EB8-1F80FF361F7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028" t="14451" r="7471" b="13755"/>
          <a:stretch>
            <a:fillRect/>
          </a:stretch>
        </p:blipFill>
        <p:spPr>
          <a:xfrm>
            <a:off x="1651601" y="3279669"/>
            <a:ext cx="3142209" cy="14080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55D4A5-283D-6CDD-156D-C2E23F0D0F3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058" t="16179" r="7312" b="16109"/>
          <a:stretch>
            <a:fillRect/>
          </a:stretch>
        </p:blipFill>
        <p:spPr>
          <a:xfrm>
            <a:off x="1651601" y="925634"/>
            <a:ext cx="3142468" cy="13128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0974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0D61DD5-ACFC-1111-ED9B-D63020B33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012362-EEDF-8B69-362D-8E4A84504C3C}"/>
              </a:ext>
            </a:extLst>
          </p:cNvPr>
          <p:cNvSpPr/>
          <p:nvPr/>
        </p:nvSpPr>
        <p:spPr>
          <a:xfrm>
            <a:off x="609836" y="-1155"/>
            <a:ext cx="739116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Automated Serialization (using code generation)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8F2598-FBCA-741B-1C06-B807DB5EB54F}"/>
              </a:ext>
            </a:extLst>
          </p:cNvPr>
          <p:cNvSpPr txBox="1"/>
          <p:nvPr/>
        </p:nvSpPr>
        <p:spPr>
          <a:xfrm>
            <a:off x="1482238" y="1384931"/>
            <a:ext cx="61795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Khi </a:t>
            </a:r>
            <a:r>
              <a:rPr lang="en-US" sz="1800" dirty="0" err="1"/>
              <a:t>dự</a:t>
            </a:r>
            <a:r>
              <a:rPr lang="en-US" sz="1800" dirty="0"/>
              <a:t> </a:t>
            </a:r>
            <a:r>
              <a:rPr lang="en-US" sz="1800" dirty="0" err="1"/>
              <a:t>án</a:t>
            </a:r>
            <a:r>
              <a:rPr lang="en-US" sz="1800" dirty="0"/>
              <a:t> </a:t>
            </a:r>
            <a:r>
              <a:rPr lang="en-US" sz="1800" dirty="0" err="1"/>
              <a:t>phát</a:t>
            </a:r>
            <a:r>
              <a:rPr lang="en-US" sz="1800" dirty="0"/>
              <a:t> </a:t>
            </a:r>
            <a:r>
              <a:rPr lang="en-US" sz="1800" dirty="0" err="1"/>
              <a:t>triển</a:t>
            </a:r>
            <a:r>
              <a:rPr lang="en-US" sz="1800" dirty="0"/>
              <a:t> </a:t>
            </a:r>
            <a:r>
              <a:rPr lang="en-US" sz="1800" dirty="0" err="1"/>
              <a:t>lớn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nhiều</a:t>
            </a:r>
            <a:r>
              <a:rPr lang="en-US" sz="1800" dirty="0"/>
              <a:t> model class </a:t>
            </a:r>
            <a:r>
              <a:rPr lang="en-US" sz="1800" dirty="0" err="1"/>
              <a:t>phức</a:t>
            </a:r>
            <a:r>
              <a:rPr lang="en-US" sz="1800" dirty="0"/>
              <a:t> </a:t>
            </a:r>
            <a:r>
              <a:rPr lang="en-US" sz="1800" dirty="0" err="1"/>
              <a:t>tạp</a:t>
            </a:r>
            <a:r>
              <a:rPr lang="en-US" sz="1800" dirty="0"/>
              <a:t>,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en-US" sz="1800" dirty="0" err="1"/>
              <a:t>viết</a:t>
            </a:r>
            <a:r>
              <a:rPr lang="en-US" sz="1800" dirty="0"/>
              <a:t> </a:t>
            </a:r>
            <a:r>
              <a:rPr lang="en-US" sz="1800" dirty="0" err="1"/>
              <a:t>thủ</a:t>
            </a:r>
            <a:r>
              <a:rPr lang="en-US" sz="1800" dirty="0"/>
              <a:t> </a:t>
            </a:r>
            <a:r>
              <a:rPr lang="en-US" sz="1800" dirty="0" err="1"/>
              <a:t>công</a:t>
            </a:r>
            <a:r>
              <a:rPr lang="en-US" sz="1800" dirty="0"/>
              <a:t> </a:t>
            </a:r>
            <a:r>
              <a:rPr lang="en-US" sz="1800" dirty="0" err="1"/>
              <a:t>toJson</a:t>
            </a:r>
            <a:r>
              <a:rPr lang="en-US" sz="1800" dirty="0"/>
              <a:t>() </a:t>
            </a:r>
            <a:r>
              <a:rPr lang="en-US" sz="1800" dirty="0" err="1"/>
              <a:t>và</a:t>
            </a:r>
            <a:r>
              <a:rPr lang="en-US" sz="1800" dirty="0"/>
              <a:t> </a:t>
            </a:r>
            <a:r>
              <a:rPr lang="en-US" sz="1800" dirty="0" err="1"/>
              <a:t>fromJson</a:t>
            </a:r>
            <a:r>
              <a:rPr lang="en-US" sz="1800" dirty="0"/>
              <a:t>() </a:t>
            </a:r>
            <a:r>
              <a:rPr lang="en-US" sz="1800" dirty="0" err="1"/>
              <a:t>trở</a:t>
            </a:r>
            <a:r>
              <a:rPr lang="en-US" sz="1800" dirty="0"/>
              <a:t> </a:t>
            </a:r>
            <a:r>
              <a:rPr lang="en-US" sz="1800" dirty="0" err="1"/>
              <a:t>nên</a:t>
            </a:r>
            <a:r>
              <a:rPr lang="en-US" sz="1800" dirty="0"/>
              <a:t>: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Tốn</a:t>
            </a:r>
            <a:r>
              <a:rPr lang="en-US" sz="1800" dirty="0"/>
              <a:t>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: </a:t>
            </a:r>
            <a:r>
              <a:rPr lang="en-US" sz="1800" dirty="0" err="1"/>
              <a:t>viết</a:t>
            </a:r>
            <a:r>
              <a:rPr lang="en-US" sz="1800" dirty="0"/>
              <a:t> </a:t>
            </a:r>
            <a:r>
              <a:rPr lang="en-US" sz="1800" dirty="0" err="1"/>
              <a:t>nhiều</a:t>
            </a:r>
            <a:r>
              <a:rPr lang="en-US" sz="1800" dirty="0"/>
              <a:t> code </a:t>
            </a:r>
            <a:r>
              <a:rPr lang="en-US" sz="1800" dirty="0" err="1"/>
              <a:t>lặp</a:t>
            </a:r>
            <a:r>
              <a:rPr lang="en-US" sz="1800" dirty="0"/>
              <a:t> </a:t>
            </a:r>
            <a:r>
              <a:rPr lang="en-US" sz="1800" dirty="0" err="1"/>
              <a:t>lại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Dễ</a:t>
            </a:r>
            <a:r>
              <a:rPr lang="en-US" sz="1800" dirty="0"/>
              <a:t> </a:t>
            </a:r>
            <a:r>
              <a:rPr lang="en-US" sz="1800" dirty="0" err="1"/>
              <a:t>sai</a:t>
            </a:r>
            <a:r>
              <a:rPr lang="en-US" sz="1800" dirty="0"/>
              <a:t> </a:t>
            </a:r>
            <a:r>
              <a:rPr lang="en-US" sz="1800" dirty="0" err="1"/>
              <a:t>sót</a:t>
            </a:r>
            <a:r>
              <a:rPr lang="en-US" sz="1800" dirty="0"/>
              <a:t>: </a:t>
            </a:r>
            <a:r>
              <a:rPr lang="en-US" sz="1800" dirty="0" err="1"/>
              <a:t>Quên</a:t>
            </a:r>
            <a:r>
              <a:rPr lang="en-US" sz="1800" dirty="0"/>
              <a:t> field, </a:t>
            </a:r>
            <a:r>
              <a:rPr lang="en-US" sz="1800" dirty="0" err="1"/>
              <a:t>sai</a:t>
            </a:r>
            <a:r>
              <a:rPr lang="en-US" sz="1800" dirty="0"/>
              <a:t> </a:t>
            </a:r>
            <a:r>
              <a:rPr lang="en-US" sz="1800" dirty="0" err="1"/>
              <a:t>tên</a:t>
            </a:r>
            <a:r>
              <a:rPr lang="en-US" sz="1800" dirty="0"/>
              <a:t> key,…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Khó</a:t>
            </a:r>
            <a:r>
              <a:rPr lang="en-US" sz="1800" dirty="0"/>
              <a:t>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trì</a:t>
            </a:r>
            <a:r>
              <a:rPr lang="en-US" sz="1800" dirty="0"/>
              <a:t>: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model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chỉnh</a:t>
            </a:r>
            <a:r>
              <a:rPr lang="en-US" sz="1800" dirty="0"/>
              <a:t> </a:t>
            </a:r>
            <a:r>
              <a:rPr lang="en-US" sz="1800" dirty="0" err="1"/>
              <a:t>sửa</a:t>
            </a:r>
            <a:r>
              <a:rPr lang="en-US" sz="1800" dirty="0"/>
              <a:t> </a:t>
            </a:r>
            <a:r>
              <a:rPr lang="en-US" sz="1800" dirty="0" err="1"/>
              <a:t>nhiều</a:t>
            </a:r>
            <a:r>
              <a:rPr lang="en-US" sz="1800" dirty="0"/>
              <a:t> </a:t>
            </a:r>
            <a:r>
              <a:rPr lang="en-US" sz="1800" dirty="0" err="1"/>
              <a:t>chỗ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DBA12-31FD-C489-786D-AF23C4037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26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0897F607-39C7-18C5-8200-2779E2E95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69F885-E12D-48BD-0C3C-430D45BB81D9}"/>
              </a:ext>
            </a:extLst>
          </p:cNvPr>
          <p:cNvSpPr txBox="1"/>
          <p:nvPr/>
        </p:nvSpPr>
        <p:spPr>
          <a:xfrm>
            <a:off x="1205048" y="1002089"/>
            <a:ext cx="67339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Flutter </a:t>
            </a:r>
            <a:r>
              <a:rPr lang="en-US" sz="1800" dirty="0" err="1"/>
              <a:t>hỗ</a:t>
            </a:r>
            <a:r>
              <a:rPr lang="en-US" sz="1800" dirty="0"/>
              <a:t> </a:t>
            </a:r>
            <a:r>
              <a:rPr lang="en-US" sz="1800" dirty="0" err="1"/>
              <a:t>trợ</a:t>
            </a:r>
            <a:r>
              <a:rPr lang="en-US" sz="1800" dirty="0"/>
              <a:t> </a:t>
            </a:r>
            <a:r>
              <a:rPr lang="en-US" sz="1800" dirty="0" err="1"/>
              <a:t>công</a:t>
            </a:r>
            <a:r>
              <a:rPr lang="en-US" sz="1800" dirty="0"/>
              <a:t> </a:t>
            </a:r>
            <a:r>
              <a:rPr lang="en-US" sz="1800" dirty="0" err="1"/>
              <a:t>cụ</a:t>
            </a:r>
            <a:r>
              <a:rPr lang="en-US" sz="1800" dirty="0"/>
              <a:t> </a:t>
            </a:r>
            <a:r>
              <a:rPr lang="en-US" sz="1800" dirty="0" err="1"/>
              <a:t>hỗ</a:t>
            </a:r>
            <a:r>
              <a:rPr lang="en-US" sz="1800" dirty="0"/>
              <a:t> </a:t>
            </a:r>
            <a:r>
              <a:rPr lang="en-US" sz="1800" dirty="0" err="1"/>
              <a:t>trợ</a:t>
            </a:r>
            <a:r>
              <a:rPr lang="en-US" sz="1800" dirty="0"/>
              <a:t> </a:t>
            </a:r>
            <a:r>
              <a:rPr lang="en-GB" sz="1800" dirty="0" err="1"/>
              <a:t>tự</a:t>
            </a:r>
            <a:r>
              <a:rPr lang="en-GB" sz="1800" dirty="0"/>
              <a:t> </a:t>
            </a:r>
            <a:r>
              <a:rPr lang="en-GB" sz="1800" dirty="0" err="1"/>
              <a:t>động</a:t>
            </a:r>
            <a:r>
              <a:rPr lang="en-GB" sz="1800" dirty="0"/>
              <a:t> </a:t>
            </a:r>
            <a:r>
              <a:rPr lang="en-GB" sz="1800" dirty="0" err="1"/>
              <a:t>sinh</a:t>
            </a:r>
            <a:r>
              <a:rPr lang="en-GB" sz="1800" dirty="0"/>
              <a:t> </a:t>
            </a:r>
            <a:r>
              <a:rPr lang="en-GB" sz="1800" dirty="0" err="1"/>
              <a:t>mã</a:t>
            </a:r>
            <a:r>
              <a:rPr lang="en-GB" sz="1800" dirty="0"/>
              <a:t> (code generation) </a:t>
            </a:r>
            <a:r>
              <a:rPr lang="en-GB" sz="1800" dirty="0" err="1"/>
              <a:t>cho</a:t>
            </a:r>
            <a:r>
              <a:rPr lang="en-GB" sz="1800" dirty="0"/>
              <a:t> </a:t>
            </a:r>
            <a:r>
              <a:rPr lang="en-GB" sz="1800" dirty="0" err="1"/>
              <a:t>quá</a:t>
            </a:r>
            <a:r>
              <a:rPr lang="en-GB" sz="1800" dirty="0"/>
              <a:t> </a:t>
            </a:r>
            <a:r>
              <a:rPr lang="en-GB" sz="1800" dirty="0" err="1"/>
              <a:t>trình</a:t>
            </a:r>
            <a:r>
              <a:rPr lang="en-GB" sz="1800" dirty="0"/>
              <a:t> serialization.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800" dirty="0"/>
          </a:p>
          <a:p>
            <a:pPr algn="just"/>
            <a:r>
              <a:rPr lang="en-GB" sz="1800" dirty="0" err="1"/>
              <a:t>Cơ</a:t>
            </a:r>
            <a:r>
              <a:rPr lang="en-GB" sz="1800" dirty="0"/>
              <a:t> </a:t>
            </a:r>
            <a:r>
              <a:rPr lang="en-GB" sz="1800" dirty="0" err="1"/>
              <a:t>chế</a:t>
            </a:r>
            <a:r>
              <a:rPr lang="en-GB" sz="1800" dirty="0"/>
              <a:t> </a:t>
            </a:r>
            <a:r>
              <a:rPr lang="en-GB" sz="1800" dirty="0" err="1"/>
              <a:t>hoạt</a:t>
            </a:r>
            <a:r>
              <a:rPr lang="en-GB" sz="1800" dirty="0"/>
              <a:t> </a:t>
            </a:r>
            <a:r>
              <a:rPr lang="en-GB" sz="1800" dirty="0" err="1"/>
              <a:t>động</a:t>
            </a:r>
            <a:r>
              <a:rPr lang="en-GB" sz="1800" dirty="0"/>
              <a:t>: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b="1" dirty="0" err="1"/>
              <a:t>json_annotation</a:t>
            </a:r>
            <a:r>
              <a:rPr lang="en-GB" sz="1800" b="1" dirty="0"/>
              <a:t>: </a:t>
            </a:r>
            <a:r>
              <a:rPr lang="en-GB" sz="1800" dirty="0"/>
              <a:t>Cung </a:t>
            </a:r>
            <a:r>
              <a:rPr lang="en-GB" sz="1800" dirty="0" err="1"/>
              <a:t>cấp</a:t>
            </a:r>
            <a:r>
              <a:rPr lang="en-GB" sz="1800" dirty="0"/>
              <a:t> annotations (</a:t>
            </a:r>
            <a:r>
              <a:rPr lang="en-GB" sz="1800" dirty="0" err="1"/>
              <a:t>chú</a:t>
            </a:r>
            <a:r>
              <a:rPr lang="en-GB" sz="1800" dirty="0"/>
              <a:t> </a:t>
            </a:r>
            <a:r>
              <a:rPr lang="en-GB" sz="1800" dirty="0" err="1"/>
              <a:t>thích</a:t>
            </a:r>
            <a:r>
              <a:rPr lang="en-GB" sz="1800" dirty="0"/>
              <a:t>) </a:t>
            </a:r>
            <a:r>
              <a:rPr lang="en-GB" sz="1800" dirty="0" err="1"/>
              <a:t>để</a:t>
            </a:r>
            <a:r>
              <a:rPr lang="en-GB" sz="1800" dirty="0"/>
              <a:t> </a:t>
            </a:r>
            <a:r>
              <a:rPr lang="en-GB" sz="1800" dirty="0" err="1"/>
              <a:t>đánh</a:t>
            </a:r>
            <a:r>
              <a:rPr lang="en-GB" sz="1800" dirty="0"/>
              <a:t> </a:t>
            </a:r>
            <a:r>
              <a:rPr lang="en-GB" sz="1800" dirty="0" err="1"/>
              <a:t>dấu</a:t>
            </a:r>
            <a:r>
              <a:rPr lang="en-GB" sz="1800" dirty="0"/>
              <a:t> class </a:t>
            </a:r>
            <a:r>
              <a:rPr lang="en-GB" sz="1800" dirty="0" err="1"/>
              <a:t>cần</a:t>
            </a:r>
            <a:r>
              <a:rPr lang="en-GB" sz="1800" dirty="0"/>
              <a:t> generate code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b="1" dirty="0" err="1"/>
              <a:t>build_runner</a:t>
            </a:r>
            <a:r>
              <a:rPr lang="en-GB" sz="1800" b="1" dirty="0"/>
              <a:t>: </a:t>
            </a:r>
            <a:r>
              <a:rPr lang="en-GB" sz="1800" dirty="0"/>
              <a:t>Công </a:t>
            </a:r>
            <a:r>
              <a:rPr lang="en-GB" sz="1800" dirty="0" err="1"/>
              <a:t>cụ</a:t>
            </a:r>
            <a:r>
              <a:rPr lang="en-GB" sz="1800" dirty="0"/>
              <a:t> </a:t>
            </a:r>
            <a:r>
              <a:rPr lang="en-GB" sz="1800" dirty="0" err="1"/>
              <a:t>thực</a:t>
            </a:r>
            <a:r>
              <a:rPr lang="en-GB" sz="1800" dirty="0"/>
              <a:t> </a:t>
            </a:r>
            <a:r>
              <a:rPr lang="en-GB" sz="1800" dirty="0" err="1"/>
              <a:t>thi</a:t>
            </a:r>
            <a:r>
              <a:rPr lang="en-GB" sz="1800" dirty="0"/>
              <a:t> </a:t>
            </a:r>
            <a:r>
              <a:rPr lang="en-GB" sz="1800" dirty="0" err="1"/>
              <a:t>quá</a:t>
            </a:r>
            <a:r>
              <a:rPr lang="en-GB" sz="1800" dirty="0"/>
              <a:t> </a:t>
            </a:r>
            <a:r>
              <a:rPr lang="en-GB" sz="1800" dirty="0" err="1"/>
              <a:t>trình</a:t>
            </a:r>
            <a:r>
              <a:rPr lang="en-GB" sz="1800" dirty="0"/>
              <a:t> code generation, </a:t>
            </a:r>
            <a:r>
              <a:rPr lang="en-GB" sz="1800" dirty="0" err="1"/>
              <a:t>tự</a:t>
            </a:r>
            <a:r>
              <a:rPr lang="en-GB" sz="1800" dirty="0"/>
              <a:t> </a:t>
            </a:r>
            <a:r>
              <a:rPr lang="en-GB" sz="1800" dirty="0" err="1"/>
              <a:t>động</a:t>
            </a:r>
            <a:r>
              <a:rPr lang="en-GB" sz="1800" dirty="0"/>
              <a:t> </a:t>
            </a:r>
            <a:r>
              <a:rPr lang="en-GB" sz="1800" dirty="0" err="1"/>
              <a:t>tạo</a:t>
            </a:r>
            <a:r>
              <a:rPr lang="en-GB" sz="1800" dirty="0"/>
              <a:t> </a:t>
            </a:r>
            <a:r>
              <a:rPr lang="en-GB" sz="1800" dirty="0" err="1"/>
              <a:t>ra</a:t>
            </a:r>
            <a:r>
              <a:rPr lang="en-GB" sz="1800" dirty="0"/>
              <a:t> </a:t>
            </a:r>
            <a:r>
              <a:rPr lang="en-GB" sz="1800" dirty="0" err="1"/>
              <a:t>phần</a:t>
            </a:r>
            <a:r>
              <a:rPr lang="en-GB" sz="1800" dirty="0"/>
              <a:t> </a:t>
            </a:r>
            <a:r>
              <a:rPr lang="en-GB" sz="1800" dirty="0" err="1"/>
              <a:t>mã</a:t>
            </a:r>
            <a:r>
              <a:rPr lang="en-GB" sz="1800" dirty="0"/>
              <a:t> </a:t>
            </a:r>
            <a:r>
              <a:rPr lang="en-GB" sz="1800" dirty="0" err="1"/>
              <a:t>toJson</a:t>
            </a:r>
            <a:r>
              <a:rPr lang="en-GB" sz="1800" dirty="0"/>
              <a:t>() </a:t>
            </a:r>
            <a:r>
              <a:rPr lang="en-GB" sz="1800" dirty="0" err="1"/>
              <a:t>và</a:t>
            </a:r>
            <a:r>
              <a:rPr lang="en-GB" sz="1800" dirty="0"/>
              <a:t> </a:t>
            </a:r>
            <a:r>
              <a:rPr lang="en-GB" sz="1800" dirty="0" err="1"/>
              <a:t>fromJson</a:t>
            </a:r>
            <a:r>
              <a:rPr lang="en-GB" sz="1800" dirty="0"/>
              <a:t>() </a:t>
            </a:r>
            <a:r>
              <a:rPr lang="en-GB" sz="1800" dirty="0" err="1"/>
              <a:t>dựa</a:t>
            </a:r>
            <a:r>
              <a:rPr lang="en-GB" sz="1800" dirty="0"/>
              <a:t> </a:t>
            </a:r>
            <a:r>
              <a:rPr lang="en-GB" sz="1800" dirty="0" err="1"/>
              <a:t>trên</a:t>
            </a:r>
            <a:r>
              <a:rPr lang="en-GB" sz="1800" dirty="0"/>
              <a:t> </a:t>
            </a:r>
            <a:r>
              <a:rPr lang="en-GB" sz="1800" dirty="0" err="1"/>
              <a:t>các</a:t>
            </a:r>
            <a:r>
              <a:rPr lang="en-GB" sz="1800" dirty="0"/>
              <a:t> annotation </a:t>
            </a:r>
            <a:r>
              <a:rPr lang="en-GB" sz="1800" dirty="0" err="1"/>
              <a:t>đã</a:t>
            </a:r>
            <a:r>
              <a:rPr lang="en-GB" sz="1800" dirty="0"/>
              <a:t> </a:t>
            </a:r>
            <a:r>
              <a:rPr lang="en-GB" sz="1800" dirty="0" err="1"/>
              <a:t>khai</a:t>
            </a:r>
            <a:r>
              <a:rPr lang="en-GB" sz="1800" dirty="0"/>
              <a:t> </a:t>
            </a:r>
            <a:r>
              <a:rPr lang="en-GB" sz="1800" dirty="0" err="1"/>
              <a:t>báo</a:t>
            </a:r>
            <a:r>
              <a:rPr lang="en-GB" sz="1800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04D8A5-60C9-EA82-77C9-7D4D6ADC0D5B}"/>
              </a:ext>
            </a:extLst>
          </p:cNvPr>
          <p:cNvSpPr/>
          <p:nvPr/>
        </p:nvSpPr>
        <p:spPr>
          <a:xfrm>
            <a:off x="609836" y="-1155"/>
            <a:ext cx="739116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Automated Serialization (using code generation)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4BDD3F-51DE-E59B-B0BF-B3B99D64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14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CEFAFCE-26B7-AD35-E2F6-45A78B15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121125-6FFF-7134-58C3-64C408708634}"/>
              </a:ext>
            </a:extLst>
          </p:cNvPr>
          <p:cNvSpPr/>
          <p:nvPr/>
        </p:nvSpPr>
        <p:spPr>
          <a:xfrm>
            <a:off x="609836" y="-1155"/>
            <a:ext cx="739116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Automated Serialization (using code generation)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77F7B-702E-347A-A929-469A79EA3AE5}"/>
              </a:ext>
            </a:extLst>
          </p:cNvPr>
          <p:cNvSpPr txBox="1"/>
          <p:nvPr/>
        </p:nvSpPr>
        <p:spPr>
          <a:xfrm>
            <a:off x="683814" y="818819"/>
            <a:ext cx="7391163" cy="397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b="1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Cách</a:t>
            </a:r>
            <a:r>
              <a:rPr lang="en-GB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1: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Chạy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lệnh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sau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terminal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dự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án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Flutter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để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tự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cài</a:t>
            </a:r>
            <a:r>
              <a:rPr lang="en-GB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gói</a:t>
            </a:r>
            <a:endParaRPr lang="en-US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flutter pub add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json_annotation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dev:build_runner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dev:json_serializable</a:t>
            </a:r>
            <a:endParaRPr lang="en-US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Cách</a:t>
            </a:r>
            <a:r>
              <a:rPr lang="en-US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2: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Thêm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gói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thủ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công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+mj-lt"/>
              </a:rPr>
              <a:t>bằng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cách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vào</a:t>
            </a:r>
            <a:r>
              <a:rPr lang="en-GB" dirty="0">
                <a:latin typeface="+mj-lt"/>
              </a:rPr>
              <a:t> file </a:t>
            </a:r>
            <a:r>
              <a:rPr lang="en-GB" dirty="0" err="1">
                <a:latin typeface="+mj-lt"/>
              </a:rPr>
              <a:t>pubspec.yaml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và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thêm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dòng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sau</a:t>
            </a:r>
            <a:endParaRPr lang="en-GB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GB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GB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GB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GB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GB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GB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GB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dirty="0">
                <a:latin typeface="+mj-lt"/>
              </a:rPr>
              <a:t>Sau </a:t>
            </a:r>
            <a:r>
              <a:rPr lang="en-GB" dirty="0" err="1">
                <a:latin typeface="+mj-lt"/>
              </a:rPr>
              <a:t>đó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chạy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lệnh</a:t>
            </a:r>
            <a:r>
              <a:rPr lang="en-GB" dirty="0">
                <a:latin typeface="+mj-lt"/>
              </a:rPr>
              <a:t> </a:t>
            </a:r>
            <a:r>
              <a:rPr lang="en-GB" b="1" dirty="0">
                <a:latin typeface="+mj-lt"/>
              </a:rPr>
              <a:t>flutter pub get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để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tải</a:t>
            </a:r>
            <a:r>
              <a:rPr lang="en-GB" dirty="0">
                <a:latin typeface="+mj-lt"/>
              </a:rPr>
              <a:t> package</a:t>
            </a:r>
            <a:endParaRPr lang="en-US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39B6C9C-0CD7-CB9C-EEFE-90A069CC7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560" y="2198673"/>
            <a:ext cx="2799715" cy="21945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630C6F-2574-3C1E-BDDA-E602D57AB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02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8767EC97-0E49-BA92-86FB-6994E67C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15BA93-084F-9A96-A176-613B84DD701C}"/>
              </a:ext>
            </a:extLst>
          </p:cNvPr>
          <p:cNvSpPr/>
          <p:nvPr/>
        </p:nvSpPr>
        <p:spPr>
          <a:xfrm>
            <a:off x="609836" y="-1155"/>
            <a:ext cx="739116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Automated Serialization (using code generation)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DFEC87-C8E5-B5B3-3420-4B67AB18A428}"/>
              </a:ext>
            </a:extLst>
          </p:cNvPr>
          <p:cNvSpPr txBox="1"/>
          <p:nvPr/>
        </p:nvSpPr>
        <p:spPr>
          <a:xfrm>
            <a:off x="5029275" y="1308676"/>
            <a:ext cx="380980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Tạo</a:t>
            </a:r>
            <a:r>
              <a:rPr lang="en-US" sz="1600" dirty="0"/>
              <a:t> model classes </a:t>
            </a:r>
            <a:r>
              <a:rPr lang="en-US" sz="1600" dirty="0" err="1"/>
              <a:t>với</a:t>
            </a:r>
            <a:r>
              <a:rPr lang="en-US" sz="1600" dirty="0"/>
              <a:t> annotation</a:t>
            </a:r>
          </a:p>
          <a:p>
            <a:endParaRPr lang="en-US" sz="1600" dirty="0"/>
          </a:p>
          <a:p>
            <a:r>
              <a:rPr lang="en-US" sz="1600" dirty="0" err="1"/>
              <a:t>Tạo</a:t>
            </a:r>
            <a:r>
              <a:rPr lang="en-US" sz="1600" dirty="0"/>
              <a:t> class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b="1" dirty="0"/>
              <a:t>@JsonSerializable()</a:t>
            </a:r>
            <a:r>
              <a:rPr lang="en-US" sz="1600" dirty="0"/>
              <a:t> annotation:</a:t>
            </a:r>
          </a:p>
          <a:p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part '</a:t>
            </a:r>
            <a:r>
              <a:rPr lang="en-US" sz="1600" dirty="0" err="1"/>
              <a:t>filename.g.dart</a:t>
            </a:r>
            <a:r>
              <a:rPr lang="en-US" sz="1600" dirty="0"/>
              <a:t>': Khai </a:t>
            </a:r>
            <a:r>
              <a:rPr lang="en-US" sz="1600" dirty="0" err="1"/>
              <a:t>báo</a:t>
            </a:r>
            <a:r>
              <a:rPr lang="en-US" sz="1600" dirty="0"/>
              <a:t> file </a:t>
            </a:r>
            <a:r>
              <a:rPr lang="en-US" sz="1600" dirty="0" err="1"/>
              <a:t>sẽ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generate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@JsonSerializable(): </a:t>
            </a:r>
            <a:r>
              <a:rPr lang="en-US" sz="1600" dirty="0" err="1"/>
              <a:t>Đánh</a:t>
            </a:r>
            <a:r>
              <a:rPr lang="en-US" sz="1600" dirty="0"/>
              <a:t> </a:t>
            </a:r>
            <a:r>
              <a:rPr lang="en-US" sz="1600" dirty="0" err="1"/>
              <a:t>dấu</a:t>
            </a:r>
            <a:r>
              <a:rPr lang="en-US" sz="1600" dirty="0"/>
              <a:t> class </a:t>
            </a:r>
            <a:r>
              <a:rPr lang="en-US" sz="1600" dirty="0" err="1"/>
              <a:t>cần</a:t>
            </a:r>
            <a:r>
              <a:rPr lang="en-US" sz="1600" dirty="0"/>
              <a:t> generate code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Các method _$</a:t>
            </a:r>
            <a:r>
              <a:rPr lang="en-US" sz="1600" dirty="0" err="1"/>
              <a:t>ClassFromJson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_$</a:t>
            </a:r>
            <a:r>
              <a:rPr lang="en-US" sz="1600" dirty="0" err="1"/>
              <a:t>ClassToJson</a:t>
            </a:r>
            <a:r>
              <a:rPr lang="en-US" sz="1600" dirty="0"/>
              <a:t> </a:t>
            </a:r>
            <a:r>
              <a:rPr lang="en-US" sz="1600" dirty="0" err="1"/>
              <a:t>sẽ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tự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endParaRPr lang="en-US" sz="1600" dirty="0"/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3EAA5D4-F964-39F2-ABCE-FD23D39E8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78" y="881744"/>
            <a:ext cx="4711604" cy="38012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CF50B9-2005-1140-1A15-0366883ED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24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59F3B25-6880-2B40-F979-A072D13B7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760673-F5D3-DBEF-6045-13B2EE7D78D0}"/>
              </a:ext>
            </a:extLst>
          </p:cNvPr>
          <p:cNvSpPr/>
          <p:nvPr/>
        </p:nvSpPr>
        <p:spPr>
          <a:xfrm>
            <a:off x="609836" y="-1155"/>
            <a:ext cx="739116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Automated Serialization (using code generation)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8C8088-FF27-68BD-F252-5137A64AEA40}"/>
              </a:ext>
            </a:extLst>
          </p:cNvPr>
          <p:cNvSpPr txBox="1"/>
          <p:nvPr/>
        </p:nvSpPr>
        <p:spPr>
          <a:xfrm>
            <a:off x="4970493" y="1679761"/>
            <a:ext cx="427801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Sau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tạo</a:t>
            </a:r>
            <a:r>
              <a:rPr lang="en-US" sz="1600" dirty="0"/>
              <a:t> model class, </a:t>
            </a:r>
            <a:r>
              <a:rPr lang="en-US" sz="1600" dirty="0" err="1"/>
              <a:t>chạy</a:t>
            </a:r>
            <a:r>
              <a:rPr lang="en-US" sz="1600" dirty="0"/>
              <a:t> </a:t>
            </a:r>
            <a:r>
              <a:rPr lang="en-US" sz="1600" dirty="0" err="1"/>
              <a:t>lệnh</a:t>
            </a:r>
            <a:r>
              <a:rPr lang="en-US" sz="1600" dirty="0"/>
              <a:t>: </a:t>
            </a:r>
          </a:p>
          <a:p>
            <a:r>
              <a:rPr lang="en-US" sz="1600" dirty="0"/>
              <a:t>flutter pub run </a:t>
            </a:r>
            <a:r>
              <a:rPr lang="en-US" sz="1600" dirty="0" err="1"/>
              <a:t>build_runner</a:t>
            </a:r>
            <a:r>
              <a:rPr lang="en-US" sz="1600" dirty="0"/>
              <a:t> build</a:t>
            </a:r>
          </a:p>
          <a:p>
            <a:endParaRPr lang="en-US" sz="1600" b="1" dirty="0"/>
          </a:p>
          <a:p>
            <a:r>
              <a:rPr lang="en-US" sz="1600" b="1" dirty="0"/>
              <a:t>Build runner </a:t>
            </a:r>
            <a:r>
              <a:rPr lang="en-US" sz="1600" dirty="0" err="1"/>
              <a:t>sẽ</a:t>
            </a:r>
            <a:r>
              <a:rPr lang="en-US" sz="1600" b="1" dirty="0"/>
              <a:t>: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Quét</a:t>
            </a:r>
            <a:r>
              <a:rPr lang="en-US" sz="1600" dirty="0"/>
              <a:t> </a:t>
            </a:r>
            <a:r>
              <a:rPr lang="en-US" sz="1600" dirty="0" err="1"/>
              <a:t>tất</a:t>
            </a:r>
            <a:r>
              <a:rPr lang="en-US" sz="1600" dirty="0"/>
              <a:t> </a:t>
            </a:r>
            <a:r>
              <a:rPr lang="en-US" sz="1600" dirty="0" err="1"/>
              <a:t>cả</a:t>
            </a:r>
            <a:r>
              <a:rPr lang="en-US" sz="1600" dirty="0"/>
              <a:t> class </a:t>
            </a:r>
            <a:r>
              <a:rPr lang="en-US" sz="1600" dirty="0" err="1"/>
              <a:t>có</a:t>
            </a:r>
            <a:r>
              <a:rPr lang="en-US" sz="1600" dirty="0"/>
              <a:t> @JsonSerializable()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Tự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generate file *.</a:t>
            </a:r>
            <a:r>
              <a:rPr lang="en-US" sz="1600" dirty="0" err="1"/>
              <a:t>g.dart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đầy</a:t>
            </a:r>
            <a:r>
              <a:rPr lang="en-US" sz="1600" dirty="0"/>
              <a:t> </a:t>
            </a:r>
            <a:r>
              <a:rPr lang="en-US" sz="1600" dirty="0" err="1"/>
              <a:t>đủ</a:t>
            </a:r>
            <a:r>
              <a:rPr lang="en-US" sz="1600" dirty="0"/>
              <a:t> serialization code</a:t>
            </a:r>
          </a:p>
          <a:p>
            <a:endParaRPr lang="en-US" sz="1600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55B2AE8-7637-DA86-7EB4-A343538CD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20" y="908411"/>
            <a:ext cx="4390135" cy="37615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A32AA78-14CB-8B44-0BD4-465747D53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32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3EE8245-471C-60E8-AA08-B9EB8439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46565E-3049-717D-0393-FB60BEEACB11}"/>
              </a:ext>
            </a:extLst>
          </p:cNvPr>
          <p:cNvSpPr/>
          <p:nvPr/>
        </p:nvSpPr>
        <p:spPr>
          <a:xfrm>
            <a:off x="609836" y="-1155"/>
            <a:ext cx="739116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Automated Serialization (using code generation)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30CDF-9F0E-DD3B-CC85-3F5CE01084E0}"/>
              </a:ext>
            </a:extLst>
          </p:cNvPr>
          <p:cNvSpPr txBox="1"/>
          <p:nvPr/>
        </p:nvSpPr>
        <p:spPr>
          <a:xfrm>
            <a:off x="4452004" y="2827784"/>
            <a:ext cx="4228265" cy="1978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u="sng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MANUAL SERIALIZATION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Dễ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hiểu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cần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setup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phức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tạp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Nhược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Tốn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công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khó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bảo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trì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project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lớn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u="sng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AUTOMATED SERIALIZATION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Hiệu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quả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ít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lỗi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dễ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mở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rộng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Nhược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Cần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setup ban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phụ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thuộc</a:t>
            </a:r>
            <a:r>
              <a:rPr lang="en-US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tool.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643DB3B-2D9E-7F91-A588-E011EDA6E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07" y="662939"/>
            <a:ext cx="3587696" cy="4052751"/>
          </a:xfrm>
          <a:prstGeom prst="rect">
            <a:avLst/>
          </a:prstGeom>
        </p:spPr>
      </p:pic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3D63359-430E-B467-680A-F8EA99BFD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004" y="662940"/>
            <a:ext cx="3424730" cy="216484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B061008-D3CA-C924-AAE1-ABD84B20F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42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B24BB4A6-9AE5-FFE6-9072-002688CE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D4BB40-1076-ED06-B4CC-DF2ABCE7CAAB}"/>
              </a:ext>
            </a:extLst>
          </p:cNvPr>
          <p:cNvSpPr/>
          <p:nvPr/>
        </p:nvSpPr>
        <p:spPr>
          <a:xfrm>
            <a:off x="609835" y="-1155"/>
            <a:ext cx="8312095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3. Best practices </a:t>
            </a:r>
            <a:r>
              <a:rPr lang="en-US" sz="2400" b="1" dirty="0" err="1">
                <a:solidFill>
                  <a:srgbClr val="2073BE"/>
                </a:solidFill>
              </a:rPr>
              <a:t>cho</a:t>
            </a:r>
            <a:r>
              <a:rPr lang="en-US" sz="2400" b="1" dirty="0">
                <a:solidFill>
                  <a:srgbClr val="2073BE"/>
                </a:solidFill>
              </a:rPr>
              <a:t> complex data structures</a:t>
            </a:r>
            <a:endParaRPr lang="en-US" sz="2400" dirty="0">
              <a:solidFill>
                <a:srgbClr val="2073B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D63A6E-F53B-3392-3AD9-C3CE1EC6E3D8}"/>
              </a:ext>
            </a:extLst>
          </p:cNvPr>
          <p:cNvSpPr txBox="1"/>
          <p:nvPr/>
        </p:nvSpPr>
        <p:spPr>
          <a:xfrm>
            <a:off x="1550076" y="1202674"/>
            <a:ext cx="603291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Tạo</a:t>
            </a:r>
            <a:r>
              <a:rPr lang="en-US" sz="1800" dirty="0"/>
              <a:t> model class </a:t>
            </a:r>
            <a:r>
              <a:rPr lang="en-US" sz="1800" dirty="0" err="1"/>
              <a:t>riêng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từng</a:t>
            </a:r>
            <a:r>
              <a:rPr lang="en-US" sz="1800" dirty="0"/>
              <a:t>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dirty="0" err="1"/>
              <a:t>Dùng</a:t>
            </a:r>
            <a:r>
              <a:rPr lang="en-US" sz="1800" dirty="0"/>
              <a:t> </a:t>
            </a:r>
            <a:r>
              <a:rPr lang="en-US" sz="1800" dirty="0" err="1"/>
              <a:t>thư</a:t>
            </a:r>
            <a:r>
              <a:rPr lang="en-US" sz="1800" dirty="0"/>
              <a:t> </a:t>
            </a:r>
            <a:r>
              <a:rPr lang="en-US" sz="1800" dirty="0" err="1"/>
              <a:t>viện</a:t>
            </a:r>
            <a:r>
              <a:rPr lang="en-US" sz="1800" dirty="0"/>
              <a:t> </a:t>
            </a:r>
            <a:r>
              <a:rPr lang="en-US" sz="1800" dirty="0" err="1"/>
              <a:t>json_serialization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tạo</a:t>
            </a:r>
            <a:r>
              <a:rPr lang="en-US" sz="1800" dirty="0"/>
              <a:t> code </a:t>
            </a:r>
            <a:r>
              <a:rPr lang="en-US" sz="1800" dirty="0" err="1"/>
              <a:t>giúp</a:t>
            </a:r>
            <a:r>
              <a:rPr lang="en-US" sz="1800" dirty="0"/>
              <a:t> code </a:t>
            </a:r>
            <a:r>
              <a:rPr lang="en-US" sz="1800" dirty="0" err="1"/>
              <a:t>gọn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tránh</a:t>
            </a:r>
            <a:r>
              <a:rPr lang="en-US" sz="1800" dirty="0"/>
              <a:t> </a:t>
            </a:r>
            <a:r>
              <a:rPr lang="en-US" sz="1800" dirty="0" err="1"/>
              <a:t>lỗi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Xử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 null, </a:t>
            </a:r>
            <a:r>
              <a:rPr lang="en-US" sz="1800" dirty="0" err="1"/>
              <a:t>chỉ</a:t>
            </a:r>
            <a:r>
              <a:rPr lang="en-US" sz="1800" dirty="0"/>
              <a:t> </a:t>
            </a:r>
            <a:r>
              <a:rPr lang="en-US" sz="1800" dirty="0" err="1"/>
              <a:t>định</a:t>
            </a:r>
            <a:r>
              <a:rPr lang="en-US" sz="1800" dirty="0"/>
              <a:t> </a:t>
            </a:r>
            <a:r>
              <a:rPr lang="en-US" sz="1800" dirty="0" err="1"/>
              <a:t>kiểu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rõ</a:t>
            </a:r>
            <a:r>
              <a:rPr lang="en-US" sz="1800" dirty="0"/>
              <a:t> </a:t>
            </a:r>
            <a:r>
              <a:rPr lang="en-US" sz="1800" dirty="0" err="1"/>
              <a:t>ràng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Khi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JSON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cấu</a:t>
            </a:r>
            <a:r>
              <a:rPr lang="en-US" sz="1800" dirty="0"/>
              <a:t> </a:t>
            </a:r>
            <a:r>
              <a:rPr lang="en-US" sz="1800" dirty="0" err="1"/>
              <a:t>trúc</a:t>
            </a:r>
            <a:r>
              <a:rPr lang="en-US" sz="1800" dirty="0"/>
              <a:t> </a:t>
            </a:r>
            <a:r>
              <a:rPr lang="en-US" sz="1800" dirty="0" err="1"/>
              <a:t>phức</a:t>
            </a:r>
            <a:r>
              <a:rPr lang="en-US" sz="1800" dirty="0"/>
              <a:t> </a:t>
            </a:r>
            <a:r>
              <a:rPr lang="en-US" sz="1800" dirty="0" err="1"/>
              <a:t>tạp</a:t>
            </a:r>
            <a:r>
              <a:rPr lang="en-US" sz="1800" dirty="0"/>
              <a:t> </a:t>
            </a:r>
            <a:r>
              <a:rPr lang="en-US" sz="1800" dirty="0" err="1"/>
              <a:t>nhiều</a:t>
            </a:r>
            <a:r>
              <a:rPr lang="en-US" sz="1800" dirty="0"/>
              <a:t> </a:t>
            </a:r>
            <a:r>
              <a:rPr lang="en-US" sz="1800" dirty="0" err="1"/>
              <a:t>cấp</a:t>
            </a:r>
            <a:r>
              <a:rPr lang="en-US" sz="1800" dirty="0"/>
              <a:t> </a:t>
            </a:r>
            <a:r>
              <a:rPr lang="en-US" sz="1800" dirty="0" err="1"/>
              <a:t>lồng</a:t>
            </a:r>
            <a:r>
              <a:rPr lang="en-US" sz="1800" dirty="0"/>
              <a:t> </a:t>
            </a:r>
            <a:r>
              <a:rPr lang="en-US" sz="1800" dirty="0" err="1"/>
              <a:t>nhau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nhiều</a:t>
            </a:r>
            <a:r>
              <a:rPr lang="en-US" sz="1800" dirty="0"/>
              <a:t> </a:t>
            </a:r>
            <a:r>
              <a:rPr lang="en-US" sz="1800" dirty="0" err="1"/>
              <a:t>kiểu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khác</a:t>
            </a:r>
            <a:r>
              <a:rPr lang="en-US" sz="1800" dirty="0"/>
              <a:t> </a:t>
            </a:r>
            <a:r>
              <a:rPr lang="en-US" sz="1800" dirty="0" err="1"/>
              <a:t>nhau</a:t>
            </a:r>
            <a:r>
              <a:rPr lang="en-US" sz="1800" dirty="0"/>
              <a:t> </a:t>
            </a:r>
            <a:r>
              <a:rPr lang="en-US" sz="1800" dirty="0" err="1"/>
              <a:t>thì</a:t>
            </a:r>
            <a:r>
              <a:rPr lang="en-US" sz="1800" dirty="0"/>
              <a:t> </a:t>
            </a:r>
            <a:r>
              <a:rPr lang="en-US" sz="1800" dirty="0" err="1"/>
              <a:t>việc</a:t>
            </a:r>
            <a:r>
              <a:rPr lang="en-US" sz="1800" dirty="0"/>
              <a:t> serialize/deserialize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còn</a:t>
            </a:r>
            <a:r>
              <a:rPr lang="en-US" sz="1800" dirty="0"/>
              <a:t> </a:t>
            </a:r>
            <a:r>
              <a:rPr lang="en-US" sz="1800" dirty="0" err="1"/>
              <a:t>thuận</a:t>
            </a:r>
            <a:r>
              <a:rPr lang="en-US" sz="1800" dirty="0"/>
              <a:t> </a:t>
            </a:r>
            <a:r>
              <a:rPr lang="en-US" sz="1800" dirty="0" err="1"/>
              <a:t>lợi</a:t>
            </a:r>
            <a:r>
              <a:rPr lang="en-US" sz="1800" dirty="0"/>
              <a:t>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3F27C2-DA04-41ED-3A64-341D6687B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49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B6BCD6CC-97EA-5301-726B-3A0F2CFF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9D0A2B-B9E5-D2F7-A856-5F195797466B}"/>
              </a:ext>
            </a:extLst>
          </p:cNvPr>
          <p:cNvSpPr/>
          <p:nvPr/>
        </p:nvSpPr>
        <p:spPr>
          <a:xfrm>
            <a:off x="609835" y="-1155"/>
            <a:ext cx="8312095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3. Best practices </a:t>
            </a:r>
            <a:r>
              <a:rPr lang="en-US" sz="2400" b="1" dirty="0" err="1">
                <a:solidFill>
                  <a:srgbClr val="2073BE"/>
                </a:solidFill>
              </a:rPr>
              <a:t>cho</a:t>
            </a:r>
            <a:r>
              <a:rPr lang="en-US" sz="2400" b="1" dirty="0">
                <a:solidFill>
                  <a:srgbClr val="2073BE"/>
                </a:solidFill>
              </a:rPr>
              <a:t> complex data structures</a:t>
            </a:r>
            <a:endParaRPr lang="en-US" sz="2400" dirty="0">
              <a:solidFill>
                <a:srgbClr val="2073B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5F4D10-2169-97C0-CDEA-1D7052E59E7D}"/>
              </a:ext>
            </a:extLst>
          </p:cNvPr>
          <p:cNvSpPr txBox="1"/>
          <p:nvPr/>
        </p:nvSpPr>
        <p:spPr>
          <a:xfrm>
            <a:off x="220586" y="1725456"/>
            <a:ext cx="39921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Flutter </a:t>
            </a:r>
            <a:r>
              <a:rPr lang="en-US" sz="1800" dirty="0" err="1"/>
              <a:t>cung</a:t>
            </a:r>
            <a:r>
              <a:rPr lang="en-US" sz="1800" dirty="0"/>
              <a:t> </a:t>
            </a:r>
            <a:r>
              <a:rPr lang="en-US" sz="1800" dirty="0" err="1"/>
              <a:t>cấp</a:t>
            </a:r>
            <a:r>
              <a:rPr lang="en-US" sz="1800" dirty="0"/>
              <a:t> </a:t>
            </a:r>
            <a:r>
              <a:rPr lang="en-US" sz="1800" b="1" dirty="0"/>
              <a:t>@JsonKey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tùy</a:t>
            </a:r>
            <a:r>
              <a:rPr lang="en-US" sz="1800" dirty="0"/>
              <a:t> </a:t>
            </a:r>
            <a:r>
              <a:rPr lang="en-US" sz="1800" dirty="0" err="1"/>
              <a:t>chỉnh</a:t>
            </a:r>
            <a:r>
              <a:rPr lang="en-US" sz="1800" dirty="0"/>
              <a:t> </a:t>
            </a:r>
            <a:r>
              <a:rPr lang="en-US" sz="1800" dirty="0" err="1"/>
              <a:t>từng</a:t>
            </a:r>
            <a:r>
              <a:rPr lang="en-US" sz="1800" dirty="0"/>
              <a:t> </a:t>
            </a:r>
            <a:r>
              <a:rPr lang="en-US" sz="1800" dirty="0" err="1"/>
              <a:t>trường</a:t>
            </a:r>
            <a:r>
              <a:rPr lang="en-US" sz="1800" dirty="0"/>
              <a:t> (field) </a:t>
            </a:r>
            <a:r>
              <a:rPr lang="en-US" sz="1800" dirty="0" err="1"/>
              <a:t>trong</a:t>
            </a:r>
            <a:r>
              <a:rPr lang="en-US" sz="1800" dirty="0"/>
              <a:t> model class.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@JsonKey </a:t>
            </a: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dùng</a:t>
            </a:r>
            <a:r>
              <a:rPr lang="en-US" sz="1800" dirty="0"/>
              <a:t> </a:t>
            </a:r>
            <a:r>
              <a:rPr lang="en-US" sz="1800" dirty="0" err="1"/>
              <a:t>trước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thuộc</a:t>
            </a:r>
            <a:r>
              <a:rPr lang="en-US" sz="1800" dirty="0"/>
              <a:t> </a:t>
            </a:r>
            <a:r>
              <a:rPr lang="en-US" sz="1800" dirty="0" err="1"/>
              <a:t>tính</a:t>
            </a:r>
            <a:r>
              <a:rPr lang="en-US" sz="1800" dirty="0"/>
              <a:t> (field) </a:t>
            </a:r>
            <a:r>
              <a:rPr lang="en-US" sz="1800" dirty="0" err="1"/>
              <a:t>trong</a:t>
            </a:r>
            <a:r>
              <a:rPr lang="en-US" sz="1800" dirty="0"/>
              <a:t> class model </a:t>
            </a:r>
            <a:r>
              <a:rPr lang="en-US" sz="1800" dirty="0" err="1"/>
              <a:t>có</a:t>
            </a:r>
            <a:r>
              <a:rPr lang="en-US" sz="1800" dirty="0"/>
              <a:t> @JsonSerializable().</a:t>
            </a:r>
          </a:p>
          <a:p>
            <a:pPr algn="just"/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A329CF-8567-2D8E-9457-FBF4AE9C5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284368"/>
              </p:ext>
            </p:extLst>
          </p:nvPr>
        </p:nvGraphicFramePr>
        <p:xfrm>
          <a:off x="4467496" y="706592"/>
          <a:ext cx="4173583" cy="4139728"/>
        </p:xfrm>
        <a:graphic>
          <a:graphicData uri="http://schemas.openxmlformats.org/drawingml/2006/table">
            <a:tbl>
              <a:tblPr firstRow="1" firstCol="1" bandRow="1">
                <a:tableStyleId>{8F5872E5-C1AD-4070-BBC1-F28DE486AAC2}</a:tableStyleId>
              </a:tblPr>
              <a:tblGrid>
                <a:gridCol w="1991213">
                  <a:extLst>
                    <a:ext uri="{9D8B030D-6E8A-4147-A177-3AD203B41FA5}">
                      <a16:colId xmlns:a16="http://schemas.microsoft.com/office/drawing/2014/main" val="762491367"/>
                    </a:ext>
                  </a:extLst>
                </a:gridCol>
                <a:gridCol w="2182370">
                  <a:extLst>
                    <a:ext uri="{9D8B030D-6E8A-4147-A177-3AD203B41FA5}">
                      <a16:colId xmlns:a16="http://schemas.microsoft.com/office/drawing/2014/main" val="2029110235"/>
                    </a:ext>
                  </a:extLst>
                </a:gridCol>
              </a:tblGrid>
              <a:tr h="2379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100" dirty="0">
                          <a:effectLst/>
                        </a:rPr>
                        <a:t>THUỘC TÍNH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100" dirty="0">
                          <a:effectLst/>
                        </a:rPr>
                        <a:t>CHỨC NĂNG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853007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name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Đổi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tên</a:t>
                      </a:r>
                      <a:r>
                        <a:rPr lang="en-US" sz="1300" kern="100" dirty="0">
                          <a:effectLst/>
                        </a:rPr>
                        <a:t> key </a:t>
                      </a:r>
                      <a:r>
                        <a:rPr lang="en-US" sz="1300" kern="100" dirty="0" err="1">
                          <a:effectLst/>
                        </a:rPr>
                        <a:t>trong</a:t>
                      </a:r>
                      <a:r>
                        <a:rPr lang="en-US" sz="1300" kern="100" dirty="0">
                          <a:effectLst/>
                        </a:rPr>
                        <a:t> JSON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043458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defaultValue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Dùng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giá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trị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mặc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định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nếu</a:t>
                      </a:r>
                      <a:r>
                        <a:rPr lang="en-US" sz="1300" kern="100" dirty="0">
                          <a:effectLst/>
                        </a:rPr>
                        <a:t> JSON </a:t>
                      </a:r>
                      <a:r>
                        <a:rPr lang="en-US" sz="1300" kern="100" dirty="0" err="1">
                          <a:effectLst/>
                        </a:rPr>
                        <a:t>thiếu</a:t>
                      </a:r>
                      <a:r>
                        <a:rPr lang="en-US" sz="1300" kern="100" dirty="0">
                          <a:effectLst/>
                        </a:rPr>
                        <a:t> field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878054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required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Báo </a:t>
                      </a:r>
                      <a:r>
                        <a:rPr lang="en-US" sz="1300" kern="100" dirty="0" err="1">
                          <a:effectLst/>
                        </a:rPr>
                        <a:t>lỗi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nếu</a:t>
                      </a:r>
                      <a:r>
                        <a:rPr lang="en-US" sz="1300" kern="100" dirty="0">
                          <a:effectLst/>
                        </a:rPr>
                        <a:t> JSON </a:t>
                      </a:r>
                      <a:r>
                        <a:rPr lang="en-US" sz="1300" kern="100" dirty="0" err="1">
                          <a:effectLst/>
                        </a:rPr>
                        <a:t>không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có</a:t>
                      </a:r>
                      <a:r>
                        <a:rPr lang="en-US" sz="1300" kern="100" dirty="0">
                          <a:effectLst/>
                        </a:rPr>
                        <a:t> field </a:t>
                      </a:r>
                      <a:r>
                        <a:rPr lang="en-US" sz="1300" kern="100" dirty="0" err="1">
                          <a:effectLst/>
                        </a:rPr>
                        <a:t>này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543868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nullable 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Cho </a:t>
                      </a:r>
                      <a:r>
                        <a:rPr lang="en-US" sz="1300" kern="100" dirty="0" err="1">
                          <a:effectLst/>
                        </a:rPr>
                        <a:t>phép</a:t>
                      </a:r>
                      <a:r>
                        <a:rPr lang="en-US" sz="1300" kern="100" dirty="0">
                          <a:effectLst/>
                        </a:rPr>
                        <a:t> field </a:t>
                      </a:r>
                      <a:r>
                        <a:rPr lang="en-US" sz="1300" kern="100" dirty="0" err="1">
                          <a:effectLst/>
                        </a:rPr>
                        <a:t>được</a:t>
                      </a:r>
                      <a:r>
                        <a:rPr lang="en-US" sz="1300" kern="100" dirty="0">
                          <a:effectLst/>
                        </a:rPr>
                        <a:t> null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62589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ignore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Không</a:t>
                      </a:r>
                      <a:r>
                        <a:rPr lang="en-US" sz="1300" kern="100" dirty="0">
                          <a:effectLst/>
                        </a:rPr>
                        <a:t> serialize field </a:t>
                      </a:r>
                      <a:r>
                        <a:rPr lang="en-US" sz="1300" kern="100" dirty="0" err="1">
                          <a:effectLst/>
                        </a:rPr>
                        <a:t>này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294225"/>
                  </a:ext>
                </a:extLst>
              </a:tr>
              <a:tr h="7348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includeIfNull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Kiểm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soát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có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nên</a:t>
                      </a:r>
                      <a:r>
                        <a:rPr lang="en-US" sz="1300" kern="100" dirty="0">
                          <a:effectLst/>
                        </a:rPr>
                        <a:t> include field null </a:t>
                      </a:r>
                      <a:r>
                        <a:rPr lang="en-US" sz="1300" kern="100" dirty="0" err="1">
                          <a:effectLst/>
                        </a:rPr>
                        <a:t>không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754596"/>
                  </a:ext>
                </a:extLst>
              </a:tr>
              <a:tr h="7348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fromJson / toJson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Chỉ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định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hàm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chuyển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đổi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cho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các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giá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trị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phức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tạp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0208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BAF7714C-5C0E-5151-483E-3BE32A928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22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D39D5AC-0E08-227E-8582-C44A1553A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1A002E-53B6-ECCC-7A2E-46B5BEEE83E6}"/>
              </a:ext>
            </a:extLst>
          </p:cNvPr>
          <p:cNvSpPr/>
          <p:nvPr/>
        </p:nvSpPr>
        <p:spPr>
          <a:xfrm>
            <a:off x="609835" y="-1155"/>
            <a:ext cx="8312095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3. Best practices </a:t>
            </a:r>
            <a:r>
              <a:rPr lang="en-US" sz="2400" b="1" dirty="0" err="1">
                <a:solidFill>
                  <a:srgbClr val="2073BE"/>
                </a:solidFill>
              </a:rPr>
              <a:t>cho</a:t>
            </a:r>
            <a:r>
              <a:rPr lang="en-US" sz="2400" b="1" dirty="0">
                <a:solidFill>
                  <a:srgbClr val="2073BE"/>
                </a:solidFill>
              </a:rPr>
              <a:t> complex data structures</a:t>
            </a:r>
            <a:endParaRPr lang="en-US" sz="2400" dirty="0">
              <a:solidFill>
                <a:srgbClr val="2073BE"/>
              </a:solidFill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50D2B42-54B4-C78F-ADD6-73D5EA2D7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47" y="725533"/>
            <a:ext cx="4473382" cy="2082770"/>
          </a:xfrm>
          <a:prstGeom prst="rect">
            <a:avLst/>
          </a:prstGeom>
        </p:spPr>
      </p:pic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DA51A69-10F7-667A-4A14-A136EE402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47" y="2884834"/>
            <a:ext cx="4473382" cy="2162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480B6C-8BF6-7E96-9B15-15DA42A61BEF}"/>
              </a:ext>
            </a:extLst>
          </p:cNvPr>
          <p:cNvSpPr txBox="1"/>
          <p:nvPr/>
        </p:nvSpPr>
        <p:spPr>
          <a:xfrm>
            <a:off x="5414684" y="1322521"/>
            <a:ext cx="32917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@Jsonkey:</a:t>
            </a:r>
            <a:r>
              <a:rPr lang="en-US" sz="1600" b="1" dirty="0"/>
              <a:t>name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ánh</a:t>
            </a:r>
            <a:r>
              <a:rPr lang="en-US" sz="1600" dirty="0"/>
              <a:t> </a:t>
            </a:r>
            <a:r>
              <a:rPr lang="en-US" sz="1600" dirty="0" err="1"/>
              <a:t>xạ</a:t>
            </a:r>
            <a:r>
              <a:rPr lang="en-US" sz="1600" dirty="0"/>
              <a:t> (map)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thuộc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class </a:t>
            </a:r>
            <a:r>
              <a:rPr lang="en-US" sz="1600" dirty="0" err="1"/>
              <a:t>tới</a:t>
            </a:r>
            <a:r>
              <a:rPr lang="en-US" sz="1600" dirty="0"/>
              <a:t> </a:t>
            </a:r>
            <a:r>
              <a:rPr lang="en-US" sz="1600" dirty="0" err="1"/>
              <a:t>tên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key </a:t>
            </a:r>
            <a:r>
              <a:rPr lang="en-US" sz="1600" dirty="0" err="1"/>
              <a:t>khác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JSON.</a:t>
            </a:r>
          </a:p>
          <a:p>
            <a:pPr algn="just"/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3032A-52C2-4E11-6F0F-8059DD22D2A0}"/>
              </a:ext>
            </a:extLst>
          </p:cNvPr>
          <p:cNvSpPr txBox="1"/>
          <p:nvPr/>
        </p:nvSpPr>
        <p:spPr>
          <a:xfrm>
            <a:off x="5414684" y="3381115"/>
            <a:ext cx="32917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@Jsonkey:</a:t>
            </a:r>
            <a:r>
              <a:rPr lang="en-US" sz="1600" b="1" dirty="0"/>
              <a:t>defaultValue </a:t>
            </a:r>
            <a:r>
              <a:rPr lang="en-GB" sz="1600" dirty="0" err="1"/>
              <a:t>cung</a:t>
            </a:r>
            <a:r>
              <a:rPr lang="en-GB" sz="1600" dirty="0"/>
              <a:t> </a:t>
            </a:r>
            <a:r>
              <a:rPr lang="en-GB" sz="1600" dirty="0" err="1"/>
              <a:t>cấp</a:t>
            </a:r>
            <a:r>
              <a:rPr lang="en-GB" sz="1600" dirty="0"/>
              <a:t> </a:t>
            </a:r>
            <a:r>
              <a:rPr lang="en-GB" sz="1600" dirty="0" err="1"/>
              <a:t>giá</a:t>
            </a:r>
            <a:r>
              <a:rPr lang="en-GB" sz="1600" dirty="0"/>
              <a:t> </a:t>
            </a:r>
            <a:r>
              <a:rPr lang="en-GB" sz="1600" dirty="0" err="1"/>
              <a:t>trị</a:t>
            </a:r>
            <a:r>
              <a:rPr lang="en-GB" sz="1600" dirty="0"/>
              <a:t> </a:t>
            </a:r>
            <a:r>
              <a:rPr lang="en-GB" sz="1600" dirty="0" err="1"/>
              <a:t>mặc</a:t>
            </a:r>
            <a:r>
              <a:rPr lang="en-GB" sz="1600" dirty="0"/>
              <a:t> </a:t>
            </a:r>
            <a:r>
              <a:rPr lang="en-GB" sz="1600" dirty="0" err="1"/>
              <a:t>định</a:t>
            </a:r>
            <a:r>
              <a:rPr lang="en-GB" sz="1600" dirty="0"/>
              <a:t> </a:t>
            </a:r>
            <a:r>
              <a:rPr lang="en-GB" sz="1600" dirty="0" err="1"/>
              <a:t>nếu</a:t>
            </a:r>
            <a:r>
              <a:rPr lang="en-GB" sz="1600" dirty="0"/>
              <a:t> key </a:t>
            </a:r>
            <a:r>
              <a:rPr lang="en-GB" sz="1600" dirty="0" err="1"/>
              <a:t>bị</a:t>
            </a:r>
            <a:r>
              <a:rPr lang="en-GB" sz="1600" dirty="0"/>
              <a:t> </a:t>
            </a:r>
            <a:r>
              <a:rPr lang="en-GB" sz="1600" dirty="0" err="1"/>
              <a:t>thiếu</a:t>
            </a:r>
            <a:r>
              <a:rPr lang="en-GB" sz="1600" dirty="0"/>
              <a:t> </a:t>
            </a:r>
            <a:r>
              <a:rPr lang="en-GB" sz="1600" dirty="0" err="1"/>
              <a:t>dữ</a:t>
            </a:r>
            <a:r>
              <a:rPr lang="en-GB" sz="1600" dirty="0"/>
              <a:t> </a:t>
            </a:r>
            <a:r>
              <a:rPr lang="en-GB" sz="1600" dirty="0" err="1"/>
              <a:t>liệu</a:t>
            </a:r>
            <a:r>
              <a:rPr lang="en-GB" sz="1600" dirty="0"/>
              <a:t> </a:t>
            </a:r>
            <a:endParaRPr lang="en-US" sz="1600" dirty="0"/>
          </a:p>
          <a:p>
            <a:pPr algn="just"/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F62398-83EF-2D12-7E3D-5CB311EC8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117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5B7AC6D-1462-55D9-2508-C6665349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3EC362-1957-58D5-936A-E2E587351373}"/>
              </a:ext>
            </a:extLst>
          </p:cNvPr>
          <p:cNvSpPr/>
          <p:nvPr/>
        </p:nvSpPr>
        <p:spPr>
          <a:xfrm>
            <a:off x="609835" y="-1155"/>
            <a:ext cx="8312095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3. Best practices </a:t>
            </a:r>
            <a:r>
              <a:rPr lang="en-US" sz="2400" b="1" dirty="0" err="1">
                <a:solidFill>
                  <a:srgbClr val="2073BE"/>
                </a:solidFill>
              </a:rPr>
              <a:t>cho</a:t>
            </a:r>
            <a:r>
              <a:rPr lang="en-US" sz="2400" b="1" dirty="0">
                <a:solidFill>
                  <a:srgbClr val="2073BE"/>
                </a:solidFill>
              </a:rPr>
              <a:t> complex data structures</a:t>
            </a:r>
            <a:endParaRPr lang="en-US" sz="2400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56373-B7FF-2DE1-85B9-EB162BC0979D}"/>
              </a:ext>
            </a:extLst>
          </p:cNvPr>
          <p:cNvSpPr txBox="1"/>
          <p:nvPr/>
        </p:nvSpPr>
        <p:spPr>
          <a:xfrm>
            <a:off x="309390" y="1587405"/>
            <a:ext cx="41735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 err="1"/>
              <a:t>Đôi</a:t>
            </a:r>
            <a:r>
              <a:rPr lang="en-GB" sz="1800" dirty="0"/>
              <a:t> </a:t>
            </a:r>
            <a:r>
              <a:rPr lang="en-GB" sz="1800" dirty="0" err="1"/>
              <a:t>khi</a:t>
            </a:r>
            <a:r>
              <a:rPr lang="en-GB" sz="1800" dirty="0"/>
              <a:t> </a:t>
            </a:r>
            <a:r>
              <a:rPr lang="en-GB" sz="1800" dirty="0" err="1"/>
              <a:t>cần</a:t>
            </a:r>
            <a:r>
              <a:rPr lang="en-GB" sz="1800" dirty="0"/>
              <a:t> </a:t>
            </a:r>
            <a:r>
              <a:rPr lang="en-GB" sz="1800" dirty="0" err="1"/>
              <a:t>xử</a:t>
            </a:r>
            <a:r>
              <a:rPr lang="en-GB" sz="1800" dirty="0"/>
              <a:t> </a:t>
            </a:r>
            <a:r>
              <a:rPr lang="en-GB" sz="1800" dirty="0" err="1"/>
              <a:t>lý</a:t>
            </a:r>
            <a:r>
              <a:rPr lang="en-GB" sz="1800" dirty="0"/>
              <a:t> </a:t>
            </a:r>
            <a:r>
              <a:rPr lang="en-GB" sz="1800" dirty="0" err="1"/>
              <a:t>kiểu</a:t>
            </a:r>
            <a:r>
              <a:rPr lang="en-GB" sz="1800" dirty="0"/>
              <a:t> </a:t>
            </a:r>
            <a:r>
              <a:rPr lang="en-GB" sz="1800" dirty="0" err="1"/>
              <a:t>dữ</a:t>
            </a:r>
            <a:r>
              <a:rPr lang="en-GB" sz="1800" dirty="0"/>
              <a:t> </a:t>
            </a:r>
            <a:r>
              <a:rPr lang="en-GB" sz="1800" dirty="0" err="1"/>
              <a:t>liệu</a:t>
            </a:r>
            <a:r>
              <a:rPr lang="en-GB" sz="1800" dirty="0"/>
              <a:t> </a:t>
            </a:r>
            <a:r>
              <a:rPr lang="en-GB" sz="1800" dirty="0" err="1"/>
              <a:t>đặc</a:t>
            </a:r>
            <a:r>
              <a:rPr lang="en-GB" sz="1800" dirty="0"/>
              <a:t> </a:t>
            </a:r>
            <a:r>
              <a:rPr lang="en-GB" sz="1800" dirty="0" err="1"/>
              <a:t>biệt</a:t>
            </a:r>
            <a:r>
              <a:rPr lang="en-GB" sz="1800" dirty="0"/>
              <a:t> </a:t>
            </a:r>
            <a:r>
              <a:rPr lang="en-GB" sz="1800" dirty="0" err="1"/>
              <a:t>mà</a:t>
            </a:r>
            <a:r>
              <a:rPr lang="en-GB" sz="1800" dirty="0"/>
              <a:t> </a:t>
            </a:r>
            <a:r>
              <a:rPr lang="en-GB" sz="1800" dirty="0" err="1"/>
              <a:t>thư</a:t>
            </a:r>
            <a:r>
              <a:rPr lang="en-GB" sz="1800" dirty="0"/>
              <a:t> </a:t>
            </a:r>
            <a:r>
              <a:rPr lang="en-GB" sz="1800" dirty="0" err="1"/>
              <a:t>viện</a:t>
            </a:r>
            <a:r>
              <a:rPr lang="en-GB" sz="1800" dirty="0"/>
              <a:t> </a:t>
            </a:r>
            <a:r>
              <a:rPr lang="en-GB" sz="1800" dirty="0" err="1"/>
              <a:t>json_serializable</a:t>
            </a:r>
            <a:r>
              <a:rPr lang="en-GB" sz="1800" dirty="0"/>
              <a:t> </a:t>
            </a:r>
            <a:r>
              <a:rPr lang="en-GB" sz="1800" dirty="0" err="1"/>
              <a:t>không</a:t>
            </a:r>
            <a:r>
              <a:rPr lang="en-GB" sz="1800" dirty="0"/>
              <a:t> </a:t>
            </a:r>
            <a:r>
              <a:rPr lang="en-GB" sz="1800" dirty="0" err="1"/>
              <a:t>thể</a:t>
            </a:r>
            <a:r>
              <a:rPr lang="en-GB" sz="1800" dirty="0"/>
              <a:t> </a:t>
            </a:r>
            <a:r>
              <a:rPr lang="en-GB" sz="1800" dirty="0" err="1"/>
              <a:t>tự</a:t>
            </a:r>
            <a:r>
              <a:rPr lang="en-GB" sz="1800" dirty="0"/>
              <a:t> </a:t>
            </a:r>
            <a:r>
              <a:rPr lang="en-GB" sz="1800" dirty="0" err="1"/>
              <a:t>động</a:t>
            </a:r>
            <a:r>
              <a:rPr lang="en-GB" sz="1800" dirty="0"/>
              <a:t> </a:t>
            </a:r>
            <a:r>
              <a:rPr lang="en-GB" sz="1800" dirty="0" err="1"/>
              <a:t>hiểu</a:t>
            </a:r>
            <a:r>
              <a:rPr lang="en-GB" sz="1800" dirty="0"/>
              <a:t> </a:t>
            </a:r>
            <a:r>
              <a:rPr lang="en-GB" sz="1800" dirty="0" err="1"/>
              <a:t>được</a:t>
            </a:r>
            <a:r>
              <a:rPr lang="en-GB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 err="1"/>
              <a:t>Thuộc</a:t>
            </a:r>
            <a:r>
              <a:rPr lang="en-GB" sz="1800" dirty="0"/>
              <a:t> </a:t>
            </a:r>
            <a:r>
              <a:rPr lang="en-GB" sz="1800" dirty="0" err="1"/>
              <a:t>tính</a:t>
            </a:r>
            <a:r>
              <a:rPr lang="en-GB" sz="1800" dirty="0"/>
              <a:t> </a:t>
            </a:r>
            <a:r>
              <a:rPr lang="en-GB" sz="1800" b="1" dirty="0" err="1"/>
              <a:t>fromJson</a:t>
            </a:r>
            <a:r>
              <a:rPr lang="en-GB" sz="1800" dirty="0"/>
              <a:t> </a:t>
            </a:r>
            <a:r>
              <a:rPr lang="en-GB" sz="1800" dirty="0" err="1"/>
              <a:t>và</a:t>
            </a:r>
            <a:r>
              <a:rPr lang="en-GB" sz="1800" dirty="0"/>
              <a:t> </a:t>
            </a:r>
            <a:r>
              <a:rPr lang="en-GB" sz="1800" b="1" dirty="0" err="1"/>
              <a:t>toJson</a:t>
            </a:r>
            <a:r>
              <a:rPr lang="en-GB" sz="1800" dirty="0"/>
              <a:t> </a:t>
            </a:r>
            <a:r>
              <a:rPr lang="en-GB" sz="1800" dirty="0" err="1"/>
              <a:t>được</a:t>
            </a:r>
            <a:r>
              <a:rPr lang="en-GB" sz="1800" dirty="0"/>
              <a:t> </a:t>
            </a:r>
            <a:r>
              <a:rPr lang="en-GB" sz="1800" dirty="0" err="1"/>
              <a:t>dùng</a:t>
            </a:r>
            <a:r>
              <a:rPr lang="en-GB" sz="1800" dirty="0"/>
              <a:t> </a:t>
            </a:r>
            <a:r>
              <a:rPr lang="en-GB" sz="1800" dirty="0" err="1"/>
              <a:t>để</a:t>
            </a:r>
            <a:r>
              <a:rPr lang="en-GB" sz="1800" dirty="0"/>
              <a:t> </a:t>
            </a:r>
            <a:r>
              <a:rPr lang="en-GB" sz="1800" dirty="0" err="1"/>
              <a:t>tùy</a:t>
            </a:r>
            <a:r>
              <a:rPr lang="en-GB" sz="1800" dirty="0"/>
              <a:t> </a:t>
            </a:r>
            <a:r>
              <a:rPr lang="en-GB" sz="1800" dirty="0" err="1"/>
              <a:t>chỉnh</a:t>
            </a:r>
            <a:r>
              <a:rPr lang="en-GB" sz="1800" dirty="0"/>
              <a:t> </a:t>
            </a:r>
            <a:r>
              <a:rPr lang="en-GB" sz="1800" dirty="0" err="1"/>
              <a:t>cách</a:t>
            </a:r>
            <a:r>
              <a:rPr lang="en-GB" sz="1800" dirty="0"/>
              <a:t> </a:t>
            </a:r>
            <a:r>
              <a:rPr lang="en-GB" sz="1800" dirty="0" err="1"/>
              <a:t>một</a:t>
            </a:r>
            <a:r>
              <a:rPr lang="en-GB" sz="1800" dirty="0"/>
              <a:t> </a:t>
            </a:r>
            <a:r>
              <a:rPr lang="en-GB" sz="1800" dirty="0" err="1"/>
              <a:t>trường</a:t>
            </a:r>
            <a:r>
              <a:rPr lang="en-GB" sz="1800" dirty="0"/>
              <a:t> </a:t>
            </a:r>
            <a:r>
              <a:rPr lang="en-GB" sz="1800" dirty="0" err="1"/>
              <a:t>được</a:t>
            </a:r>
            <a:r>
              <a:rPr lang="en-GB" sz="1800" dirty="0"/>
              <a:t> </a:t>
            </a:r>
            <a:r>
              <a:rPr lang="en-GB" sz="1800" dirty="0" err="1"/>
              <a:t>chuyển</a:t>
            </a:r>
            <a:r>
              <a:rPr lang="en-GB" sz="1800" dirty="0"/>
              <a:t> </a:t>
            </a:r>
            <a:r>
              <a:rPr lang="en-GB" sz="1800" dirty="0" err="1"/>
              <a:t>đổi</a:t>
            </a:r>
            <a:r>
              <a:rPr lang="en-GB" sz="1800" dirty="0"/>
              <a:t> </a:t>
            </a:r>
            <a:r>
              <a:rPr lang="en-GB" sz="1800" dirty="0" err="1"/>
              <a:t>trong</a:t>
            </a:r>
            <a:r>
              <a:rPr lang="en-GB" sz="1800" dirty="0"/>
              <a:t> </a:t>
            </a:r>
            <a:r>
              <a:rPr lang="en-GB" sz="1800" dirty="0" err="1"/>
              <a:t>quá</a:t>
            </a:r>
            <a:r>
              <a:rPr lang="en-GB" sz="1800" dirty="0"/>
              <a:t> </a:t>
            </a:r>
            <a:r>
              <a:rPr lang="en-GB" sz="1800" dirty="0" err="1"/>
              <a:t>trình</a:t>
            </a:r>
            <a:r>
              <a:rPr lang="en-GB" sz="1800" dirty="0"/>
              <a:t> deserialize/serialize.</a:t>
            </a:r>
            <a:endParaRPr lang="en-US" sz="1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F1C476-4D0F-9930-5554-405093AF9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912382"/>
              </p:ext>
            </p:extLst>
          </p:nvPr>
        </p:nvGraphicFramePr>
        <p:xfrm>
          <a:off x="4765882" y="2255162"/>
          <a:ext cx="4173583" cy="972810"/>
        </p:xfrm>
        <a:graphic>
          <a:graphicData uri="http://schemas.openxmlformats.org/drawingml/2006/table">
            <a:tbl>
              <a:tblPr firstRow="1" firstCol="1" bandRow="1">
                <a:tableStyleId>{8F5872E5-C1AD-4070-BBC1-F28DE486AAC2}</a:tableStyleId>
              </a:tblPr>
              <a:tblGrid>
                <a:gridCol w="1991213">
                  <a:extLst>
                    <a:ext uri="{9D8B030D-6E8A-4147-A177-3AD203B41FA5}">
                      <a16:colId xmlns:a16="http://schemas.microsoft.com/office/drawing/2014/main" val="762491367"/>
                    </a:ext>
                  </a:extLst>
                </a:gridCol>
                <a:gridCol w="2182370">
                  <a:extLst>
                    <a:ext uri="{9D8B030D-6E8A-4147-A177-3AD203B41FA5}">
                      <a16:colId xmlns:a16="http://schemas.microsoft.com/office/drawing/2014/main" val="2029110235"/>
                    </a:ext>
                  </a:extLst>
                </a:gridCol>
              </a:tblGrid>
              <a:tr h="2379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100" dirty="0">
                          <a:effectLst/>
                        </a:rPr>
                        <a:t>THUỘC TÍNH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100" dirty="0">
                          <a:effectLst/>
                        </a:rPr>
                        <a:t>CHỨC NĂNG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853007"/>
                  </a:ext>
                </a:extLst>
              </a:tr>
              <a:tr h="7348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fromJson</a:t>
                      </a:r>
                      <a:r>
                        <a:rPr lang="en-US" sz="1300" kern="100" dirty="0">
                          <a:effectLst/>
                        </a:rPr>
                        <a:t> / </a:t>
                      </a:r>
                      <a:r>
                        <a:rPr lang="en-US" sz="1300" kern="100" dirty="0" err="1">
                          <a:effectLst/>
                        </a:rPr>
                        <a:t>toJson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Chỉ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định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hàm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chuyển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đổi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cho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các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giá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trị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phức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en-US" sz="1300" kern="100" dirty="0" err="1">
                          <a:effectLst/>
                        </a:rPr>
                        <a:t>tạp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0208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DEBDE46-0EC6-8291-C85F-C10B03E76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26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E31D83F-4B21-164E-BC55-CCC7621D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80C0F9-D0B9-8BB4-0410-96D44B8ADF7E}"/>
              </a:ext>
            </a:extLst>
          </p:cNvPr>
          <p:cNvSpPr/>
          <p:nvPr/>
        </p:nvSpPr>
        <p:spPr>
          <a:xfrm>
            <a:off x="609835" y="-1155"/>
            <a:ext cx="8312095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3. Best practices </a:t>
            </a:r>
            <a:r>
              <a:rPr lang="en-US" sz="2400" b="1" dirty="0" err="1">
                <a:solidFill>
                  <a:srgbClr val="2073BE"/>
                </a:solidFill>
              </a:rPr>
              <a:t>cho</a:t>
            </a:r>
            <a:r>
              <a:rPr lang="en-US" sz="2400" b="1" dirty="0">
                <a:solidFill>
                  <a:srgbClr val="2073BE"/>
                </a:solidFill>
              </a:rPr>
              <a:t> complex data structures</a:t>
            </a:r>
            <a:endParaRPr lang="en-US" sz="2400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62B0A0-2B6A-C187-7183-0266A3EE11D9}"/>
              </a:ext>
            </a:extLst>
          </p:cNvPr>
          <p:cNvSpPr txBox="1"/>
          <p:nvPr/>
        </p:nvSpPr>
        <p:spPr>
          <a:xfrm>
            <a:off x="5124823" y="1395319"/>
            <a:ext cx="387747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 err="1"/>
              <a:t>Thuộc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birthDate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Dart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kiểu</a:t>
            </a:r>
            <a:r>
              <a:rPr lang="en-GB" dirty="0"/>
              <a:t> </a:t>
            </a:r>
            <a:r>
              <a:rPr lang="en-GB" dirty="0" err="1"/>
              <a:t>DateTime</a:t>
            </a:r>
            <a:r>
              <a:rPr lang="en-GB" dirty="0"/>
              <a:t>, </a:t>
            </a:r>
            <a:r>
              <a:rPr lang="en-GB" dirty="0" err="1"/>
              <a:t>nhưng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JSON </a:t>
            </a:r>
            <a:r>
              <a:rPr lang="en-GB" dirty="0" err="1"/>
              <a:t>nó</a:t>
            </a:r>
            <a:r>
              <a:rPr lang="en-GB" dirty="0"/>
              <a:t> </a:t>
            </a:r>
            <a:r>
              <a:rPr lang="en-GB" dirty="0" err="1"/>
              <a:t>chỉ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chuỗi</a:t>
            </a:r>
            <a:r>
              <a:rPr lang="en-GB" dirty="0"/>
              <a:t> (String).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 err="1"/>
              <a:t>Hàm</a:t>
            </a:r>
            <a:r>
              <a:rPr lang="en-GB" dirty="0"/>
              <a:t> _</a:t>
            </a:r>
            <a:r>
              <a:rPr lang="en-GB" dirty="0" err="1"/>
              <a:t>dateTimeFromJson</a:t>
            </a:r>
            <a:r>
              <a:rPr lang="en-GB" dirty="0"/>
              <a:t>() </a:t>
            </a:r>
            <a:r>
              <a:rPr lang="en-GB" dirty="0" err="1"/>
              <a:t>giúp</a:t>
            </a:r>
            <a:r>
              <a:rPr lang="en-GB" dirty="0"/>
              <a:t> </a:t>
            </a:r>
            <a:r>
              <a:rPr lang="en-GB" dirty="0" err="1"/>
              <a:t>chuyển</a:t>
            </a:r>
            <a:r>
              <a:rPr lang="en-GB" dirty="0"/>
              <a:t> </a:t>
            </a:r>
            <a:r>
              <a:rPr lang="en-GB" dirty="0" err="1"/>
              <a:t>chuỗi</a:t>
            </a:r>
            <a:r>
              <a:rPr lang="en-GB" dirty="0"/>
              <a:t> </a:t>
            </a:r>
            <a:r>
              <a:rPr lang="en-GB" dirty="0" err="1"/>
              <a:t>đó</a:t>
            </a:r>
            <a:r>
              <a:rPr lang="en-GB" dirty="0"/>
              <a:t> </a:t>
            </a:r>
            <a:r>
              <a:rPr lang="en-GB" dirty="0" err="1"/>
              <a:t>thành</a:t>
            </a:r>
            <a:r>
              <a:rPr lang="en-GB" dirty="0"/>
              <a:t> </a:t>
            </a:r>
            <a:r>
              <a:rPr lang="en-GB" dirty="0" err="1"/>
              <a:t>DateTime</a:t>
            </a:r>
            <a:r>
              <a:rPr lang="en-GB" dirty="0"/>
              <a:t> </a:t>
            </a:r>
            <a:r>
              <a:rPr lang="en-GB" dirty="0" err="1"/>
              <a:t>khi</a:t>
            </a:r>
            <a:r>
              <a:rPr lang="en-GB" dirty="0"/>
              <a:t> </a:t>
            </a:r>
            <a:r>
              <a:rPr lang="en-GB" dirty="0" err="1"/>
              <a:t>đọc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JSON.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 err="1"/>
              <a:t>Hàm</a:t>
            </a:r>
            <a:r>
              <a:rPr lang="en-GB" dirty="0"/>
              <a:t> _</a:t>
            </a:r>
            <a:r>
              <a:rPr lang="en-GB" dirty="0" err="1"/>
              <a:t>dateTimeToJson</a:t>
            </a:r>
            <a:r>
              <a:rPr lang="en-GB" dirty="0"/>
              <a:t>() </a:t>
            </a:r>
            <a:r>
              <a:rPr lang="en-GB" dirty="0" err="1"/>
              <a:t>giúp</a:t>
            </a:r>
            <a:r>
              <a:rPr lang="en-GB" dirty="0"/>
              <a:t> </a:t>
            </a:r>
            <a:r>
              <a:rPr lang="en-GB" dirty="0" err="1"/>
              <a:t>chuyển</a:t>
            </a:r>
            <a:r>
              <a:rPr lang="en-GB" dirty="0"/>
              <a:t> </a:t>
            </a:r>
            <a:r>
              <a:rPr lang="en-GB" dirty="0" err="1"/>
              <a:t>DateTime</a:t>
            </a:r>
            <a:r>
              <a:rPr lang="en-GB" dirty="0"/>
              <a:t> </a:t>
            </a:r>
            <a:r>
              <a:rPr lang="en-GB" dirty="0" err="1"/>
              <a:t>trở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chuỗi</a:t>
            </a:r>
            <a:r>
              <a:rPr lang="en-GB" dirty="0"/>
              <a:t> </a:t>
            </a:r>
            <a:r>
              <a:rPr lang="en-GB" dirty="0" err="1"/>
              <a:t>khi</a:t>
            </a:r>
            <a:r>
              <a:rPr lang="en-GB" dirty="0"/>
              <a:t> </a:t>
            </a:r>
            <a:r>
              <a:rPr lang="en-GB" dirty="0" err="1"/>
              <a:t>ghi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ra</a:t>
            </a:r>
            <a:r>
              <a:rPr lang="en-GB" dirty="0"/>
              <a:t> JSON.</a:t>
            </a:r>
            <a:endParaRPr lang="en-US" dirty="0"/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26A6309-7C4B-7A10-2875-A86BD3C86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16" y="1327581"/>
            <a:ext cx="4924407" cy="27152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A1771E-A83B-94CB-647B-72DDA8235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30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2FB539F-F8A8-BE70-6B12-0FAFCEDE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5114FB-266E-5A0B-DEF9-AC8BF9937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09C241-6ED6-CEBD-4AD6-E9DE1ED0D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01" y="1041762"/>
            <a:ext cx="3368457" cy="333429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452E9B2-A047-DD76-4E4E-C2B616413158}"/>
              </a:ext>
            </a:extLst>
          </p:cNvPr>
          <p:cNvSpPr/>
          <p:nvPr/>
        </p:nvSpPr>
        <p:spPr>
          <a:xfrm>
            <a:off x="609835" y="-1155"/>
            <a:ext cx="8312095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Demo App</a:t>
            </a:r>
            <a:endParaRPr lang="en-US" sz="2400" dirty="0">
              <a:solidFill>
                <a:srgbClr val="2073BE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115BB99-B5B2-9411-C0AF-1E5747230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7939" y="-1155"/>
            <a:ext cx="2504427" cy="51435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62E886A-1404-EB84-823F-9A56084EC8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665" y="-1155"/>
            <a:ext cx="254133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7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E9CC58E-462A-2C1F-0437-1DA70A13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87E4A7-406F-73B4-DD83-D0522B40F148}"/>
              </a:ext>
            </a:extLst>
          </p:cNvPr>
          <p:cNvSpPr/>
          <p:nvPr/>
        </p:nvSpPr>
        <p:spPr>
          <a:xfrm>
            <a:off x="609835" y="-1155"/>
            <a:ext cx="8312095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Demo App</a:t>
            </a:r>
            <a:endParaRPr lang="en-US" sz="2400" dirty="0">
              <a:solidFill>
                <a:srgbClr val="2073BE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BD9342-52DA-9FB2-FA5E-6B39DCA43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614EBC-6E87-7931-155D-585390337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213" y="12783"/>
            <a:ext cx="2541573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0D7D27-C0A2-7004-3B58-B81D8C299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841" y="12783"/>
            <a:ext cx="247023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62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3556F24-08A6-A83C-1912-5693319F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486CC9-DB8A-71FC-C187-B73B077558EF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Tài </a:t>
            </a:r>
            <a:r>
              <a:rPr lang="en-US" sz="2400" b="1" dirty="0" err="1">
                <a:solidFill>
                  <a:srgbClr val="2073BE"/>
                </a:solidFill>
              </a:rPr>
              <a:t>liệu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tham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khảo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FFAE62-74A0-A040-859D-DDD710983BC1}"/>
              </a:ext>
            </a:extLst>
          </p:cNvPr>
          <p:cNvSpPr txBox="1"/>
          <p:nvPr/>
        </p:nvSpPr>
        <p:spPr>
          <a:xfrm>
            <a:off x="707808" y="1178885"/>
            <a:ext cx="80866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[1]. </a:t>
            </a:r>
            <a:r>
              <a:rPr lang="en-US" sz="1600" dirty="0"/>
              <a:t>TS. Nguyễn Duy Nhật </a:t>
            </a:r>
            <a:r>
              <a:rPr lang="en-US" sz="1600" dirty="0" err="1"/>
              <a:t>Viễn</a:t>
            </a:r>
            <a:r>
              <a:rPr lang="en-US" sz="1600" dirty="0"/>
              <a:t>, Slide </a:t>
            </a:r>
            <a:r>
              <a:rPr lang="en-US" sz="1600" dirty="0" err="1"/>
              <a:t>bài</a:t>
            </a:r>
            <a:r>
              <a:rPr lang="en-US" sz="1600" dirty="0"/>
              <a:t> </a:t>
            </a:r>
            <a:r>
              <a:rPr lang="en-US" sz="1600" dirty="0" err="1"/>
              <a:t>giảng</a:t>
            </a:r>
            <a:r>
              <a:rPr lang="en-US" sz="1600" dirty="0"/>
              <a:t> </a:t>
            </a:r>
            <a:r>
              <a:rPr lang="en-US" sz="1600" dirty="0" err="1"/>
              <a:t>lập</a:t>
            </a:r>
            <a:r>
              <a:rPr lang="en-US" sz="1600" dirty="0"/>
              <a:t> </a:t>
            </a:r>
            <a:r>
              <a:rPr lang="en-US" sz="1600" dirty="0" err="1"/>
              <a:t>trình</a:t>
            </a:r>
            <a:r>
              <a:rPr lang="en-US" sz="1600" dirty="0"/>
              <a:t> </a:t>
            </a:r>
            <a:r>
              <a:rPr lang="en-US" sz="1600" dirty="0" err="1"/>
              <a:t>đa</a:t>
            </a:r>
            <a:r>
              <a:rPr lang="en-US" sz="1600" dirty="0"/>
              <a:t> </a:t>
            </a:r>
            <a:r>
              <a:rPr lang="en-US" sz="1600" dirty="0" err="1"/>
              <a:t>nền</a:t>
            </a:r>
            <a:r>
              <a:rPr lang="en-US" sz="1600" dirty="0"/>
              <a:t> </a:t>
            </a:r>
            <a:r>
              <a:rPr lang="en-US" sz="1600" dirty="0" err="1"/>
              <a:t>tảng</a:t>
            </a:r>
            <a:r>
              <a:rPr lang="en-US" sz="1600" dirty="0"/>
              <a:t>, </a:t>
            </a:r>
          </a:p>
          <a:p>
            <a:r>
              <a:rPr lang="en-US" sz="1600" dirty="0"/>
              <a:t>Khoa </a:t>
            </a:r>
            <a:r>
              <a:rPr lang="en-US" sz="1600" dirty="0" err="1"/>
              <a:t>Điện</a:t>
            </a:r>
            <a:r>
              <a:rPr lang="en-US" sz="1600" dirty="0"/>
              <a:t> </a:t>
            </a:r>
            <a:r>
              <a:rPr lang="en-US" sz="1600" dirty="0" err="1"/>
              <a:t>tử</a:t>
            </a:r>
            <a:r>
              <a:rPr lang="en-US" sz="1600" dirty="0"/>
              <a:t> - </a:t>
            </a:r>
            <a:r>
              <a:rPr lang="en-US" sz="1600" dirty="0" err="1"/>
              <a:t>Viễn</a:t>
            </a:r>
            <a:r>
              <a:rPr lang="en-US" sz="1600" dirty="0"/>
              <a:t> Thông, Trường Đại </a:t>
            </a:r>
            <a:r>
              <a:rPr lang="en-US" sz="1600" dirty="0" err="1"/>
              <a:t>học</a:t>
            </a:r>
            <a:r>
              <a:rPr lang="en-US" sz="1600" dirty="0"/>
              <a:t> </a:t>
            </a:r>
            <a:r>
              <a:rPr lang="en-US" sz="1600" dirty="0" err="1"/>
              <a:t>Bách</a:t>
            </a:r>
            <a:r>
              <a:rPr lang="en-US" sz="1600" dirty="0"/>
              <a:t> Khoa, Đại </a:t>
            </a:r>
            <a:r>
              <a:rPr lang="en-US" sz="1600" dirty="0" err="1"/>
              <a:t>học</a:t>
            </a:r>
            <a:r>
              <a:rPr lang="en-US" sz="1600" dirty="0"/>
              <a:t> </a:t>
            </a:r>
            <a:r>
              <a:rPr lang="en-US" sz="1600" dirty="0" err="1"/>
              <a:t>Đà</a:t>
            </a:r>
            <a:r>
              <a:rPr lang="en-US" sz="1600" dirty="0"/>
              <a:t> </a:t>
            </a:r>
            <a:r>
              <a:rPr lang="en-US" sz="1600" dirty="0" err="1"/>
              <a:t>Nẵng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b="1" dirty="0"/>
              <a:t>[2]. </a:t>
            </a:r>
            <a:r>
              <a:rPr lang="en-US" sz="1600" dirty="0"/>
              <a:t>Flutter </a:t>
            </a:r>
            <a:r>
              <a:rPr lang="en-GB" sz="1600" dirty="0"/>
              <a:t>Official</a:t>
            </a:r>
            <a:r>
              <a:rPr lang="en-US" sz="1600" dirty="0"/>
              <a:t> Documentations, “JSON serialization and deserialization”. </a:t>
            </a:r>
          </a:p>
          <a:p>
            <a:r>
              <a:rPr lang="en-US" sz="1600" dirty="0"/>
              <a:t>Link: </a:t>
            </a:r>
            <a:r>
              <a:rPr lang="en-US" sz="1600" u="sng" dirty="0" err="1">
                <a:hlinkClick r:id="rId3"/>
              </a:rPr>
              <a:t>docs.flutter.dev</a:t>
            </a:r>
            <a:r>
              <a:rPr lang="en-US" sz="1600" u="sng" dirty="0">
                <a:hlinkClick r:id="rId3"/>
              </a:rPr>
              <a:t>/data-and-backend/serialization/</a:t>
            </a:r>
            <a:r>
              <a:rPr lang="en-US" sz="1600" u="sng" dirty="0" err="1">
                <a:hlinkClick r:id="rId3"/>
              </a:rPr>
              <a:t>json</a:t>
            </a:r>
            <a:endParaRPr lang="en-US" sz="1600" u="sng" dirty="0"/>
          </a:p>
          <a:p>
            <a:endParaRPr lang="en-US" sz="1600" dirty="0"/>
          </a:p>
          <a:p>
            <a:r>
              <a:rPr lang="en-US" sz="1600" b="1" dirty="0"/>
              <a:t>[3]. </a:t>
            </a:r>
            <a:r>
              <a:rPr lang="en-US" sz="1600" dirty="0"/>
              <a:t>Dart package, </a:t>
            </a:r>
            <a:r>
              <a:rPr lang="en-US" sz="1600" dirty="0" err="1"/>
              <a:t>Pub.dev</a:t>
            </a:r>
            <a:r>
              <a:rPr lang="en-US" sz="1600" dirty="0"/>
              <a:t>, “</a:t>
            </a:r>
            <a:r>
              <a:rPr lang="en-US" sz="1600" dirty="0" err="1"/>
              <a:t>json_annotation</a:t>
            </a:r>
            <a:r>
              <a:rPr lang="en-US" sz="1600" dirty="0"/>
              <a:t>”.</a:t>
            </a:r>
          </a:p>
          <a:p>
            <a:r>
              <a:rPr lang="en-US" sz="1600" dirty="0"/>
              <a:t>Link: </a:t>
            </a:r>
            <a:r>
              <a:rPr lang="en-US" sz="1600" dirty="0" err="1">
                <a:hlinkClick r:id="rId4"/>
              </a:rPr>
              <a:t>pub.dev</a:t>
            </a:r>
            <a:r>
              <a:rPr lang="en-US" sz="1600" dirty="0">
                <a:hlinkClick r:id="rId4"/>
              </a:rPr>
              <a:t>/packages/</a:t>
            </a:r>
            <a:r>
              <a:rPr lang="en-US" sz="1600" dirty="0" err="1">
                <a:hlinkClick r:id="rId4"/>
              </a:rPr>
              <a:t>json_annotation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[4]. </a:t>
            </a:r>
            <a:r>
              <a:rPr lang="en-US" sz="1600" dirty="0"/>
              <a:t>Dart package, </a:t>
            </a:r>
            <a:r>
              <a:rPr lang="en-US" sz="1600" dirty="0" err="1"/>
              <a:t>Pub.dev</a:t>
            </a:r>
            <a:r>
              <a:rPr lang="en-US" sz="1600" dirty="0"/>
              <a:t>, “</a:t>
            </a:r>
            <a:r>
              <a:rPr lang="en-US" sz="1600" dirty="0" err="1"/>
              <a:t>build_runner</a:t>
            </a:r>
            <a:r>
              <a:rPr lang="en-US" sz="1600" dirty="0"/>
              <a:t>”.</a:t>
            </a:r>
          </a:p>
          <a:p>
            <a:r>
              <a:rPr lang="en-US" sz="1600" dirty="0"/>
              <a:t>Link: </a:t>
            </a:r>
            <a:r>
              <a:rPr lang="en-US" sz="1600" dirty="0" err="1">
                <a:hlinkClick r:id="rId5"/>
              </a:rPr>
              <a:t>pub.dev</a:t>
            </a:r>
            <a:r>
              <a:rPr lang="en-US" sz="1600" dirty="0">
                <a:hlinkClick r:id="rId5"/>
              </a:rPr>
              <a:t>/packages/</a:t>
            </a:r>
            <a:r>
              <a:rPr lang="en-US" sz="1600" dirty="0" err="1">
                <a:hlinkClick r:id="rId5"/>
              </a:rPr>
              <a:t>build_runner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B8498-CBE5-B971-07A5-BD2F159550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90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5CE7C65-06F6-B823-E891-34E2E6C9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4FCC6982-90FF-6ADB-AE37-095E18B2B50D}"/>
              </a:ext>
            </a:extLst>
          </p:cNvPr>
          <p:cNvSpPr txBox="1"/>
          <p:nvPr/>
        </p:nvSpPr>
        <p:spPr>
          <a:xfrm>
            <a:off x="1217051" y="1634569"/>
            <a:ext cx="67098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Xin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cảm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ơn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Thầy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các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bạn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đã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chú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ý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lắng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nghe</a:t>
            </a:r>
            <a:endParaRPr lang="vi-VN" sz="40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oogle Shape;9222;p75">
            <a:extLst>
              <a:ext uri="{FF2B5EF4-FFF2-40B4-BE49-F238E27FC236}">
                <a16:creationId xmlns:a16="http://schemas.microsoft.com/office/drawing/2014/main" id="{50B7C044-C41A-B827-6BC4-73FFD843ADC6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4" name="Google Shape;9223;p75">
              <a:extLst>
                <a:ext uri="{FF2B5EF4-FFF2-40B4-BE49-F238E27FC236}">
                  <a16:creationId xmlns:a16="http://schemas.microsoft.com/office/drawing/2014/main" id="{F3E25585-2BB1-A39C-DC3B-04416DE9AEDD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9" name="Google Shape;9224;p75">
                <a:extLst>
                  <a:ext uri="{FF2B5EF4-FFF2-40B4-BE49-F238E27FC236}">
                    <a16:creationId xmlns:a16="http://schemas.microsoft.com/office/drawing/2014/main" id="{3F3623ED-19EA-22A3-A652-FF25BDB6048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25;p75">
                <a:extLst>
                  <a:ext uri="{FF2B5EF4-FFF2-40B4-BE49-F238E27FC236}">
                    <a16:creationId xmlns:a16="http://schemas.microsoft.com/office/drawing/2014/main" id="{B0D1E382-6ED1-68C8-B333-5561F40F22A9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26;p75">
                <a:extLst>
                  <a:ext uri="{FF2B5EF4-FFF2-40B4-BE49-F238E27FC236}">
                    <a16:creationId xmlns:a16="http://schemas.microsoft.com/office/drawing/2014/main" id="{9A67456F-13C0-5173-9A6C-312FD66E5EA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7;p75">
                <a:extLst>
                  <a:ext uri="{FF2B5EF4-FFF2-40B4-BE49-F238E27FC236}">
                    <a16:creationId xmlns:a16="http://schemas.microsoft.com/office/drawing/2014/main" id="{3069FDE5-BB76-0B01-1FA7-EBFADCF6019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8;p75">
                <a:extLst>
                  <a:ext uri="{FF2B5EF4-FFF2-40B4-BE49-F238E27FC236}">
                    <a16:creationId xmlns:a16="http://schemas.microsoft.com/office/drawing/2014/main" id="{2F7699BA-F411-96D6-6120-AD31FFBAB82B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9;p75">
                <a:extLst>
                  <a:ext uri="{FF2B5EF4-FFF2-40B4-BE49-F238E27FC236}">
                    <a16:creationId xmlns:a16="http://schemas.microsoft.com/office/drawing/2014/main" id="{9BF3DFAB-0F93-BFB7-DB1E-96CABE659E1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30;p75">
                <a:extLst>
                  <a:ext uri="{FF2B5EF4-FFF2-40B4-BE49-F238E27FC236}">
                    <a16:creationId xmlns:a16="http://schemas.microsoft.com/office/drawing/2014/main" id="{7B360586-979B-CBAE-9FF2-C96D36C4DC2C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31;p75">
                <a:extLst>
                  <a:ext uri="{FF2B5EF4-FFF2-40B4-BE49-F238E27FC236}">
                    <a16:creationId xmlns:a16="http://schemas.microsoft.com/office/drawing/2014/main" id="{AE54DC45-76AE-16FA-E2D6-5C4CD11B5C10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2;p75">
                <a:extLst>
                  <a:ext uri="{FF2B5EF4-FFF2-40B4-BE49-F238E27FC236}">
                    <a16:creationId xmlns:a16="http://schemas.microsoft.com/office/drawing/2014/main" id="{E4CDD67A-4F46-969B-7FC2-21236855D3FE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3;p75">
                <a:extLst>
                  <a:ext uri="{FF2B5EF4-FFF2-40B4-BE49-F238E27FC236}">
                    <a16:creationId xmlns:a16="http://schemas.microsoft.com/office/drawing/2014/main" id="{AEA53ABD-9DA4-910D-2470-2882F141047D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4;p75">
                <a:extLst>
                  <a:ext uri="{FF2B5EF4-FFF2-40B4-BE49-F238E27FC236}">
                    <a16:creationId xmlns:a16="http://schemas.microsoft.com/office/drawing/2014/main" id="{5E78AD70-1043-BACB-C536-E05355A7C18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5;p75">
                <a:extLst>
                  <a:ext uri="{FF2B5EF4-FFF2-40B4-BE49-F238E27FC236}">
                    <a16:creationId xmlns:a16="http://schemas.microsoft.com/office/drawing/2014/main" id="{E8896F64-82D8-8530-B06C-02B38347308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6;p75">
                <a:extLst>
                  <a:ext uri="{FF2B5EF4-FFF2-40B4-BE49-F238E27FC236}">
                    <a16:creationId xmlns:a16="http://schemas.microsoft.com/office/drawing/2014/main" id="{B88A19DB-93C0-8BA1-8B6F-E2B4796A064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7;p75">
                <a:extLst>
                  <a:ext uri="{FF2B5EF4-FFF2-40B4-BE49-F238E27FC236}">
                    <a16:creationId xmlns:a16="http://schemas.microsoft.com/office/drawing/2014/main" id="{BF5C1714-7CCC-5EB3-2D08-91A4072609D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8;p75">
                <a:extLst>
                  <a:ext uri="{FF2B5EF4-FFF2-40B4-BE49-F238E27FC236}">
                    <a16:creationId xmlns:a16="http://schemas.microsoft.com/office/drawing/2014/main" id="{6B89834E-C90E-63CE-E4FD-1CE128870703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9;p75">
                <a:extLst>
                  <a:ext uri="{FF2B5EF4-FFF2-40B4-BE49-F238E27FC236}">
                    <a16:creationId xmlns:a16="http://schemas.microsoft.com/office/drawing/2014/main" id="{DE88222D-1DE9-2EA2-2D43-B6B4302614B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40;p75">
                <a:extLst>
                  <a:ext uri="{FF2B5EF4-FFF2-40B4-BE49-F238E27FC236}">
                    <a16:creationId xmlns:a16="http://schemas.microsoft.com/office/drawing/2014/main" id="{B112BC88-4869-B618-1461-E8FA0380A3F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41;p75">
                <a:extLst>
                  <a:ext uri="{FF2B5EF4-FFF2-40B4-BE49-F238E27FC236}">
                    <a16:creationId xmlns:a16="http://schemas.microsoft.com/office/drawing/2014/main" id="{1E61F861-5A5B-2DF3-6538-0BE541EA3C8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2;p75">
                <a:extLst>
                  <a:ext uri="{FF2B5EF4-FFF2-40B4-BE49-F238E27FC236}">
                    <a16:creationId xmlns:a16="http://schemas.microsoft.com/office/drawing/2014/main" id="{7D05971D-A700-EF8E-2EA7-1BCA97A3FC6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3;p75">
                <a:extLst>
                  <a:ext uri="{FF2B5EF4-FFF2-40B4-BE49-F238E27FC236}">
                    <a16:creationId xmlns:a16="http://schemas.microsoft.com/office/drawing/2014/main" id="{47AB2778-973A-505D-E2AE-9502AEDCCB5F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4;p75">
                <a:extLst>
                  <a:ext uri="{FF2B5EF4-FFF2-40B4-BE49-F238E27FC236}">
                    <a16:creationId xmlns:a16="http://schemas.microsoft.com/office/drawing/2014/main" id="{75CCBD08-08F9-637E-6995-990BBC7D58B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5;p75">
                <a:extLst>
                  <a:ext uri="{FF2B5EF4-FFF2-40B4-BE49-F238E27FC236}">
                    <a16:creationId xmlns:a16="http://schemas.microsoft.com/office/drawing/2014/main" id="{CEF2C177-6940-E97C-6931-4FA96D4063A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6;p75">
                <a:extLst>
                  <a:ext uri="{FF2B5EF4-FFF2-40B4-BE49-F238E27FC236}">
                    <a16:creationId xmlns:a16="http://schemas.microsoft.com/office/drawing/2014/main" id="{7D5C5171-AE36-9E99-8463-2F7D88B81BE9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247;p75">
                <a:extLst>
                  <a:ext uri="{FF2B5EF4-FFF2-40B4-BE49-F238E27FC236}">
                    <a16:creationId xmlns:a16="http://schemas.microsoft.com/office/drawing/2014/main" id="{A351B008-893C-5C82-A997-8A5F70775D3C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248;p75">
                <a:extLst>
                  <a:ext uri="{FF2B5EF4-FFF2-40B4-BE49-F238E27FC236}">
                    <a16:creationId xmlns:a16="http://schemas.microsoft.com/office/drawing/2014/main" id="{0A548714-B2CC-BC78-9917-0468A19CA9A4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249;p75">
                <a:extLst>
                  <a:ext uri="{FF2B5EF4-FFF2-40B4-BE49-F238E27FC236}">
                    <a16:creationId xmlns:a16="http://schemas.microsoft.com/office/drawing/2014/main" id="{96F5F521-04F5-4E64-5AEC-80D2B595CA49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250;p75">
                <a:extLst>
                  <a:ext uri="{FF2B5EF4-FFF2-40B4-BE49-F238E27FC236}">
                    <a16:creationId xmlns:a16="http://schemas.microsoft.com/office/drawing/2014/main" id="{E8F967A2-6E2C-8486-9BE4-230E20610AF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9251;p75">
                <a:extLst>
                  <a:ext uri="{FF2B5EF4-FFF2-40B4-BE49-F238E27FC236}">
                    <a16:creationId xmlns:a16="http://schemas.microsoft.com/office/drawing/2014/main" id="{74195B9D-85BA-BA41-0ABC-C0A04942276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9252;p75">
                <a:extLst>
                  <a:ext uri="{FF2B5EF4-FFF2-40B4-BE49-F238E27FC236}">
                    <a16:creationId xmlns:a16="http://schemas.microsoft.com/office/drawing/2014/main" id="{F98D2D1C-895F-2555-256C-2B2B9A6390B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9253;p75">
                <a:extLst>
                  <a:ext uri="{FF2B5EF4-FFF2-40B4-BE49-F238E27FC236}">
                    <a16:creationId xmlns:a16="http://schemas.microsoft.com/office/drawing/2014/main" id="{52E2A40D-4333-F86D-BB61-4E906980095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9254;p75">
                <a:extLst>
                  <a:ext uri="{FF2B5EF4-FFF2-40B4-BE49-F238E27FC236}">
                    <a16:creationId xmlns:a16="http://schemas.microsoft.com/office/drawing/2014/main" id="{3E48B3B4-F99C-6883-30E5-EAD2E11A9996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9255;p75">
                <a:extLst>
                  <a:ext uri="{FF2B5EF4-FFF2-40B4-BE49-F238E27FC236}">
                    <a16:creationId xmlns:a16="http://schemas.microsoft.com/office/drawing/2014/main" id="{1C23891E-483E-DA90-9F16-658FFF293FF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9256;p75">
                <a:extLst>
                  <a:ext uri="{FF2B5EF4-FFF2-40B4-BE49-F238E27FC236}">
                    <a16:creationId xmlns:a16="http://schemas.microsoft.com/office/drawing/2014/main" id="{6C717C84-33E5-8A09-4BDD-8716694F2C3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9257;p75">
                <a:extLst>
                  <a:ext uri="{FF2B5EF4-FFF2-40B4-BE49-F238E27FC236}">
                    <a16:creationId xmlns:a16="http://schemas.microsoft.com/office/drawing/2014/main" id="{006300C7-704B-2757-B018-FEAC2540096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9258;p75">
                <a:extLst>
                  <a:ext uri="{FF2B5EF4-FFF2-40B4-BE49-F238E27FC236}">
                    <a16:creationId xmlns:a16="http://schemas.microsoft.com/office/drawing/2014/main" id="{6893A054-3585-B94F-3815-15EF849E668E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9259;p75">
                <a:extLst>
                  <a:ext uri="{FF2B5EF4-FFF2-40B4-BE49-F238E27FC236}">
                    <a16:creationId xmlns:a16="http://schemas.microsoft.com/office/drawing/2014/main" id="{B3BB5BD2-78DF-89E6-21CC-4727A2FC3CAF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9260;p75">
                <a:extLst>
                  <a:ext uri="{FF2B5EF4-FFF2-40B4-BE49-F238E27FC236}">
                    <a16:creationId xmlns:a16="http://schemas.microsoft.com/office/drawing/2014/main" id="{C5EBD6CC-19B0-6BA0-490A-2FAE5C77D31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9261;p75">
                <a:extLst>
                  <a:ext uri="{FF2B5EF4-FFF2-40B4-BE49-F238E27FC236}">
                    <a16:creationId xmlns:a16="http://schemas.microsoft.com/office/drawing/2014/main" id="{0C14B67E-8987-F29A-230B-B99EA97E5FBE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9262;p75">
                <a:extLst>
                  <a:ext uri="{FF2B5EF4-FFF2-40B4-BE49-F238E27FC236}">
                    <a16:creationId xmlns:a16="http://schemas.microsoft.com/office/drawing/2014/main" id="{AD552FE9-060F-E56F-DADD-139D51E20AA2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9263;p75">
                <a:extLst>
                  <a:ext uri="{FF2B5EF4-FFF2-40B4-BE49-F238E27FC236}">
                    <a16:creationId xmlns:a16="http://schemas.microsoft.com/office/drawing/2014/main" id="{57700A3E-F44F-0C79-F020-436F747C559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9264;p75">
                <a:extLst>
                  <a:ext uri="{FF2B5EF4-FFF2-40B4-BE49-F238E27FC236}">
                    <a16:creationId xmlns:a16="http://schemas.microsoft.com/office/drawing/2014/main" id="{3C90C18E-553C-60F6-15B0-E8A6B9040B86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9265;p75">
                <a:extLst>
                  <a:ext uri="{FF2B5EF4-FFF2-40B4-BE49-F238E27FC236}">
                    <a16:creationId xmlns:a16="http://schemas.microsoft.com/office/drawing/2014/main" id="{25DD4AF1-1D87-9C8B-199D-685C7951ADED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6;p75">
                <a:extLst>
                  <a:ext uri="{FF2B5EF4-FFF2-40B4-BE49-F238E27FC236}">
                    <a16:creationId xmlns:a16="http://schemas.microsoft.com/office/drawing/2014/main" id="{A809D99B-E863-EFB2-2DDD-B1A20D1DB77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9267;p75">
                <a:extLst>
                  <a:ext uri="{FF2B5EF4-FFF2-40B4-BE49-F238E27FC236}">
                    <a16:creationId xmlns:a16="http://schemas.microsoft.com/office/drawing/2014/main" id="{804B018B-856F-FF83-F0B9-E40DBBA8EB23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8;p75">
                <a:extLst>
                  <a:ext uri="{FF2B5EF4-FFF2-40B4-BE49-F238E27FC236}">
                    <a16:creationId xmlns:a16="http://schemas.microsoft.com/office/drawing/2014/main" id="{79AB46EB-6BF0-A7C2-36B0-F8DA9ABA7680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9269;p75">
              <a:extLst>
                <a:ext uri="{FF2B5EF4-FFF2-40B4-BE49-F238E27FC236}">
                  <a16:creationId xmlns:a16="http://schemas.microsoft.com/office/drawing/2014/main" id="{D410A9FA-33AD-F896-A049-1B6A3F3325C4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9270;p75">
              <a:extLst>
                <a:ext uri="{FF2B5EF4-FFF2-40B4-BE49-F238E27FC236}">
                  <a16:creationId xmlns:a16="http://schemas.microsoft.com/office/drawing/2014/main" id="{757DE877-2A42-621E-6DF7-2CC76C2B6E3A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7" name="Google Shape;9271;p75">
                <a:extLst>
                  <a:ext uri="{FF2B5EF4-FFF2-40B4-BE49-F238E27FC236}">
                    <a16:creationId xmlns:a16="http://schemas.microsoft.com/office/drawing/2014/main" id="{10E55A41-F4B0-3F49-26E0-5ED792A08EB1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9272;p75">
                <a:extLst>
                  <a:ext uri="{FF2B5EF4-FFF2-40B4-BE49-F238E27FC236}">
                    <a16:creationId xmlns:a16="http://schemas.microsoft.com/office/drawing/2014/main" id="{B955C0B5-7AF1-084B-CBED-9F7F4A4AFEE3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19" name="Picture 118">
            <a:extLst>
              <a:ext uri="{FF2B5EF4-FFF2-40B4-BE49-F238E27FC236}">
                <a16:creationId xmlns:a16="http://schemas.microsoft.com/office/drawing/2014/main" id="{FAD62FCC-DAD4-93A7-5ED8-30D3D84CE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89564" cy="70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67852"/>
      </p:ext>
    </p:extLst>
  </p:cSld>
  <p:clrMapOvr>
    <a:masterClrMapping/>
  </p:clrMapOvr>
</p:sld>
</file>

<file path=ppt/theme/theme1.xml><?xml version="1.0" encoding="utf-8"?>
<a:theme xmlns:a="http://schemas.openxmlformats.org/drawingml/2006/main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ded781-2f94-4d69-8848-7c5557f2fdc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BC42CFF30DAD49AD9447EB755AC427" ma:contentTypeVersion="9" ma:contentTypeDescription="Create a new document." ma:contentTypeScope="" ma:versionID="00fc81c611e2d985d29b8c67f95f5336">
  <xsd:schema xmlns:xsd="http://www.w3.org/2001/XMLSchema" xmlns:xs="http://www.w3.org/2001/XMLSchema" xmlns:p="http://schemas.microsoft.com/office/2006/metadata/properties" xmlns:ns3="87ded781-2f94-4d69-8848-7c5557f2fdca" targetNamespace="http://schemas.microsoft.com/office/2006/metadata/properties" ma:root="true" ma:fieldsID="8c32b20bd09e9b12c15c9e36a944054d" ns3:_="">
    <xsd:import namespace="87ded781-2f94-4d69-8848-7c5557f2fd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ed781-2f94-4d69-8848-7c5557f2fd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77751D-C2AE-47AE-B730-2461DCDA2DB3}">
  <ds:schemaRefs>
    <ds:schemaRef ds:uri="http://purl.org/dc/elements/1.1/"/>
    <ds:schemaRef ds:uri="http://schemas.microsoft.com/office/2006/metadata/properties"/>
    <ds:schemaRef ds:uri="87ded781-2f94-4d69-8848-7c5557f2fdca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D58934A-EA2E-4B90-9DA9-E37FDA28B5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ed781-2f94-4d69-8848-7c5557f2fd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6CE2DE-889C-460E-A7A1-527106FD50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2144</TotalTime>
  <Words>1544</Words>
  <Application>Microsoft Office PowerPoint</Application>
  <PresentationFormat>On-screen Show (16:9)</PresentationFormat>
  <Paragraphs>229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Wingdings</vt:lpstr>
      <vt:lpstr>Arial</vt:lpstr>
      <vt:lpstr>Symbol</vt:lpstr>
      <vt:lpstr>DM Sans</vt:lpstr>
      <vt:lpstr>Albert Sans</vt:lpstr>
      <vt:lpstr>Cambria</vt:lpstr>
      <vt:lpstr>Aptos</vt:lpstr>
      <vt:lpstr>Digitization in the Classroom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Tín Trần Đại</dc:creator>
  <cp:lastModifiedBy>Trần Đại Tín</cp:lastModifiedBy>
  <cp:revision>149</cp:revision>
  <dcterms:modified xsi:type="dcterms:W3CDTF">2025-10-31T11:11:17Z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0x01010043BC42CFF30DAD49AD9447EB755AC427</vt:lpwstr>
  </property>
</Properties>
</file>