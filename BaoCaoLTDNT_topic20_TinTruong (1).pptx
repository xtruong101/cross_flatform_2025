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4"/>
  </p:sldMasterIdLst>
  <p:notesMasterIdLst>
    <p:notesMasterId r:id="rId48"/>
  </p:notesMasterIdLst>
  <p:sldIdLst>
    <p:sldId id="312" r:id="rId5"/>
    <p:sldId id="391" r:id="rId6"/>
    <p:sldId id="341" r:id="rId7"/>
    <p:sldId id="381" r:id="rId8"/>
    <p:sldId id="399" r:id="rId9"/>
    <p:sldId id="400" r:id="rId10"/>
    <p:sldId id="401" r:id="rId11"/>
    <p:sldId id="402" r:id="rId12"/>
    <p:sldId id="403" r:id="rId13"/>
    <p:sldId id="404" r:id="rId14"/>
    <p:sldId id="405" r:id="rId15"/>
    <p:sldId id="406" r:id="rId16"/>
    <p:sldId id="407" r:id="rId17"/>
    <p:sldId id="408" r:id="rId18"/>
    <p:sldId id="409" r:id="rId19"/>
    <p:sldId id="410" r:id="rId20"/>
    <p:sldId id="411" r:id="rId21"/>
    <p:sldId id="412" r:id="rId22"/>
    <p:sldId id="413" r:id="rId23"/>
    <p:sldId id="414" r:id="rId24"/>
    <p:sldId id="415" r:id="rId25"/>
    <p:sldId id="416" r:id="rId26"/>
    <p:sldId id="417" r:id="rId27"/>
    <p:sldId id="420" r:id="rId28"/>
    <p:sldId id="421" r:id="rId29"/>
    <p:sldId id="422" r:id="rId30"/>
    <p:sldId id="424" r:id="rId31"/>
    <p:sldId id="423" r:id="rId32"/>
    <p:sldId id="425" r:id="rId33"/>
    <p:sldId id="426" r:id="rId34"/>
    <p:sldId id="427" r:id="rId35"/>
    <p:sldId id="429" r:id="rId36"/>
    <p:sldId id="430" r:id="rId37"/>
    <p:sldId id="431" r:id="rId38"/>
    <p:sldId id="432" r:id="rId39"/>
    <p:sldId id="433" r:id="rId40"/>
    <p:sldId id="434" r:id="rId41"/>
    <p:sldId id="435" r:id="rId42"/>
    <p:sldId id="436" r:id="rId43"/>
    <p:sldId id="438" r:id="rId44"/>
    <p:sldId id="437" r:id="rId45"/>
    <p:sldId id="398" r:id="rId46"/>
    <p:sldId id="390" r:id="rId47"/>
  </p:sldIdLst>
  <p:sldSz cx="9144000" cy="5143500" type="screen16x9"/>
  <p:notesSz cx="6858000" cy="9144000"/>
  <p:embeddedFontLst>
    <p:embeddedFont>
      <p:font typeface="Cambria" panose="02040503050406030204" pitchFamily="18" charset="0"/>
      <p:regular r:id="rId49"/>
      <p:bold r:id="rId50"/>
      <p:italic r:id="rId51"/>
      <p:boldItalic r:id="rId52"/>
    </p:embeddedFont>
    <p:embeddedFont>
      <p:font typeface="DM Sans" pitchFamily="2" charset="0"/>
      <p:regular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F3FD"/>
    <a:srgbClr val="2073BE"/>
    <a:srgbClr val="5AC6EC"/>
    <a:srgbClr val="CFFF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080FCD-EAB7-4F68-8B7D-FC6D172BC3FD}" v="4" dt="2025-11-10T13:14:15.961"/>
    <p1510:client id="{2FC5791A-A27A-6631-E2F8-096337260AE9}" v="35" dt="2025-11-09T18:19:05.143"/>
    <p1510:client id="{3A9D0C2F-55FC-49F3-9026-0601AB04EF8D}" v="208" dt="2025-11-10T11:47:29.431"/>
    <p1510:client id="{3F34D3E0-ACC4-274E-04BA-8A0ED4DFE37B}" v="74" dt="2025-11-10T12:53:12.985"/>
    <p1510:client id="{536415B3-1236-DB1C-3ED0-46E9227CF5CC}" v="17" dt="2025-11-09T14:07:14.074"/>
    <p1510:client id="{C4F65A89-FA28-168D-C540-552DD21F27B4}" v="55" dt="2025-11-10T02:53:07.206"/>
  </p1510:revLst>
</p1510:revInfo>
</file>

<file path=ppt/tableStyles.xml><?xml version="1.0" encoding="utf-8"?>
<a:tblStyleLst xmlns:a="http://schemas.openxmlformats.org/drawingml/2006/main" def="{5EA0A50E-D806-47F9-8622-6DD71D228117}">
  <a:tblStyle styleId="{5EA0A50E-D806-47F9-8622-6DD71D2281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F5872E5-C1AD-4070-BBC1-F28DE486AAC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79248" autoAdjust="0"/>
  </p:normalViewPr>
  <p:slideViewPr>
    <p:cSldViewPr snapToGrid="0">
      <p:cViewPr varScale="1">
        <p:scale>
          <a:sx n="117" d="100"/>
          <a:sy n="117" d="100"/>
        </p:scale>
        <p:origin x="466" y="8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font" Target="fonts/font2.fntdata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font" Target="fonts/font5.fntdata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.fntdata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notesMaster" Target="notesMasters/notesMaster1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font" Target="fonts/font3.fntdata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C2D75284-4872-09BD-0C34-9CBAC7EE6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59FAC60-474F-BCB9-56D2-7FBA3993DB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8614FD04-5E25-15E3-2E21-74BDEE1BF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3703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FF7C4AF-77C2-E4FC-0324-802C2C1FF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00CD7D73-E346-51E6-7C4D-A660B7A05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568CC264-EA0E-2CE1-D0D6-528261A261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51619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01923616-AA71-F027-ADB3-3FE94157F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06F5AF0-2FFD-80B4-FC2E-B1A8583DB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F55C41F2-F92E-87E6-2545-2DD32720F0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9400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5A85EC1-92BE-7CFD-6AF0-51A34C0AF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AF1F378-5500-78F3-CFD2-32F4CABDA4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7ECACEDA-7DF3-E4BC-E7A3-3224AFF31B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1705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9A666ED0-0A63-19C7-C737-F44007CD9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1B5F3FF6-056E-5327-80E2-043DDE7870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4B01DE68-AA42-DE9B-A978-29583DFD88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34288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E66D9A8A-66C4-4256-2D53-F2217CEFB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14943FD-1D4B-42A7-FF4D-7A6A1F57B5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BD33C7A9-CA75-5181-03C5-B16D3E83E4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7618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7FEF52F-83C4-52A7-3F27-7555333EF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8CADEFA0-3FA3-946D-E5E0-773249F37D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FA443AA-875C-DE7B-ECA9-6E76C5B371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74786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B22C19E-0AC6-AA67-DF29-5FD3C2494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D0951FA7-0BCD-3541-F6CF-11C5434FC1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D47D1BFB-4C7F-34A9-7CA9-8D572E52FC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7441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C1AAEDD-2599-9F2D-3609-17B59C013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5CB9207C-102B-D01B-4733-6939591B80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3D39B6FB-1DDE-8DCD-1B71-94962A0706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3701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15C5006D-1749-D820-9256-9A9F8BAB7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10F479FA-AC01-47DC-1A61-D0727D6C3E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498ADDDA-C647-D2AF-6D5C-9830FF76C2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7066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19A8D819-09D7-9602-5FC2-30F47DB78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6B4A43F3-475F-0CAB-6F3E-48D15762EB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4D5485CD-10CB-736F-D1D7-257A584C58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78401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30BC33E-523D-9935-65C0-60DB92CAC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AB678B94-4B55-BB6B-2591-BC83979EB8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391DA220-ADD9-90BF-54D8-DB507C9ED9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06800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65513ADF-D25A-8A46-173B-23DD4E8E9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55E96B1E-F2EA-EB1C-517F-1E37A80115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C4285475-11CA-18A0-55FB-A527DE24A3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501008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0237E12-1274-E7A0-519A-903D7F4B6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DA7611F-D37D-CE4C-215B-C4367952CD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9D86D6C2-E9F1-1FBC-4E57-065AFB097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18971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BC3624EC-CDCB-C4BF-E865-129C7070F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29228B2F-F006-7393-4D18-500EA001DF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49935E5C-D63A-6D35-B0AF-CAFE287BE7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9195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32638C62-64E0-22E4-9441-3EAAE7A22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700B4C11-7ACE-9FB9-6EC5-666A70D7D9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46D5573-123E-15FE-9A00-631110E6C1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4060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3B55A417-891B-7181-9641-16CC52744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34468CA-68C0-336E-A4C8-068430D38E7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A72353F-E70D-F12D-0DCC-FC6E413F8E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89746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DDBA6C31-1303-D48D-64BA-746798378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B436A855-B062-EEAA-1CB4-57ADF13A45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CEE28A56-890D-BDD3-0F93-14A9091E8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5974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98D8D8A4-6256-47C7-6406-2BC3BA516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B058B959-CB61-A6C0-290A-2F6817D6EB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E032B4F-9006-735F-A2E8-44C1A74210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20147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448B554-861B-14D4-628A-5D5B87006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7F36C5CB-DDB8-9173-CAE6-4A3A41875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AD12079B-CAB4-009D-B18C-07BBD5463E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22355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65F35C0D-9076-1959-2C27-BF8209C2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9E2B4A3-A451-1606-2719-13C74A765F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CE74342A-2AAC-88FF-9A86-3E82FB6628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67771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4FD91326-9680-25C1-67EB-123A59292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3CB3AC8E-0865-38FA-F9D7-B24A07647A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A1B3F200-B48D-BB7B-D285-D47E3814F9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990903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F40171E7-DDC8-D039-1069-154636E70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6A51469B-2992-2831-2E3A-D1B4F50702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608250A4-5E64-6930-3006-CD0BCDD216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43457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1B4F9071-92E4-E547-6625-D8CE111CF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221CD9D8-6BC2-EF8A-988F-F2E9021A16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03B8B5BC-72DB-43AE-C5EE-5F17DF70C4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48876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16DC9284-8BBE-9A35-FAC5-57F170721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6E086D64-EFA8-478C-06E9-47CB33D3E0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4D49C61-5DAB-653C-4057-99ECB8ADB6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32892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830FA4C-DF17-CB88-018A-C22046041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775840B-3910-F0BD-B66C-4EA971DFA2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A895A47B-09A1-2FDD-E31D-DB89B26702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36441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2E59E09-F220-0FA4-3501-10356B308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D437566-78DC-07B8-FAD0-9D828C0F2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025DEF23-68E4-499E-807B-306A6F33DD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48736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D0ED28F8-F21A-ECC5-099E-A5113E67B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6D940C16-097C-5795-D7F7-23BDAADE7C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533B9E96-7AF3-E573-186C-2480F07015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48691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691FEA28-5CFC-4DAE-0B4E-C37E96498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BD704079-EAF2-D480-9CAE-D4199EF596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B5B32B7-17EA-3A93-05FA-D7E93AD315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7700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D5FFB624-062B-7B02-90E1-9719DCD30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37DB94E7-C4A9-9B4B-E34D-F8EFC9C4FF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1ABB348C-33E4-2CCA-3767-557382952E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751793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374B52BE-CA6E-BC70-5ECF-F37594E73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DF71744-A663-8508-2CC1-8759E57CEC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509BD41D-7C7A-3C60-6DC6-D038B4DDC9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169122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1E8922C-DB3D-0DBD-EBF2-6CC2760D0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9A7CAF70-78EC-100E-BFBA-AF2FBB43F4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2FAF8436-1D1A-61E4-940F-4745C245B2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44190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5A351EB8-BA28-D90F-977A-5502F4015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5BC54EA9-A986-2949-2938-9318057D69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4D4F67F3-89A5-48CF-564D-38B2198FB4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14641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2545D2CA-FFE7-7358-93DF-2FBEF42B9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2481B0FF-5869-F978-2EB9-E683FEE275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CC90C445-154C-1433-91F8-C6501C4862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692566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E973D4FB-09CF-16F3-51B6-E9FACE63A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3D7B3BB-E2FA-084E-854C-6F265E7F3C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1FD8CCCD-1035-574E-7009-1D6CC83DF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922659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68BF9B1F-D2D0-E5B1-D088-426FF3FBD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C2664589-E872-876F-E421-78D5533B52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C9A3AA07-FB35-1650-E0F6-4E2F830036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50576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248E05D-0D8E-4968-E2BF-50C603230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508779E6-1EB6-2979-42B2-5D387FB98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7C28271-EDE0-0CB7-DF09-66C7F60859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77103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14620128-6152-B570-1584-C716FBB2C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E0498631-44F6-6226-2C97-BBE1050B06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B92AF6BC-B040-4C60-392D-AEA8FAB513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135829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B63A2523-3BA8-5966-EBC7-BB4F93641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4AEFC780-1B46-45DA-E5E1-B09737881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B017E81E-8D2E-994C-CD61-F22978D014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7384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90205510-EB1F-9FE6-8ED2-FC3768A62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470F9280-8E37-B324-FE08-34A07B03A0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160A97E-42C7-8918-9FE4-4FA9C78514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835607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7CD49BC9-6FCF-2FA6-AF49-9910F7F89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3062BEFF-06B9-F367-E319-578AFE57CE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EB0B459E-3328-51E7-E40A-A9E2E42408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511076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081DB1D7-BFB9-1E9A-4F75-0720C116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464F605C-7405-6DF8-0483-2378AD8358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3BAF433A-194C-04BE-4860-6A0F001B5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983043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>
          <a:extLst>
            <a:ext uri="{FF2B5EF4-FFF2-40B4-BE49-F238E27FC236}">
              <a16:creationId xmlns:a16="http://schemas.microsoft.com/office/drawing/2014/main" id="{5F931383-D12A-F021-1728-324658475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54dda1946d_6_332:notes">
            <a:extLst>
              <a:ext uri="{FF2B5EF4-FFF2-40B4-BE49-F238E27FC236}">
                <a16:creationId xmlns:a16="http://schemas.microsoft.com/office/drawing/2014/main" id="{BCEB857A-B09C-9CFB-3C75-2A8F879F93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54dda1946d_6_332:notes">
            <a:extLst>
              <a:ext uri="{FF2B5EF4-FFF2-40B4-BE49-F238E27FC236}">
                <a16:creationId xmlns:a16="http://schemas.microsoft.com/office/drawing/2014/main" id="{F61073A7-8447-C970-809F-31D9DB410F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74373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3"/>
          <p:cNvGrpSpPr/>
          <p:nvPr/>
        </p:nvGrpSpPr>
        <p:grpSpPr>
          <a:xfrm>
            <a:off x="173003" y="643329"/>
            <a:ext cx="8773518" cy="4278864"/>
            <a:chOff x="173003" y="643329"/>
            <a:chExt cx="8773518" cy="4278864"/>
          </a:xfrm>
        </p:grpSpPr>
        <p:grpSp>
          <p:nvGrpSpPr>
            <p:cNvPr id="314" name="Google Shape;314;p23"/>
            <p:cNvGrpSpPr/>
            <p:nvPr/>
          </p:nvGrpSpPr>
          <p:grpSpPr>
            <a:xfrm>
              <a:off x="173003" y="4096500"/>
              <a:ext cx="967437" cy="825693"/>
              <a:chOff x="173003" y="4096500"/>
              <a:chExt cx="967437" cy="825693"/>
            </a:xfrm>
          </p:grpSpPr>
          <p:grpSp>
            <p:nvGrpSpPr>
              <p:cNvPr id="315" name="Google Shape;315;p23"/>
              <p:cNvGrpSpPr/>
              <p:nvPr/>
            </p:nvGrpSpPr>
            <p:grpSpPr>
              <a:xfrm>
                <a:off x="1026290" y="4807998"/>
                <a:ext cx="114150" cy="114196"/>
                <a:chOff x="-685100" y="4136737"/>
                <a:chExt cx="38359" cy="38359"/>
              </a:xfrm>
            </p:grpSpPr>
            <p:sp>
              <p:nvSpPr>
                <p:cNvPr id="316" name="Google Shape;316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7" name="Google Shape;317;p23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18" name="Google Shape;318;p23"/>
              <p:cNvSpPr/>
              <p:nvPr/>
            </p:nvSpPr>
            <p:spPr>
              <a:xfrm>
                <a:off x="173003" y="4580297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23"/>
              <p:cNvSpPr/>
              <p:nvPr/>
            </p:nvSpPr>
            <p:spPr>
              <a:xfrm>
                <a:off x="492962" y="40965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20" name="Google Shape;320;p23"/>
            <p:cNvGrpSpPr/>
            <p:nvPr/>
          </p:nvGrpSpPr>
          <p:grpSpPr>
            <a:xfrm>
              <a:off x="8422315" y="643329"/>
              <a:ext cx="524205" cy="880858"/>
              <a:chOff x="8422315" y="643329"/>
              <a:chExt cx="524205" cy="880858"/>
            </a:xfrm>
          </p:grpSpPr>
          <p:sp>
            <p:nvSpPr>
              <p:cNvPr id="321" name="Google Shape;321;p23"/>
              <p:cNvSpPr/>
              <p:nvPr/>
            </p:nvSpPr>
            <p:spPr>
              <a:xfrm>
                <a:off x="8841460" y="1057460"/>
                <a:ext cx="105061" cy="100776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35" extrusionOk="0">
                    <a:moveTo>
                      <a:pt x="662" y="1"/>
                    </a:moveTo>
                    <a:lnTo>
                      <a:pt x="1" y="110"/>
                    </a:lnTo>
                    <a:lnTo>
                      <a:pt x="425" y="634"/>
                    </a:lnTo>
                    <a:lnTo>
                      <a:pt x="662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23"/>
              <p:cNvSpPr/>
              <p:nvPr/>
            </p:nvSpPr>
            <p:spPr>
              <a:xfrm>
                <a:off x="8430777" y="643329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3"/>
              <p:cNvSpPr/>
              <p:nvPr/>
            </p:nvSpPr>
            <p:spPr>
              <a:xfrm>
                <a:off x="8422315" y="149768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24" name="Google Shape;324;p23"/>
          <p:cNvSpPr txBox="1">
            <a:spLocks noGrp="1"/>
          </p:cNvSpPr>
          <p:nvPr>
            <p:ph type="title"/>
          </p:nvPr>
        </p:nvSpPr>
        <p:spPr>
          <a:xfrm>
            <a:off x="720000" y="521208"/>
            <a:ext cx="77040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23"/>
          <p:cNvSpPr txBox="1">
            <a:spLocks noGrp="1"/>
          </p:cNvSpPr>
          <p:nvPr>
            <p:ph type="subTitle" idx="1"/>
          </p:nvPr>
        </p:nvSpPr>
        <p:spPr>
          <a:xfrm>
            <a:off x="4880547" y="2767175"/>
            <a:ext cx="2713800" cy="10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23"/>
          <p:cNvSpPr txBox="1">
            <a:spLocks noGrp="1"/>
          </p:cNvSpPr>
          <p:nvPr>
            <p:ph type="subTitle" idx="2"/>
          </p:nvPr>
        </p:nvSpPr>
        <p:spPr>
          <a:xfrm>
            <a:off x="1549650" y="2767175"/>
            <a:ext cx="2713800" cy="10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23"/>
          <p:cNvSpPr txBox="1">
            <a:spLocks noGrp="1"/>
          </p:cNvSpPr>
          <p:nvPr>
            <p:ph type="subTitle" idx="3"/>
          </p:nvPr>
        </p:nvSpPr>
        <p:spPr>
          <a:xfrm>
            <a:off x="1549651" y="2366745"/>
            <a:ext cx="27138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328" name="Google Shape;328;p23"/>
          <p:cNvSpPr txBox="1">
            <a:spLocks noGrp="1"/>
          </p:cNvSpPr>
          <p:nvPr>
            <p:ph type="subTitle" idx="4"/>
          </p:nvPr>
        </p:nvSpPr>
        <p:spPr>
          <a:xfrm>
            <a:off x="4880550" y="2366745"/>
            <a:ext cx="2713800" cy="5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oogle Shape;474;p31"/>
          <p:cNvGrpSpPr/>
          <p:nvPr/>
        </p:nvGrpSpPr>
        <p:grpSpPr>
          <a:xfrm>
            <a:off x="138940" y="385979"/>
            <a:ext cx="9153658" cy="4555558"/>
            <a:chOff x="138940" y="385979"/>
            <a:chExt cx="9153658" cy="4555558"/>
          </a:xfrm>
        </p:grpSpPr>
        <p:grpSp>
          <p:nvGrpSpPr>
            <p:cNvPr id="475" name="Google Shape;475;p31"/>
            <p:cNvGrpSpPr/>
            <p:nvPr/>
          </p:nvGrpSpPr>
          <p:grpSpPr>
            <a:xfrm>
              <a:off x="138940" y="385979"/>
              <a:ext cx="815713" cy="707939"/>
              <a:chOff x="138940" y="385979"/>
              <a:chExt cx="815713" cy="707939"/>
            </a:xfrm>
          </p:grpSpPr>
          <p:sp>
            <p:nvSpPr>
              <p:cNvPr id="476" name="Google Shape;476;p31"/>
              <p:cNvSpPr/>
              <p:nvPr/>
            </p:nvSpPr>
            <p:spPr>
              <a:xfrm>
                <a:off x="253090" y="687009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77" name="Google Shape;477;p31"/>
              <p:cNvGrpSpPr/>
              <p:nvPr/>
            </p:nvGrpSpPr>
            <p:grpSpPr>
              <a:xfrm>
                <a:off x="138940" y="979723"/>
                <a:ext cx="114150" cy="114196"/>
                <a:chOff x="-685100" y="4136737"/>
                <a:chExt cx="38359" cy="38359"/>
              </a:xfrm>
            </p:grpSpPr>
            <p:sp>
              <p:nvSpPr>
                <p:cNvPr id="478" name="Google Shape;478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0" y="1"/>
                      </a:moveTo>
                      <a:lnTo>
                        <a:pt x="388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79" name="Google Shape;479;p31"/>
                <p:cNvSpPr/>
                <p:nvPr/>
              </p:nvSpPr>
              <p:spPr>
                <a:xfrm>
                  <a:off x="-685100" y="4136737"/>
                  <a:ext cx="38359" cy="383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" h="389" fill="none" extrusionOk="0">
                      <a:moveTo>
                        <a:pt x="388" y="1"/>
                      </a:moveTo>
                      <a:lnTo>
                        <a:pt x="0" y="389"/>
                      </a:lnTo>
                    </a:path>
                  </a:pathLst>
                </a:custGeom>
                <a:noFill/>
                <a:ln w="9525" cap="rnd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80" name="Google Shape;480;p31"/>
              <p:cNvSpPr/>
              <p:nvPr/>
            </p:nvSpPr>
            <p:spPr>
              <a:xfrm>
                <a:off x="789427" y="385979"/>
                <a:ext cx="165226" cy="135250"/>
              </a:xfrm>
              <a:custGeom>
                <a:avLst/>
                <a:gdLst/>
                <a:ahLst/>
                <a:cxnLst/>
                <a:rect l="l" t="t" r="r" b="b"/>
                <a:pathLst>
                  <a:path w="705" h="577" fill="none" extrusionOk="0">
                    <a:moveTo>
                      <a:pt x="353" y="577"/>
                    </a:moveTo>
                    <a:lnTo>
                      <a:pt x="252" y="511"/>
                    </a:lnTo>
                    <a:cubicBezTo>
                      <a:pt x="8" y="354"/>
                      <a:pt x="8" y="239"/>
                      <a:pt x="1" y="196"/>
                    </a:cubicBezTo>
                    <a:cubicBezTo>
                      <a:pt x="1" y="87"/>
                      <a:pt x="87" y="1"/>
                      <a:pt x="194" y="1"/>
                    </a:cubicBezTo>
                    <a:cubicBezTo>
                      <a:pt x="259" y="1"/>
                      <a:pt x="316" y="37"/>
                      <a:pt x="353" y="87"/>
                    </a:cubicBezTo>
                    <a:cubicBezTo>
                      <a:pt x="389" y="37"/>
                      <a:pt x="446" y="1"/>
                      <a:pt x="511" y="1"/>
                    </a:cubicBezTo>
                    <a:cubicBezTo>
                      <a:pt x="611" y="1"/>
                      <a:pt x="698" y="87"/>
                      <a:pt x="698" y="196"/>
                    </a:cubicBezTo>
                    <a:cubicBezTo>
                      <a:pt x="698" y="239"/>
                      <a:pt x="704" y="354"/>
                      <a:pt x="453" y="51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1" name="Google Shape;481;p31"/>
            <p:cNvGrpSpPr/>
            <p:nvPr/>
          </p:nvGrpSpPr>
          <p:grpSpPr>
            <a:xfrm>
              <a:off x="7815365" y="3282566"/>
              <a:ext cx="1477233" cy="1658972"/>
              <a:chOff x="7815365" y="3282566"/>
              <a:chExt cx="1477233" cy="1658972"/>
            </a:xfrm>
          </p:grpSpPr>
          <p:sp>
            <p:nvSpPr>
              <p:cNvPr id="482" name="Google Shape;482;p31"/>
              <p:cNvSpPr/>
              <p:nvPr/>
            </p:nvSpPr>
            <p:spPr>
              <a:xfrm>
                <a:off x="7815365" y="4915034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31"/>
              <p:cNvSpPr/>
              <p:nvPr/>
            </p:nvSpPr>
            <p:spPr>
              <a:xfrm>
                <a:off x="8675210" y="3282566"/>
                <a:ext cx="105061" cy="99348"/>
              </a:xfrm>
              <a:custGeom>
                <a:avLst/>
                <a:gdLst/>
                <a:ahLst/>
                <a:cxnLst/>
                <a:rect l="l" t="t" r="r" b="b"/>
                <a:pathLst>
                  <a:path w="662" h="626" extrusionOk="0">
                    <a:moveTo>
                      <a:pt x="1" y="1"/>
                    </a:moveTo>
                    <a:lnTo>
                      <a:pt x="239" y="625"/>
                    </a:lnTo>
                    <a:lnTo>
                      <a:pt x="662" y="101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31"/>
              <p:cNvSpPr/>
              <p:nvPr/>
            </p:nvSpPr>
            <p:spPr>
              <a:xfrm>
                <a:off x="8522812" y="3749800"/>
                <a:ext cx="99155" cy="99350"/>
              </a:xfrm>
              <a:custGeom>
                <a:avLst/>
                <a:gdLst/>
                <a:ahLst/>
                <a:cxnLst/>
                <a:rect l="l" t="t" r="r" b="b"/>
                <a:pathLst>
                  <a:path w="561" h="562" fill="none" extrusionOk="0">
                    <a:moveTo>
                      <a:pt x="561" y="282"/>
                    </a:moveTo>
                    <a:cubicBezTo>
                      <a:pt x="561" y="432"/>
                      <a:pt x="438" y="561"/>
                      <a:pt x="281" y="561"/>
                    </a:cubicBezTo>
                    <a:cubicBezTo>
                      <a:pt x="129" y="561"/>
                      <a:pt x="0" y="432"/>
                      <a:pt x="0" y="282"/>
                    </a:cubicBezTo>
                    <a:cubicBezTo>
                      <a:pt x="0" y="123"/>
                      <a:pt x="129" y="0"/>
                      <a:pt x="281" y="0"/>
                    </a:cubicBezTo>
                    <a:cubicBezTo>
                      <a:pt x="438" y="0"/>
                      <a:pt x="561" y="123"/>
                      <a:pt x="561" y="282"/>
                    </a:cubicBezTo>
                    <a:close/>
                  </a:path>
                </a:pathLst>
              </a:custGeom>
              <a:noFill/>
              <a:ln w="9525" cap="rnd" cmpd="sng">
                <a:solidFill>
                  <a:schemeClr val="l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31"/>
              <p:cNvSpPr/>
              <p:nvPr/>
            </p:nvSpPr>
            <p:spPr>
              <a:xfrm>
                <a:off x="8873465" y="3439722"/>
                <a:ext cx="419133" cy="26503"/>
              </a:xfrm>
              <a:custGeom>
                <a:avLst/>
                <a:gdLst/>
                <a:ahLst/>
                <a:cxnLst/>
                <a:rect l="l" t="t" r="r" b="b"/>
                <a:pathLst>
                  <a:path w="2641" h="167" fill="none" extrusionOk="0">
                    <a:moveTo>
                      <a:pt x="1" y="0"/>
                    </a:moveTo>
                    <a:cubicBezTo>
                      <a:pt x="216" y="0"/>
                      <a:pt x="216" y="166"/>
                      <a:pt x="441" y="166"/>
                    </a:cubicBezTo>
                    <a:cubicBezTo>
                      <a:pt x="656" y="166"/>
                      <a:pt x="656" y="0"/>
                      <a:pt x="879" y="0"/>
                    </a:cubicBezTo>
                    <a:cubicBezTo>
                      <a:pt x="1101" y="0"/>
                      <a:pt x="1101" y="166"/>
                      <a:pt x="1317" y="166"/>
                    </a:cubicBezTo>
                    <a:cubicBezTo>
                      <a:pt x="1540" y="166"/>
                      <a:pt x="1540" y="0"/>
                      <a:pt x="1762" y="0"/>
                    </a:cubicBezTo>
                    <a:cubicBezTo>
                      <a:pt x="1978" y="0"/>
                      <a:pt x="1978" y="166"/>
                      <a:pt x="2200" y="166"/>
                    </a:cubicBezTo>
                    <a:cubicBezTo>
                      <a:pt x="2416" y="166"/>
                      <a:pt x="2416" y="0"/>
                      <a:pt x="2640" y="0"/>
                    </a:cubicBez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86" name="Google Shape;486;p31"/>
          <p:cNvSpPr txBox="1">
            <a:spLocks noGrp="1"/>
          </p:cNvSpPr>
          <p:nvPr>
            <p:ph type="title" hasCustomPrompt="1"/>
          </p:nvPr>
        </p:nvSpPr>
        <p:spPr>
          <a:xfrm>
            <a:off x="1327325" y="1487975"/>
            <a:ext cx="13989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7" name="Google Shape;487;p31"/>
          <p:cNvSpPr txBox="1">
            <a:spLocks noGrp="1"/>
          </p:cNvSpPr>
          <p:nvPr>
            <p:ph type="subTitle" idx="1"/>
          </p:nvPr>
        </p:nvSpPr>
        <p:spPr>
          <a:xfrm>
            <a:off x="789425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88" name="Google Shape;488;p31"/>
          <p:cNvSpPr txBox="1">
            <a:spLocks noGrp="1"/>
          </p:cNvSpPr>
          <p:nvPr>
            <p:ph type="subTitle" idx="2"/>
          </p:nvPr>
        </p:nvSpPr>
        <p:spPr>
          <a:xfrm>
            <a:off x="789425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89" name="Google Shape;489;p31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487975"/>
            <a:ext cx="13977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0" name="Google Shape;490;p31"/>
          <p:cNvSpPr txBox="1">
            <a:spLocks noGrp="1"/>
          </p:cNvSpPr>
          <p:nvPr>
            <p:ph type="subTitle" idx="4"/>
          </p:nvPr>
        </p:nvSpPr>
        <p:spPr>
          <a:xfrm>
            <a:off x="3418010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1" name="Google Shape;491;p31"/>
          <p:cNvSpPr txBox="1">
            <a:spLocks noGrp="1"/>
          </p:cNvSpPr>
          <p:nvPr>
            <p:ph type="subTitle" idx="5"/>
          </p:nvPr>
        </p:nvSpPr>
        <p:spPr>
          <a:xfrm>
            <a:off x="3418010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92" name="Google Shape;492;p31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487975"/>
            <a:ext cx="1397700" cy="493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93" name="Google Shape;493;p31"/>
          <p:cNvSpPr txBox="1">
            <a:spLocks noGrp="1"/>
          </p:cNvSpPr>
          <p:nvPr>
            <p:ph type="subTitle" idx="7"/>
          </p:nvPr>
        </p:nvSpPr>
        <p:spPr>
          <a:xfrm>
            <a:off x="6046596" y="2914023"/>
            <a:ext cx="2307900" cy="88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4" name="Google Shape;494;p31"/>
          <p:cNvSpPr txBox="1">
            <a:spLocks noGrp="1"/>
          </p:cNvSpPr>
          <p:nvPr>
            <p:ph type="subTitle" idx="8"/>
          </p:nvPr>
        </p:nvSpPr>
        <p:spPr>
          <a:xfrm>
            <a:off x="6046596" y="2561675"/>
            <a:ext cx="2307900" cy="49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000" b="1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495" name="Google Shape;495;p31"/>
          <p:cNvSpPr txBox="1">
            <a:spLocks noGrp="1"/>
          </p:cNvSpPr>
          <p:nvPr>
            <p:ph type="title" idx="9"/>
          </p:nvPr>
        </p:nvSpPr>
        <p:spPr>
          <a:xfrm>
            <a:off x="720000" y="5212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8" name="Google Shape;508;p33"/>
          <p:cNvGrpSpPr/>
          <p:nvPr/>
        </p:nvGrpSpPr>
        <p:grpSpPr>
          <a:xfrm>
            <a:off x="161390" y="169473"/>
            <a:ext cx="8787130" cy="4849563"/>
            <a:chOff x="161390" y="169473"/>
            <a:chExt cx="8787130" cy="4849563"/>
          </a:xfrm>
        </p:grpSpPr>
        <p:sp>
          <p:nvSpPr>
            <p:cNvPr id="509" name="Google Shape;509;p33"/>
            <p:cNvSpPr/>
            <p:nvPr/>
          </p:nvSpPr>
          <p:spPr>
            <a:xfrm>
              <a:off x="1066352" y="28367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33"/>
            <p:cNvSpPr/>
            <p:nvPr/>
          </p:nvSpPr>
          <p:spPr>
            <a:xfrm>
              <a:off x="161390" y="75368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1" name="Google Shape;511;p33"/>
            <p:cNvGrpSpPr/>
            <p:nvPr/>
          </p:nvGrpSpPr>
          <p:grpSpPr>
            <a:xfrm>
              <a:off x="509840" y="169473"/>
              <a:ext cx="114150" cy="114196"/>
              <a:chOff x="-685100" y="4136737"/>
              <a:chExt cx="38359" cy="38359"/>
            </a:xfrm>
          </p:grpSpPr>
          <p:sp>
            <p:nvSpPr>
              <p:cNvPr id="512" name="Google Shape;512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4" name="Google Shape;514;p33"/>
            <p:cNvSpPr/>
            <p:nvPr/>
          </p:nvSpPr>
          <p:spPr>
            <a:xfrm>
              <a:off x="318435" y="116496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33"/>
            <p:cNvSpPr/>
            <p:nvPr/>
          </p:nvSpPr>
          <p:spPr>
            <a:xfrm>
              <a:off x="7686165" y="4891734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6" name="Google Shape;516;p33"/>
            <p:cNvGrpSpPr/>
            <p:nvPr/>
          </p:nvGrpSpPr>
          <p:grpSpPr>
            <a:xfrm>
              <a:off x="8510815" y="4649073"/>
              <a:ext cx="114150" cy="114196"/>
              <a:chOff x="-685100" y="4136737"/>
              <a:chExt cx="38359" cy="38359"/>
            </a:xfrm>
          </p:grpSpPr>
          <p:sp>
            <p:nvSpPr>
              <p:cNvPr id="517" name="Google Shape;517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33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19" name="Google Shape;519;p33"/>
            <p:cNvSpPr/>
            <p:nvPr/>
          </p:nvSpPr>
          <p:spPr>
            <a:xfrm>
              <a:off x="8846412" y="42097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33"/>
            <p:cNvSpPr/>
            <p:nvPr/>
          </p:nvSpPr>
          <p:spPr>
            <a:xfrm>
              <a:off x="8843460" y="491826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33"/>
            <p:cNvSpPr/>
            <p:nvPr/>
          </p:nvSpPr>
          <p:spPr>
            <a:xfrm>
              <a:off x="8510815" y="37910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oogle Shape;523;p34"/>
          <p:cNvGrpSpPr/>
          <p:nvPr/>
        </p:nvGrpSpPr>
        <p:grpSpPr>
          <a:xfrm>
            <a:off x="83890" y="2026310"/>
            <a:ext cx="8947508" cy="1725551"/>
            <a:chOff x="83890" y="2026310"/>
            <a:chExt cx="8947508" cy="1725551"/>
          </a:xfrm>
        </p:grpSpPr>
        <p:sp>
          <p:nvSpPr>
            <p:cNvPr id="524" name="Google Shape;524;p34"/>
            <p:cNvSpPr/>
            <p:nvPr/>
          </p:nvSpPr>
          <p:spPr>
            <a:xfrm>
              <a:off x="397960" y="2026310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34"/>
            <p:cNvSpPr/>
            <p:nvPr/>
          </p:nvSpPr>
          <p:spPr>
            <a:xfrm>
              <a:off x="8612277" y="3291629"/>
              <a:ext cx="165226" cy="135250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34"/>
            <p:cNvSpPr/>
            <p:nvPr/>
          </p:nvSpPr>
          <p:spPr>
            <a:xfrm>
              <a:off x="83890" y="234890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7" name="Google Shape;527;p34"/>
            <p:cNvGrpSpPr/>
            <p:nvPr/>
          </p:nvGrpSpPr>
          <p:grpSpPr>
            <a:xfrm>
              <a:off x="8912990" y="2710048"/>
              <a:ext cx="114150" cy="114196"/>
              <a:chOff x="-685100" y="4136737"/>
              <a:chExt cx="38359" cy="38359"/>
            </a:xfrm>
          </p:grpSpPr>
          <p:sp>
            <p:nvSpPr>
              <p:cNvPr id="528" name="Google Shape;528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0" name="Google Shape;530;p34"/>
            <p:cNvSpPr/>
            <p:nvPr/>
          </p:nvSpPr>
          <p:spPr>
            <a:xfrm>
              <a:off x="157487" y="2618125"/>
              <a:ext cx="99155" cy="99350"/>
            </a:xfrm>
            <a:custGeom>
              <a:avLst/>
              <a:gdLst/>
              <a:ahLst/>
              <a:cxnLst/>
              <a:rect l="l" t="t" r="r" b="b"/>
              <a:pathLst>
                <a:path w="561" h="562" fill="none" extrusionOk="0">
                  <a:moveTo>
                    <a:pt x="561" y="282"/>
                  </a:moveTo>
                  <a:cubicBezTo>
                    <a:pt x="561" y="432"/>
                    <a:pt x="438" y="561"/>
                    <a:pt x="281" y="561"/>
                  </a:cubicBezTo>
                  <a:cubicBezTo>
                    <a:pt x="129" y="561"/>
                    <a:pt x="0" y="432"/>
                    <a:pt x="0" y="282"/>
                  </a:cubicBezTo>
                  <a:cubicBezTo>
                    <a:pt x="0" y="123"/>
                    <a:pt x="129" y="0"/>
                    <a:pt x="281" y="0"/>
                  </a:cubicBezTo>
                  <a:cubicBezTo>
                    <a:pt x="438" y="0"/>
                    <a:pt x="561" y="123"/>
                    <a:pt x="561" y="282"/>
                  </a:cubicBezTo>
                  <a:close/>
                </a:path>
              </a:pathLst>
            </a:custGeom>
            <a:noFill/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1" name="Google Shape;531;p34"/>
            <p:cNvGrpSpPr/>
            <p:nvPr/>
          </p:nvGrpSpPr>
          <p:grpSpPr>
            <a:xfrm>
              <a:off x="503015" y="2710048"/>
              <a:ext cx="114150" cy="114196"/>
              <a:chOff x="-685100" y="4136737"/>
              <a:chExt cx="38359" cy="38359"/>
            </a:xfrm>
          </p:grpSpPr>
          <p:sp>
            <p:nvSpPr>
              <p:cNvPr id="532" name="Google Shape;532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0" y="1"/>
                    </a:moveTo>
                    <a:lnTo>
                      <a:pt x="388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4"/>
              <p:cNvSpPr/>
              <p:nvPr/>
            </p:nvSpPr>
            <p:spPr>
              <a:xfrm>
                <a:off x="-685100" y="4136737"/>
                <a:ext cx="38359" cy="38359"/>
              </a:xfrm>
              <a:custGeom>
                <a:avLst/>
                <a:gdLst/>
                <a:ahLst/>
                <a:cxnLst/>
                <a:rect l="l" t="t" r="r" b="b"/>
                <a:pathLst>
                  <a:path w="389" h="389" fill="none" extrusionOk="0">
                    <a:moveTo>
                      <a:pt x="388" y="1"/>
                    </a:moveTo>
                    <a:lnTo>
                      <a:pt x="0" y="389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34" name="Google Shape;534;p34"/>
            <p:cNvSpPr/>
            <p:nvPr/>
          </p:nvSpPr>
          <p:spPr>
            <a:xfrm>
              <a:off x="8917547" y="3651085"/>
              <a:ext cx="105061" cy="100776"/>
            </a:xfrm>
            <a:custGeom>
              <a:avLst/>
              <a:gdLst/>
              <a:ahLst/>
              <a:cxnLst/>
              <a:rect l="l" t="t" r="r" b="b"/>
              <a:pathLst>
                <a:path w="662" h="635" extrusionOk="0">
                  <a:moveTo>
                    <a:pt x="662" y="1"/>
                  </a:moveTo>
                  <a:lnTo>
                    <a:pt x="1" y="110"/>
                  </a:lnTo>
                  <a:lnTo>
                    <a:pt x="425" y="634"/>
                  </a:lnTo>
                  <a:lnTo>
                    <a:pt x="662" y="1"/>
                  </a:lnTo>
                  <a:close/>
                </a:path>
              </a:pathLst>
            </a:custGeom>
            <a:noFill/>
            <a:ln w="952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34"/>
            <p:cNvSpPr/>
            <p:nvPr/>
          </p:nvSpPr>
          <p:spPr>
            <a:xfrm>
              <a:off x="8612265" y="3113759"/>
              <a:ext cx="419133" cy="26503"/>
            </a:xfrm>
            <a:custGeom>
              <a:avLst/>
              <a:gdLst/>
              <a:ahLst/>
              <a:cxnLst/>
              <a:rect l="l" t="t" r="r" b="b"/>
              <a:pathLst>
                <a:path w="2641" h="167" fill="none" extrusionOk="0">
                  <a:moveTo>
                    <a:pt x="1" y="0"/>
                  </a:moveTo>
                  <a:cubicBezTo>
                    <a:pt x="216" y="0"/>
                    <a:pt x="216" y="166"/>
                    <a:pt x="441" y="166"/>
                  </a:cubicBezTo>
                  <a:cubicBezTo>
                    <a:pt x="656" y="166"/>
                    <a:pt x="656" y="0"/>
                    <a:pt x="879" y="0"/>
                  </a:cubicBezTo>
                  <a:cubicBezTo>
                    <a:pt x="1101" y="0"/>
                    <a:pt x="1101" y="166"/>
                    <a:pt x="1317" y="166"/>
                  </a:cubicBezTo>
                  <a:cubicBezTo>
                    <a:pt x="1540" y="166"/>
                    <a:pt x="1540" y="0"/>
                    <a:pt x="1762" y="0"/>
                  </a:cubicBezTo>
                  <a:cubicBezTo>
                    <a:pt x="1978" y="0"/>
                    <a:pt x="1978" y="166"/>
                    <a:pt x="2200" y="166"/>
                  </a:cubicBezTo>
                  <a:cubicBezTo>
                    <a:pt x="2416" y="166"/>
                    <a:pt x="2416" y="0"/>
                    <a:pt x="2640" y="0"/>
                  </a:cubicBezTo>
                </a:path>
              </a:pathLst>
            </a:custGeom>
            <a:noFill/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>
            <a:alpha val="0"/>
          </a:scheme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69" r:id="rId2"/>
    <p:sldLayoutId id="2147483677" r:id="rId3"/>
    <p:sldLayoutId id="2147483679" r:id="rId4"/>
    <p:sldLayoutId id="214748368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hyperlink" Target="https://hybridheroes.de/blog/2019-06-03-flutter-redux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viblo.asia/p/flutter-how-to-use-redux-1VgZvpgO5Aw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log.logrocket.com/flutter-redux-complete-tutorial-with-examples/" TargetMode="External"/><Relationship Id="rId5" Type="http://schemas.openxmlformats.org/officeDocument/2006/relationships/hyperlink" Target="https://redux.js.org/understanding/history-and-design/middleware#understanding-middleware" TargetMode="External"/><Relationship Id="rId4" Type="http://schemas.openxmlformats.org/officeDocument/2006/relationships/hyperlink" Target="https://redux.js.org/usage/side-effects-approaches#redux-and-side-effects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F1DD1CF1-43C9-F5F5-CBA8-8FEC35936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FF762E-ECD9-D0C7-3028-2575F52ABF68}"/>
              </a:ext>
            </a:extLst>
          </p:cNvPr>
          <p:cNvSpPr txBox="1"/>
          <p:nvPr/>
        </p:nvSpPr>
        <p:spPr>
          <a:xfrm>
            <a:off x="2292474" y="3577200"/>
            <a:ext cx="4750018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dirty="0">
                <a:latin typeface="+mj-lt"/>
              </a:rPr>
              <a:t>GVHD:	TS. Nguyễn Duy Nhật </a:t>
            </a:r>
            <a:r>
              <a:rPr lang="en-US" sz="1300" b="1" dirty="0" err="1">
                <a:latin typeface="+mj-lt"/>
              </a:rPr>
              <a:t>Viễn</a:t>
            </a:r>
            <a:endParaRPr lang="en-US" sz="1300" b="1" dirty="0">
              <a:latin typeface="+mj-lt"/>
            </a:endParaRPr>
          </a:p>
          <a:p>
            <a:endParaRPr lang="en-US" sz="1300" b="1" dirty="0">
              <a:latin typeface="+mj-lt"/>
            </a:endParaRPr>
          </a:p>
          <a:p>
            <a:r>
              <a:rPr lang="en-US" sz="1300" b="1" dirty="0">
                <a:latin typeface="+mj-lt"/>
              </a:rPr>
              <a:t>SVTH:	Trần Đại Tín – 22KTMT2 – 106220272</a:t>
            </a:r>
          </a:p>
          <a:p>
            <a:r>
              <a:rPr lang="en-US" sz="1300" b="1" dirty="0">
                <a:latin typeface="+mj-lt"/>
              </a:rPr>
              <a:t>	Nguyễn Xuân Trường – 22KTMT2 - 106220275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82D26FC4-9D00-F995-6DDC-AFCCDB3AB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924311" cy="865940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6B3D812-303A-5830-1A92-D25C989B557D}"/>
              </a:ext>
            </a:extLst>
          </p:cNvPr>
          <p:cNvSpPr txBox="1">
            <a:spLocks/>
          </p:cNvSpPr>
          <p:nvPr/>
        </p:nvSpPr>
        <p:spPr>
          <a:xfrm>
            <a:off x="497885" y="986166"/>
            <a:ext cx="7975100" cy="729253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Báo </a:t>
            </a:r>
            <a:r>
              <a:rPr lang="en-US" sz="18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cáo</a:t>
            </a:r>
            <a:r>
              <a:rPr lang="en-US" sz="18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Tuần</a:t>
            </a:r>
            <a:endParaRPr lang="en-US" sz="1800" b="1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Môn: </a:t>
            </a:r>
            <a:r>
              <a:rPr lang="en-US" sz="18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Lập</a:t>
            </a:r>
            <a:r>
              <a:rPr lang="en-US" sz="18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trình</a:t>
            </a:r>
            <a:r>
              <a:rPr lang="en-US" sz="18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đa</a:t>
            </a:r>
            <a:r>
              <a:rPr lang="en-US" sz="18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nền</a:t>
            </a:r>
            <a:r>
              <a:rPr lang="en-US" sz="18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tảng</a:t>
            </a:r>
            <a:endParaRPr lang="vi-VN" sz="1800" b="1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85869ED-74B9-F172-0824-979E695F56BF}"/>
              </a:ext>
            </a:extLst>
          </p:cNvPr>
          <p:cNvSpPr txBox="1">
            <a:spLocks/>
          </p:cNvSpPr>
          <p:nvPr/>
        </p:nvSpPr>
        <p:spPr>
          <a:xfrm>
            <a:off x="209984" y="2138780"/>
            <a:ext cx="8914998" cy="865940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en-US" sz="34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Đề</a:t>
            </a:r>
            <a:r>
              <a:rPr lang="en-US" sz="34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34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tài</a:t>
            </a:r>
            <a:r>
              <a:rPr lang="en-US" sz="34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: Redux Pattern </a:t>
            </a:r>
            <a:r>
              <a:rPr lang="en-US" sz="34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trong</a:t>
            </a:r>
            <a:r>
              <a:rPr lang="en-US" sz="34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Flutter</a:t>
            </a:r>
            <a:endParaRPr lang="vi-VN" sz="3400" b="1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CB40A9-8515-59B8-F99C-5C0740CD38F4}"/>
              </a:ext>
            </a:extLst>
          </p:cNvPr>
          <p:cNvSpPr txBox="1"/>
          <p:nvPr/>
        </p:nvSpPr>
        <p:spPr>
          <a:xfrm>
            <a:off x="3191759" y="247502"/>
            <a:ext cx="295144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TRƯỜNG ĐẠI HỌC BÁCH KHOA</a:t>
            </a:r>
          </a:p>
          <a:p>
            <a:pPr algn="ctr"/>
            <a:r>
              <a:rPr lang="en-US" b="1" dirty="0"/>
              <a:t>KHOA ĐIỆN TỬ - VIỄN THÔNG</a:t>
            </a:r>
          </a:p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ADA343-5C9C-CBF9-357E-C9336CE7C6BC}"/>
              </a:ext>
            </a:extLst>
          </p:cNvPr>
          <p:cNvSpPr txBox="1"/>
          <p:nvPr/>
        </p:nvSpPr>
        <p:spPr>
          <a:xfrm>
            <a:off x="3877737" y="4866501"/>
            <a:ext cx="12153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Đà</a:t>
            </a:r>
            <a:r>
              <a:rPr lang="en-US" sz="1200" dirty="0"/>
              <a:t> </a:t>
            </a:r>
            <a:r>
              <a:rPr lang="en-US" sz="1200" dirty="0" err="1"/>
              <a:t>Nẵng</a:t>
            </a:r>
            <a:r>
              <a:rPr lang="en-US" sz="1200" dirty="0"/>
              <a:t>, 2025</a:t>
            </a:r>
          </a:p>
        </p:txBody>
      </p:sp>
    </p:spTree>
    <p:extLst>
      <p:ext uri="{BB962C8B-B14F-4D97-AF65-F5344CB8AC3E}">
        <p14:creationId xmlns:p14="http://schemas.microsoft.com/office/powerpoint/2010/main" val="1774506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69F50C2-E992-8B78-46FA-6FCD6D8C0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4C54C9-C3AA-C4EC-536C-1CC8478780BC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2073BE"/>
                </a:solidFill>
              </a:rPr>
              <a:t>Phân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công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công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việc</a:t>
            </a:r>
            <a:endParaRPr lang="en-US" sz="2400" b="1" dirty="0">
              <a:solidFill>
                <a:srgbClr val="2073BE"/>
              </a:solidFill>
            </a:endParaRP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76886CA0-332E-0342-4DB0-B5426125CE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CE642668-66A7-EEDC-19C0-0EB497C1C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466963"/>
              </p:ext>
            </p:extLst>
          </p:nvPr>
        </p:nvGraphicFramePr>
        <p:xfrm>
          <a:off x="840376" y="1367790"/>
          <a:ext cx="7463248" cy="2407920"/>
        </p:xfrm>
        <a:graphic>
          <a:graphicData uri="http://schemas.openxmlformats.org/drawingml/2006/table">
            <a:tbl>
              <a:tblPr firstRow="1" bandRow="1">
                <a:tableStyleId>{5EA0A50E-D806-47F9-8622-6DD71D228117}</a:tableStyleId>
              </a:tblPr>
              <a:tblGrid>
                <a:gridCol w="886099">
                  <a:extLst>
                    <a:ext uri="{9D8B030D-6E8A-4147-A177-3AD203B41FA5}">
                      <a16:colId xmlns:a16="http://schemas.microsoft.com/office/drawing/2014/main" val="1707618354"/>
                    </a:ext>
                  </a:extLst>
                </a:gridCol>
                <a:gridCol w="2266406">
                  <a:extLst>
                    <a:ext uri="{9D8B030D-6E8A-4147-A177-3AD203B41FA5}">
                      <a16:colId xmlns:a16="http://schemas.microsoft.com/office/drawing/2014/main" val="820199955"/>
                    </a:ext>
                  </a:extLst>
                </a:gridCol>
                <a:gridCol w="3344091">
                  <a:extLst>
                    <a:ext uri="{9D8B030D-6E8A-4147-A177-3AD203B41FA5}">
                      <a16:colId xmlns:a16="http://schemas.microsoft.com/office/drawing/2014/main" val="457859812"/>
                    </a:ext>
                  </a:extLst>
                </a:gridCol>
                <a:gridCol w="966652">
                  <a:extLst>
                    <a:ext uri="{9D8B030D-6E8A-4147-A177-3AD203B41FA5}">
                      <a16:colId xmlns:a16="http://schemas.microsoft.com/office/drawing/2014/main" val="4242739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STT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HỌ VÀ TÊN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NỘI DUNG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TỶ LỆ ĐÓNG GÓP</a:t>
                      </a:r>
                    </a:p>
                  </a:txBody>
                  <a:tcPr anchor="ctr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180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Trần Đại Tín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Tìm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hiểu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về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Store, Actions, Reducers concepts, 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StoreConnector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và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StoreBuilder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 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Làm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slide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và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kiểm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tra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nội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dung.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6423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Nguyễn Xuân Trường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Tìm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hiểu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về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Middleware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và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side effects, Time-travel debugging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-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Làm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báo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cáo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và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kiểm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tra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nội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dung.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47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635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1BA7BF79-2DD7-E1BC-964B-D07EDD004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EBD57E4-89B4-07A7-2031-FD6FEC3FD4BD}"/>
              </a:ext>
            </a:extLst>
          </p:cNvPr>
          <p:cNvSpPr/>
          <p:nvPr/>
        </p:nvSpPr>
        <p:spPr>
          <a:xfrm>
            <a:off x="609836" y="5376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 err="1">
                <a:solidFill>
                  <a:srgbClr val="2073BE"/>
                </a:solidFill>
              </a:rPr>
              <a:t>Nội</a:t>
            </a:r>
            <a:r>
              <a:rPr lang="en-US" sz="2400" b="1" dirty="0">
                <a:solidFill>
                  <a:srgbClr val="2073BE"/>
                </a:solidFill>
              </a:rPr>
              <a:t> dung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27460CC-9670-8C7A-68F4-EDD06D147AAC}"/>
              </a:ext>
            </a:extLst>
          </p:cNvPr>
          <p:cNvSpPr/>
          <p:nvPr/>
        </p:nvSpPr>
        <p:spPr>
          <a:xfrm>
            <a:off x="337576" y="1963522"/>
            <a:ext cx="2299063" cy="1119523"/>
          </a:xfrm>
          <a:prstGeom prst="roundRect">
            <a:avLst/>
          </a:prstGeom>
          <a:solidFill>
            <a:srgbClr val="D1F3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1. TỔNG QUAN VỀ REDUX PATTERN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732CE6-9A96-FDDC-CEF1-F915A0E94D09}"/>
              </a:ext>
            </a:extLst>
          </p:cNvPr>
          <p:cNvSpPr/>
          <p:nvPr/>
        </p:nvSpPr>
        <p:spPr>
          <a:xfrm>
            <a:off x="3424882" y="1963522"/>
            <a:ext cx="2299063" cy="1119523"/>
          </a:xfrm>
          <a:prstGeom prst="roundRect">
            <a:avLst/>
          </a:prstGeom>
          <a:solidFill>
            <a:srgbClr val="D1F3FD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2. LÀM VIỆC VỚI REDUX PATTERN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C83F69B-5874-7C22-FBBD-C69DFA1A5BA7}"/>
              </a:ext>
            </a:extLst>
          </p:cNvPr>
          <p:cNvSpPr/>
          <p:nvPr/>
        </p:nvSpPr>
        <p:spPr>
          <a:xfrm>
            <a:off x="6512188" y="1963830"/>
            <a:ext cx="2299063" cy="1119523"/>
          </a:xfrm>
          <a:prstGeom prst="roundRect">
            <a:avLst/>
          </a:prstGeom>
          <a:solidFill>
            <a:srgbClr val="D1F3F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3. TÀI LIỆU </a:t>
            </a:r>
          </a:p>
          <a:p>
            <a:pPr algn="ctr"/>
            <a:r>
              <a:rPr lang="en-US" b="1" dirty="0">
                <a:solidFill>
                  <a:schemeClr val="tx1"/>
                </a:solidFill>
              </a:rPr>
              <a:t>THAM KHẢO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576A1D-53A7-6089-DB0A-000BF6093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90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2533620-CB82-7961-C77D-1E250C5A8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DF9E5C-12E4-4D35-9C5F-59CAE23EA710}"/>
              </a:ext>
            </a:extLst>
          </p:cNvPr>
          <p:cNvSpPr txBox="1"/>
          <p:nvPr/>
        </p:nvSpPr>
        <p:spPr>
          <a:xfrm>
            <a:off x="1105871" y="1093113"/>
            <a:ext cx="629423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/>
              <a:t>Khi </a:t>
            </a:r>
            <a:r>
              <a:rPr lang="en-GB" sz="1800" dirty="0" err="1"/>
              <a:t>ứng</a:t>
            </a:r>
            <a:r>
              <a:rPr lang="en-GB" sz="1800" dirty="0"/>
              <a:t> </a:t>
            </a:r>
            <a:r>
              <a:rPr lang="en-GB" sz="1800" dirty="0" err="1"/>
              <a:t>dụng</a:t>
            </a:r>
            <a:r>
              <a:rPr lang="en-GB" sz="1800" dirty="0"/>
              <a:t> Flutter </a:t>
            </a:r>
            <a:r>
              <a:rPr lang="en-GB" sz="1800" dirty="0" err="1"/>
              <a:t>trở</a:t>
            </a:r>
            <a:r>
              <a:rPr lang="en-GB" sz="1800" dirty="0"/>
              <a:t> </a:t>
            </a:r>
            <a:r>
              <a:rPr lang="en-GB" sz="1800" dirty="0" err="1"/>
              <a:t>nên</a:t>
            </a:r>
            <a:r>
              <a:rPr lang="en-GB" sz="1800" dirty="0"/>
              <a:t> </a:t>
            </a:r>
            <a:r>
              <a:rPr lang="en-GB" sz="1800" dirty="0" err="1"/>
              <a:t>phát</a:t>
            </a:r>
            <a:r>
              <a:rPr lang="en-GB" sz="1800" dirty="0"/>
              <a:t> </a:t>
            </a:r>
            <a:r>
              <a:rPr lang="en-GB" sz="1800" dirty="0" err="1"/>
              <a:t>triển</a:t>
            </a:r>
            <a:r>
              <a:rPr lang="en-GB" sz="1800" dirty="0"/>
              <a:t> </a:t>
            </a:r>
            <a:r>
              <a:rPr lang="en-GB" sz="1800" dirty="0" err="1"/>
              <a:t>hơn</a:t>
            </a:r>
            <a:r>
              <a:rPr lang="en-GB" sz="1800" dirty="0"/>
              <a:t> </a:t>
            </a:r>
            <a:r>
              <a:rPr lang="en-GB" sz="1800" dirty="0" err="1"/>
              <a:t>nhiều</a:t>
            </a:r>
            <a:r>
              <a:rPr lang="en-GB" sz="1800" dirty="0"/>
              <a:t> </a:t>
            </a:r>
            <a:r>
              <a:rPr lang="en-GB" sz="1800" dirty="0" err="1"/>
              <a:t>màn</a:t>
            </a:r>
            <a:r>
              <a:rPr lang="en-GB" sz="1800" dirty="0"/>
              <a:t> </a:t>
            </a:r>
            <a:r>
              <a:rPr lang="en-GB" sz="1800" dirty="0" err="1"/>
              <a:t>hình</a:t>
            </a:r>
            <a:r>
              <a:rPr lang="en-GB" sz="1800" dirty="0"/>
              <a:t>, </a:t>
            </a:r>
            <a:r>
              <a:rPr lang="en-GB" sz="1800" dirty="0" err="1"/>
              <a:t>nhiều</a:t>
            </a:r>
            <a:r>
              <a:rPr lang="en-GB" sz="1800" dirty="0"/>
              <a:t> API, </a:t>
            </a:r>
            <a:r>
              <a:rPr lang="en-GB" sz="1800" dirty="0" err="1"/>
              <a:t>nhiều</a:t>
            </a:r>
            <a:r>
              <a:rPr lang="en-GB" sz="1800" dirty="0"/>
              <a:t> </a:t>
            </a:r>
            <a:r>
              <a:rPr lang="en-GB" sz="1800" dirty="0" err="1"/>
              <a:t>sự</a:t>
            </a:r>
            <a:r>
              <a:rPr lang="en-GB" sz="1800" dirty="0"/>
              <a:t> </a:t>
            </a:r>
            <a:r>
              <a:rPr lang="en-GB" sz="1800" dirty="0" err="1"/>
              <a:t>kiện</a:t>
            </a:r>
            <a:r>
              <a:rPr lang="en-GB" sz="1800" dirty="0"/>
              <a:t> </a:t>
            </a:r>
            <a:r>
              <a:rPr lang="en-GB" sz="1800" dirty="0" err="1"/>
              <a:t>người</a:t>
            </a:r>
            <a:r>
              <a:rPr lang="en-GB" sz="1800" dirty="0"/>
              <a:t> </a:t>
            </a:r>
            <a:r>
              <a:rPr lang="en-GB" sz="1800" dirty="0" err="1"/>
              <a:t>dùng</a:t>
            </a:r>
            <a:r>
              <a:rPr lang="en-GB" sz="1800" dirty="0"/>
              <a:t> </a:t>
            </a:r>
            <a:r>
              <a:rPr lang="en-GB" sz="1800" dirty="0" err="1"/>
              <a:t>thì</a:t>
            </a:r>
            <a:r>
              <a:rPr lang="en-GB" sz="1800" dirty="0"/>
              <a:t> </a:t>
            </a:r>
            <a:r>
              <a:rPr lang="en-GB" sz="1800" dirty="0" err="1"/>
              <a:t>việc</a:t>
            </a:r>
            <a:r>
              <a:rPr lang="en-GB" sz="1800" dirty="0"/>
              <a:t> </a:t>
            </a:r>
            <a:r>
              <a:rPr lang="en-GB" sz="1800" dirty="0" err="1"/>
              <a:t>quản</a:t>
            </a:r>
            <a:r>
              <a:rPr lang="en-GB" sz="1800" dirty="0"/>
              <a:t> </a:t>
            </a:r>
            <a:r>
              <a:rPr lang="en-GB" sz="1800" dirty="0" err="1"/>
              <a:t>lý</a:t>
            </a:r>
            <a:r>
              <a:rPr lang="en-GB" sz="1800" dirty="0"/>
              <a:t> </a:t>
            </a:r>
            <a:r>
              <a:rPr lang="en-GB" sz="1800" dirty="0" err="1"/>
              <a:t>trạng</a:t>
            </a:r>
            <a:r>
              <a:rPr lang="en-GB" sz="1800" dirty="0"/>
              <a:t> </a:t>
            </a:r>
            <a:r>
              <a:rPr lang="en-GB" sz="1800" dirty="0" err="1"/>
              <a:t>thái</a:t>
            </a:r>
            <a:r>
              <a:rPr lang="en-GB" sz="1800" dirty="0"/>
              <a:t> (state management) </a:t>
            </a:r>
            <a:r>
              <a:rPr lang="en-GB" sz="1800" dirty="0" err="1"/>
              <a:t>từ</a:t>
            </a:r>
            <a:r>
              <a:rPr lang="en-GB" sz="1800" dirty="0"/>
              <a:t> </a:t>
            </a:r>
            <a:r>
              <a:rPr lang="en-GB" sz="1800" dirty="0" err="1"/>
              <a:t>một</a:t>
            </a:r>
            <a:r>
              <a:rPr lang="en-GB" sz="1800" dirty="0"/>
              <a:t> </a:t>
            </a:r>
            <a:r>
              <a:rPr lang="en-GB" sz="1800" dirty="0" err="1"/>
              <a:t>màn</a:t>
            </a:r>
            <a:r>
              <a:rPr lang="en-GB" sz="1800" dirty="0"/>
              <a:t> </a:t>
            </a:r>
            <a:r>
              <a:rPr lang="en-GB" sz="1800" dirty="0" err="1"/>
              <a:t>hình</a:t>
            </a:r>
            <a:r>
              <a:rPr lang="en-GB" sz="1800" dirty="0"/>
              <a:t> </a:t>
            </a:r>
            <a:r>
              <a:rPr lang="en-GB" sz="1800" dirty="0" err="1"/>
              <a:t>đơn</a:t>
            </a:r>
            <a:r>
              <a:rPr lang="en-GB" sz="1800" dirty="0"/>
              <a:t> </a:t>
            </a:r>
            <a:r>
              <a:rPr lang="en-GB" sz="1800" dirty="0" err="1"/>
              <a:t>lẻ</a:t>
            </a:r>
            <a:r>
              <a:rPr lang="en-GB" sz="1800" dirty="0"/>
              <a:t> </a:t>
            </a:r>
            <a:r>
              <a:rPr lang="en-GB" sz="1800" dirty="0" err="1"/>
              <a:t>trở</a:t>
            </a:r>
            <a:r>
              <a:rPr lang="en-GB" sz="1800" dirty="0"/>
              <a:t> </a:t>
            </a:r>
            <a:r>
              <a:rPr lang="en-GB" sz="1800" dirty="0" err="1"/>
              <a:t>nên</a:t>
            </a:r>
            <a:r>
              <a:rPr lang="en-GB" sz="1800" dirty="0"/>
              <a:t> </a:t>
            </a:r>
            <a:r>
              <a:rPr lang="en-GB" sz="1800" dirty="0" err="1"/>
              <a:t>khó</a:t>
            </a:r>
            <a:r>
              <a:rPr lang="en-GB" sz="1800" dirty="0"/>
              <a:t> </a:t>
            </a:r>
            <a:r>
              <a:rPr lang="en-GB" sz="1800" dirty="0" err="1"/>
              <a:t>kiểm</a:t>
            </a:r>
            <a:r>
              <a:rPr lang="en-GB" sz="1800" dirty="0"/>
              <a:t> </a:t>
            </a:r>
            <a:r>
              <a:rPr lang="en-GB" sz="1800" dirty="0" err="1"/>
              <a:t>soát</a:t>
            </a:r>
            <a:r>
              <a:rPr lang="en-GB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63D186-8A2A-33BE-B20F-7D83CA079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BCDC41E-CF29-41FB-DEC3-4033AFA692EE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1. </a:t>
            </a:r>
            <a:r>
              <a:rPr lang="en-US" sz="2400" b="1" dirty="0" err="1">
                <a:solidFill>
                  <a:srgbClr val="2073BE"/>
                </a:solidFill>
              </a:rPr>
              <a:t>Tổng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quan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về</a:t>
            </a:r>
            <a:r>
              <a:rPr lang="en-US" sz="2400" b="1" dirty="0">
                <a:solidFill>
                  <a:srgbClr val="2073BE"/>
                </a:solidFill>
              </a:rPr>
              <a:t> Redux Pattern</a:t>
            </a:r>
            <a:endParaRPr lang="vi-VN"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F68884-01BF-234B-F429-CDC19B59F371}"/>
              </a:ext>
            </a:extLst>
          </p:cNvPr>
          <p:cNvSpPr txBox="1"/>
          <p:nvPr/>
        </p:nvSpPr>
        <p:spPr>
          <a:xfrm>
            <a:off x="1105871" y="2638280"/>
            <a:ext cx="668577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Ta </a:t>
            </a:r>
            <a:r>
              <a:rPr lang="en-GB" sz="1800" dirty="0" err="1"/>
              <a:t>có</a:t>
            </a:r>
            <a:r>
              <a:rPr lang="en-GB" sz="1800" dirty="0"/>
              <a:t> </a:t>
            </a:r>
            <a:r>
              <a:rPr lang="en-GB" sz="1800" dirty="0" err="1"/>
              <a:t>thể</a:t>
            </a:r>
            <a:r>
              <a:rPr lang="en-GB" sz="1800" dirty="0"/>
              <a:t> </a:t>
            </a:r>
            <a:r>
              <a:rPr lang="en-GB" sz="1800" dirty="0" err="1"/>
              <a:t>gặp</a:t>
            </a:r>
            <a:r>
              <a:rPr lang="en-GB" sz="1800" dirty="0"/>
              <a:t> </a:t>
            </a:r>
            <a:r>
              <a:rPr lang="en-GB" sz="1800" dirty="0" err="1"/>
              <a:t>những</a:t>
            </a:r>
            <a:r>
              <a:rPr lang="en-GB" sz="1800" dirty="0"/>
              <a:t> </a:t>
            </a:r>
            <a:r>
              <a:rPr lang="en-GB" sz="1800" dirty="0" err="1"/>
              <a:t>vấn</a:t>
            </a:r>
            <a:r>
              <a:rPr lang="en-GB" sz="1800" dirty="0"/>
              <a:t> </a:t>
            </a:r>
            <a:r>
              <a:rPr lang="en-GB" sz="1800" dirty="0" err="1"/>
              <a:t>đề</a:t>
            </a:r>
            <a:r>
              <a:rPr lang="en-GB" sz="1800" dirty="0"/>
              <a:t> </a:t>
            </a:r>
            <a:r>
              <a:rPr lang="en-GB" sz="1800" dirty="0" err="1"/>
              <a:t>như</a:t>
            </a:r>
            <a:r>
              <a:rPr lang="en-GB" sz="1800" dirty="0"/>
              <a:t>:</a:t>
            </a:r>
          </a:p>
          <a:p>
            <a:endParaRPr lang="en-US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Dữ</a:t>
            </a:r>
            <a:r>
              <a:rPr lang="en-GB" sz="1800" dirty="0"/>
              <a:t> </a:t>
            </a:r>
            <a:r>
              <a:rPr lang="en-GB" sz="1800" dirty="0" err="1"/>
              <a:t>liệu</a:t>
            </a:r>
            <a:r>
              <a:rPr lang="en-GB" sz="1800" dirty="0"/>
              <a:t> </a:t>
            </a:r>
            <a:r>
              <a:rPr lang="en-GB" sz="1800" dirty="0" err="1"/>
              <a:t>bị</a:t>
            </a:r>
            <a:r>
              <a:rPr lang="en-GB" sz="1800" dirty="0"/>
              <a:t> </a:t>
            </a:r>
            <a:r>
              <a:rPr lang="en-GB" sz="1800" dirty="0" err="1"/>
              <a:t>phân</a:t>
            </a:r>
            <a:r>
              <a:rPr lang="en-GB" sz="1800" dirty="0"/>
              <a:t> </a:t>
            </a:r>
            <a:r>
              <a:rPr lang="en-GB" sz="1800" dirty="0" err="1"/>
              <a:t>tán</a:t>
            </a:r>
            <a:r>
              <a:rPr lang="en-GB" sz="1800" dirty="0"/>
              <a:t> </a:t>
            </a:r>
            <a:r>
              <a:rPr lang="en-GB" sz="1800" dirty="0" err="1"/>
              <a:t>khắp</a:t>
            </a:r>
            <a:r>
              <a:rPr lang="en-GB" sz="1800" dirty="0"/>
              <a:t> </a:t>
            </a:r>
            <a:r>
              <a:rPr lang="en-GB" sz="1800" dirty="0" err="1"/>
              <a:t>nơi</a:t>
            </a:r>
            <a:r>
              <a:rPr lang="en-GB" sz="1800" dirty="0"/>
              <a:t> </a:t>
            </a:r>
            <a:r>
              <a:rPr lang="en-GB" sz="1800" dirty="0" err="1"/>
              <a:t>và</a:t>
            </a:r>
            <a:r>
              <a:rPr lang="en-GB" sz="1800" dirty="0"/>
              <a:t> </a:t>
            </a:r>
            <a:r>
              <a:rPr lang="en-GB" sz="1800" dirty="0" err="1"/>
              <a:t>khó</a:t>
            </a:r>
            <a:r>
              <a:rPr lang="en-GB" sz="1800" dirty="0"/>
              <a:t> </a:t>
            </a:r>
            <a:r>
              <a:rPr lang="en-GB" sz="1800" dirty="0" err="1"/>
              <a:t>theo</a:t>
            </a:r>
            <a:r>
              <a:rPr lang="en-GB" sz="1800" dirty="0"/>
              <a:t> </a:t>
            </a:r>
            <a:r>
              <a:rPr lang="en-GB" sz="1800" dirty="0" err="1"/>
              <a:t>dõi</a:t>
            </a:r>
            <a:r>
              <a:rPr lang="en-GB" sz="1800" dirty="0"/>
              <a:t>.</a:t>
            </a:r>
            <a:endParaRPr lang="en-US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 err="1"/>
              <a:t>Nhiều</a:t>
            </a:r>
            <a:r>
              <a:rPr lang="en-GB" sz="1800" dirty="0"/>
              <a:t> widget </a:t>
            </a:r>
            <a:r>
              <a:rPr lang="en-GB" sz="1800" dirty="0" err="1"/>
              <a:t>cùng</a:t>
            </a:r>
            <a:r>
              <a:rPr lang="en-GB" sz="1800" dirty="0"/>
              <a:t> </a:t>
            </a:r>
            <a:r>
              <a:rPr lang="en-GB" sz="1800" dirty="0" err="1"/>
              <a:t>thay</a:t>
            </a:r>
            <a:r>
              <a:rPr lang="en-GB" sz="1800" dirty="0"/>
              <a:t> </a:t>
            </a:r>
            <a:r>
              <a:rPr lang="en-GB" sz="1800" dirty="0" err="1"/>
              <a:t>đổi</a:t>
            </a:r>
            <a:r>
              <a:rPr lang="en-GB" sz="1800" dirty="0"/>
              <a:t> </a:t>
            </a:r>
            <a:r>
              <a:rPr lang="en-GB" sz="1800" dirty="0" err="1"/>
              <a:t>nhưng</a:t>
            </a:r>
            <a:r>
              <a:rPr lang="en-GB" sz="1800" dirty="0"/>
              <a:t> </a:t>
            </a:r>
            <a:r>
              <a:rPr lang="en-GB" sz="1800" dirty="0" err="1"/>
              <a:t>cập</a:t>
            </a:r>
            <a:r>
              <a:rPr lang="en-GB" sz="1800" dirty="0"/>
              <a:t> </a:t>
            </a:r>
            <a:r>
              <a:rPr lang="en-GB" sz="1800" dirty="0" err="1"/>
              <a:t>nhật</a:t>
            </a:r>
            <a:r>
              <a:rPr lang="en-GB" sz="1800" dirty="0"/>
              <a:t> </a:t>
            </a:r>
            <a:r>
              <a:rPr lang="en-GB" sz="1800" dirty="0" err="1"/>
              <a:t>không</a:t>
            </a:r>
            <a:r>
              <a:rPr lang="en-GB" sz="1800" dirty="0"/>
              <a:t> </a:t>
            </a:r>
            <a:r>
              <a:rPr lang="en-GB" sz="1800" dirty="0" err="1"/>
              <a:t>đúng</a:t>
            </a:r>
            <a:r>
              <a:rPr lang="en-GB" sz="1800" dirty="0"/>
              <a:t> </a:t>
            </a:r>
            <a:r>
              <a:rPr lang="en-GB" sz="1800" dirty="0" err="1"/>
              <a:t>lúc</a:t>
            </a:r>
            <a:r>
              <a:rPr lang="en-GB" sz="1800" dirty="0"/>
              <a:t> </a:t>
            </a:r>
            <a:r>
              <a:rPr lang="en-GB" sz="1800" dirty="0" err="1"/>
              <a:t>hoặc</a:t>
            </a:r>
            <a:r>
              <a:rPr lang="en-GB" sz="1800" dirty="0"/>
              <a:t> </a:t>
            </a:r>
            <a:r>
              <a:rPr lang="en-GB" sz="1800" dirty="0" err="1"/>
              <a:t>lặp</a:t>
            </a:r>
            <a:r>
              <a:rPr lang="en-GB" sz="1800" dirty="0"/>
              <a:t> </a:t>
            </a:r>
            <a:r>
              <a:rPr lang="en-GB" sz="1800" dirty="0" err="1"/>
              <a:t>lại</a:t>
            </a:r>
            <a:r>
              <a:rPr lang="en-GB" sz="1800" dirty="0"/>
              <a:t> </a:t>
            </a:r>
            <a:r>
              <a:rPr lang="en-GB" sz="1800" dirty="0" err="1"/>
              <a:t>nhiều</a:t>
            </a:r>
            <a:r>
              <a:rPr lang="en-GB" sz="1800" dirty="0"/>
              <a:t> </a:t>
            </a:r>
            <a:r>
              <a:rPr lang="en-GB" sz="1800" dirty="0" err="1"/>
              <a:t>lần</a:t>
            </a:r>
            <a:r>
              <a:rPr lang="en-GB" sz="1800" dirty="0"/>
              <a:t>.</a:t>
            </a:r>
            <a:endParaRPr lang="en-US" sz="18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sz="1800" dirty="0"/>
              <a:t>Logic </a:t>
            </a:r>
            <a:r>
              <a:rPr lang="en-GB" sz="1800" dirty="0" err="1"/>
              <a:t>thay</a:t>
            </a:r>
            <a:r>
              <a:rPr lang="en-GB" sz="1800" dirty="0"/>
              <a:t> </a:t>
            </a:r>
            <a:r>
              <a:rPr lang="en-GB" sz="1800" dirty="0" err="1"/>
              <a:t>đổi</a:t>
            </a:r>
            <a:r>
              <a:rPr lang="en-GB" sz="1800" dirty="0"/>
              <a:t> </a:t>
            </a:r>
            <a:r>
              <a:rPr lang="en-GB" sz="1800" dirty="0" err="1"/>
              <a:t>dữ</a:t>
            </a:r>
            <a:r>
              <a:rPr lang="en-GB" sz="1800" dirty="0"/>
              <a:t> </a:t>
            </a:r>
            <a:r>
              <a:rPr lang="en-GB" sz="1800" dirty="0" err="1"/>
              <a:t>liệu</a:t>
            </a:r>
            <a:r>
              <a:rPr lang="en-GB" sz="1800" dirty="0"/>
              <a:t> </a:t>
            </a:r>
            <a:r>
              <a:rPr lang="en-GB" sz="1800" dirty="0" err="1"/>
              <a:t>bị</a:t>
            </a:r>
            <a:r>
              <a:rPr lang="en-GB" sz="1800" dirty="0"/>
              <a:t> </a:t>
            </a:r>
            <a:r>
              <a:rPr lang="en-GB" sz="1800" dirty="0" err="1"/>
              <a:t>trộn</a:t>
            </a:r>
            <a:r>
              <a:rPr lang="en-GB" sz="1800" dirty="0"/>
              <a:t> </a:t>
            </a:r>
            <a:r>
              <a:rPr lang="en-GB" sz="1800" dirty="0" err="1"/>
              <a:t>lẫn</a:t>
            </a:r>
            <a:r>
              <a:rPr lang="en-GB" sz="1800" dirty="0"/>
              <a:t> </a:t>
            </a:r>
            <a:r>
              <a:rPr lang="en-GB" sz="1800" dirty="0" err="1"/>
              <a:t>với</a:t>
            </a:r>
            <a:r>
              <a:rPr lang="en-GB" sz="1800" dirty="0"/>
              <a:t> UI, </a:t>
            </a:r>
            <a:r>
              <a:rPr lang="en-GB" sz="1800" dirty="0" err="1"/>
              <a:t>dẫn</a:t>
            </a:r>
            <a:r>
              <a:rPr lang="en-GB" sz="1800" dirty="0"/>
              <a:t> </a:t>
            </a:r>
            <a:r>
              <a:rPr lang="en-GB" sz="1800" dirty="0" err="1"/>
              <a:t>tới</a:t>
            </a:r>
            <a:r>
              <a:rPr lang="en-GB" sz="1800" dirty="0"/>
              <a:t> </a:t>
            </a:r>
            <a:r>
              <a:rPr lang="en-GB" sz="1800" dirty="0" err="1"/>
              <a:t>khó</a:t>
            </a:r>
            <a:r>
              <a:rPr lang="en-GB" sz="1800" dirty="0"/>
              <a:t> </a:t>
            </a:r>
            <a:r>
              <a:rPr lang="en-GB" sz="1800" dirty="0" err="1"/>
              <a:t>bảo</a:t>
            </a:r>
            <a:r>
              <a:rPr lang="en-GB" sz="1800" dirty="0"/>
              <a:t> </a:t>
            </a:r>
            <a:r>
              <a:rPr lang="en-GB" sz="1800" dirty="0" err="1"/>
              <a:t>trì</a:t>
            </a:r>
            <a:r>
              <a:rPr lang="en-GB" sz="1800" dirty="0"/>
              <a:t>.</a:t>
            </a:r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79713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A6E0DE00-F764-507E-5999-B26547B39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B34B722-5BE8-5D38-749C-1F3495126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E6DD5F1-79EF-7F88-B7CD-92781C44092C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1. </a:t>
            </a:r>
            <a:r>
              <a:rPr lang="en-US" sz="2400" b="1" dirty="0" err="1">
                <a:solidFill>
                  <a:srgbClr val="2073BE"/>
                </a:solidFill>
              </a:rPr>
              <a:t>Tổng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quan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về</a:t>
            </a:r>
            <a:r>
              <a:rPr lang="en-US" sz="2400" b="1" dirty="0">
                <a:solidFill>
                  <a:srgbClr val="2073BE"/>
                </a:solidFill>
              </a:rPr>
              <a:t> Redux Pattern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964117-CB63-772A-3BEC-5A79F80F91E1}"/>
              </a:ext>
            </a:extLst>
          </p:cNvPr>
          <p:cNvSpPr txBox="1"/>
          <p:nvPr/>
        </p:nvSpPr>
        <p:spPr>
          <a:xfrm>
            <a:off x="4633889" y="1984421"/>
            <a:ext cx="40689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Khi </a:t>
            </a:r>
            <a:r>
              <a:rPr lang="en-US" sz="1800" dirty="0" err="1"/>
              <a:t>ứng</a:t>
            </a:r>
            <a:r>
              <a:rPr lang="en-US" sz="1800" dirty="0"/>
              <a:t> </a:t>
            </a:r>
            <a:r>
              <a:rPr lang="en-US" sz="1800" dirty="0" err="1"/>
              <a:t>dụng</a:t>
            </a:r>
            <a:r>
              <a:rPr lang="en-US" sz="1800" dirty="0"/>
              <a:t> </a:t>
            </a:r>
            <a:r>
              <a:rPr lang="en-US" sz="1800" dirty="0" err="1"/>
              <a:t>mở</a:t>
            </a:r>
            <a:r>
              <a:rPr lang="en-US" sz="1800" dirty="0"/>
              <a:t> </a:t>
            </a:r>
            <a:r>
              <a:rPr lang="en-US" sz="1800" dirty="0" err="1"/>
              <a:t>rộng</a:t>
            </a:r>
            <a:r>
              <a:rPr lang="en-US" sz="1800" dirty="0"/>
              <a:t> </a:t>
            </a:r>
            <a:r>
              <a:rPr lang="en-US" sz="1800" dirty="0" err="1"/>
              <a:t>như</a:t>
            </a:r>
            <a:r>
              <a:rPr lang="en-US" sz="1800" dirty="0"/>
              <a:t> </a:t>
            </a:r>
            <a:r>
              <a:rPr lang="en-US" sz="1800" dirty="0" err="1"/>
              <a:t>cần</a:t>
            </a:r>
            <a:r>
              <a:rPr lang="en-US" sz="1800" dirty="0"/>
              <a:t> </a:t>
            </a:r>
            <a:r>
              <a:rPr lang="en-US" sz="1800" dirty="0" err="1"/>
              <a:t>nhiều</a:t>
            </a:r>
            <a:r>
              <a:rPr lang="en-US" sz="1800" dirty="0"/>
              <a:t> </a:t>
            </a:r>
            <a:r>
              <a:rPr lang="en-US" sz="1800" dirty="0" err="1"/>
              <a:t>màn</a:t>
            </a:r>
            <a:r>
              <a:rPr lang="en-US" sz="1800" dirty="0"/>
              <a:t> </a:t>
            </a:r>
            <a:r>
              <a:rPr lang="en-US" sz="1800" dirty="0" err="1"/>
              <a:t>hình</a:t>
            </a:r>
            <a:r>
              <a:rPr lang="en-US" sz="1800" dirty="0"/>
              <a:t>, </a:t>
            </a:r>
            <a:r>
              <a:rPr lang="en-US" sz="1800" dirty="0" err="1"/>
              <a:t>cần</a:t>
            </a:r>
            <a:r>
              <a:rPr lang="en-US" sz="1800" dirty="0"/>
              <a:t> chia </a:t>
            </a:r>
            <a:r>
              <a:rPr lang="en-US" sz="1800" dirty="0" err="1"/>
              <a:t>sẻ</a:t>
            </a:r>
            <a:r>
              <a:rPr lang="en-US" sz="1800" dirty="0"/>
              <a:t>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,… </a:t>
            </a:r>
            <a:r>
              <a:rPr lang="en-US" sz="1800" dirty="0" err="1"/>
              <a:t>thì</a:t>
            </a:r>
            <a:r>
              <a:rPr lang="en-US" sz="1800" dirty="0"/>
              <a:t> </a:t>
            </a:r>
            <a:r>
              <a:rPr lang="en-US" sz="1800" dirty="0" err="1"/>
              <a:t>việc</a:t>
            </a:r>
            <a:r>
              <a:rPr lang="en-US" sz="1800" dirty="0"/>
              <a:t> </a:t>
            </a:r>
            <a:r>
              <a:rPr lang="en-US" sz="1800" dirty="0" err="1"/>
              <a:t>truyền</a:t>
            </a:r>
            <a:r>
              <a:rPr lang="en-US" sz="1800" dirty="0"/>
              <a:t> state </a:t>
            </a:r>
            <a:r>
              <a:rPr lang="en-US" sz="1800" dirty="0" err="1"/>
              <a:t>trở</a:t>
            </a:r>
            <a:r>
              <a:rPr lang="en-US" sz="1800" dirty="0"/>
              <a:t> </a:t>
            </a:r>
            <a:r>
              <a:rPr lang="en-US" sz="1800" dirty="0" err="1"/>
              <a:t>nên</a:t>
            </a:r>
            <a:r>
              <a:rPr lang="en-US" sz="1800" dirty="0"/>
              <a:t> </a:t>
            </a:r>
            <a:r>
              <a:rPr lang="en-US" sz="1800" dirty="0" err="1"/>
              <a:t>khá</a:t>
            </a:r>
            <a:r>
              <a:rPr lang="en-US" sz="1800" dirty="0"/>
              <a:t> </a:t>
            </a:r>
            <a:r>
              <a:rPr lang="en-US" sz="1800" dirty="0" err="1"/>
              <a:t>rối</a:t>
            </a:r>
            <a:r>
              <a:rPr lang="en-US" sz="1800" dirty="0"/>
              <a:t> </a:t>
            </a:r>
            <a:r>
              <a:rPr lang="en-US" sz="1800" dirty="0" err="1"/>
              <a:t>và</a:t>
            </a:r>
            <a:r>
              <a:rPr lang="en-US" sz="1800" dirty="0"/>
              <a:t> </a:t>
            </a:r>
            <a:r>
              <a:rPr lang="en-US" sz="1800" dirty="0" err="1"/>
              <a:t>khó</a:t>
            </a:r>
            <a:r>
              <a:rPr lang="en-US" sz="1800" dirty="0"/>
              <a:t> </a:t>
            </a:r>
            <a:r>
              <a:rPr lang="en-US" sz="1800" dirty="0" err="1"/>
              <a:t>kiểm</a:t>
            </a:r>
            <a:r>
              <a:rPr lang="en-US" sz="1800" dirty="0"/>
              <a:t> </a:t>
            </a:r>
            <a:r>
              <a:rPr lang="en-US" sz="1800" dirty="0" err="1"/>
              <a:t>soát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6" name="Picture 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54F6636-B602-5AF8-2ED6-0D21394D50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536" y="746551"/>
            <a:ext cx="3815050" cy="408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726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3F7B1CCD-1E17-561B-7EC0-9AA75BE6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95169E-59FC-3AB9-A28D-6A320AC30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6A545921-19F9-39B5-92CB-FFCD04E3BC2F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1. </a:t>
            </a:r>
            <a:r>
              <a:rPr lang="en-US" sz="2400" b="1" dirty="0" err="1">
                <a:solidFill>
                  <a:srgbClr val="2073BE"/>
                </a:solidFill>
              </a:rPr>
              <a:t>Tổng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quan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về</a:t>
            </a:r>
            <a:r>
              <a:rPr lang="en-US" sz="2400" b="1" dirty="0">
                <a:solidFill>
                  <a:srgbClr val="2073BE"/>
                </a:solidFill>
              </a:rPr>
              <a:t> Redux Pattern</a:t>
            </a:r>
            <a:endParaRPr lang="vi-VN"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1BE953-CA7A-F240-D053-A2074954CD15}"/>
              </a:ext>
            </a:extLst>
          </p:cNvPr>
          <p:cNvSpPr txBox="1"/>
          <p:nvPr/>
        </p:nvSpPr>
        <p:spPr>
          <a:xfrm>
            <a:off x="1091970" y="1560838"/>
            <a:ext cx="6960059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j-lt"/>
              </a:rPr>
              <a:t>Ta </a:t>
            </a:r>
            <a:r>
              <a:rPr lang="en-US" sz="1800" dirty="0" err="1">
                <a:latin typeface="+mj-lt"/>
              </a:rPr>
              <a:t>cần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một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kiến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trúc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rõ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ràng</a:t>
            </a:r>
            <a:r>
              <a:rPr lang="en-US" sz="1800" dirty="0">
                <a:latin typeface="+mj-lt"/>
              </a:rPr>
              <a:t>, </a:t>
            </a:r>
            <a:r>
              <a:rPr lang="en-US" sz="1800" dirty="0" err="1">
                <a:latin typeface="+mj-lt"/>
              </a:rPr>
              <a:t>có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luồng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dữ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liệu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một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chiều</a:t>
            </a:r>
            <a:r>
              <a:rPr lang="en-US" sz="1800" dirty="0">
                <a:latin typeface="+mj-lt"/>
              </a:rPr>
              <a:t>, </a:t>
            </a:r>
            <a:r>
              <a:rPr lang="en-US" sz="1800" dirty="0" err="1">
                <a:latin typeface="+mj-lt"/>
              </a:rPr>
              <a:t>giúp</a:t>
            </a:r>
            <a:r>
              <a:rPr lang="en-US" sz="1800" dirty="0">
                <a:latin typeface="+mj-lt"/>
              </a:rPr>
              <a:t>:</a:t>
            </a:r>
          </a:p>
          <a:p>
            <a:r>
              <a:rPr lang="en-US" sz="1800" dirty="0">
                <a:latin typeface="+mj-lt"/>
              </a:rPr>
              <a:t>     + </a:t>
            </a:r>
            <a:r>
              <a:rPr lang="en-US" sz="1800" dirty="0" err="1">
                <a:latin typeface="+mj-lt"/>
              </a:rPr>
              <a:t>Dễ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dự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đoán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kết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quả</a:t>
            </a:r>
            <a:r>
              <a:rPr lang="en-US" sz="1800" dirty="0">
                <a:latin typeface="+mj-lt"/>
              </a:rPr>
              <a:t>.</a:t>
            </a:r>
          </a:p>
          <a:p>
            <a:r>
              <a:rPr lang="en-US" sz="1800" dirty="0">
                <a:latin typeface="+mj-lt"/>
              </a:rPr>
              <a:t>     + </a:t>
            </a:r>
            <a:r>
              <a:rPr lang="en-US" sz="1800" dirty="0" err="1">
                <a:latin typeface="+mj-lt"/>
              </a:rPr>
              <a:t>Dễ</a:t>
            </a:r>
            <a:r>
              <a:rPr lang="en-US" sz="1800" dirty="0">
                <a:latin typeface="+mj-lt"/>
              </a:rPr>
              <a:t> debug, </a:t>
            </a:r>
            <a:r>
              <a:rPr lang="en-US" sz="1800" dirty="0" err="1">
                <a:latin typeface="+mj-lt"/>
              </a:rPr>
              <a:t>mở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rộng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và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bảo</a:t>
            </a:r>
            <a:r>
              <a:rPr lang="en-US" sz="1800" dirty="0">
                <a:latin typeface="+mj-lt"/>
              </a:rPr>
              <a:t> </a:t>
            </a:r>
            <a:r>
              <a:rPr lang="en-US" sz="1800" dirty="0" err="1">
                <a:latin typeface="+mj-lt"/>
              </a:rPr>
              <a:t>trì</a:t>
            </a:r>
            <a:r>
              <a:rPr lang="en-US" sz="1800" dirty="0">
                <a:latin typeface="+mj-lt"/>
              </a:rPr>
              <a:t>.</a:t>
            </a:r>
          </a:p>
          <a:p>
            <a:endParaRPr lang="en-US" sz="18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b="1" dirty="0">
                <a:latin typeface="+mj-lt"/>
              </a:rPr>
              <a:t>Redux</a:t>
            </a:r>
            <a:r>
              <a:rPr lang="en-GB" sz="1800" dirty="0">
                <a:latin typeface="+mj-lt"/>
              </a:rPr>
              <a:t> </a:t>
            </a:r>
            <a:r>
              <a:rPr lang="en-GB" sz="1800" dirty="0" err="1">
                <a:latin typeface="+mj-lt"/>
              </a:rPr>
              <a:t>là</a:t>
            </a:r>
            <a:r>
              <a:rPr lang="en-GB" sz="1800" dirty="0">
                <a:latin typeface="+mj-lt"/>
              </a:rPr>
              <a:t> </a:t>
            </a:r>
            <a:r>
              <a:rPr lang="en-GB" sz="1800" dirty="0" err="1">
                <a:latin typeface="+mj-lt"/>
              </a:rPr>
              <a:t>một</a:t>
            </a:r>
            <a:r>
              <a:rPr lang="en-GB" sz="1800" dirty="0">
                <a:latin typeface="+mj-lt"/>
              </a:rPr>
              <a:t> predictable state container - </a:t>
            </a:r>
            <a:r>
              <a:rPr lang="en-GB" sz="1800" dirty="0" err="1">
                <a:latin typeface="+mj-lt"/>
              </a:rPr>
              <a:t>một</a:t>
            </a:r>
            <a:r>
              <a:rPr lang="en-GB" sz="1800" dirty="0">
                <a:latin typeface="+mj-lt"/>
              </a:rPr>
              <a:t> </a:t>
            </a:r>
            <a:r>
              <a:rPr lang="en-GB" sz="1800" dirty="0" err="1">
                <a:latin typeface="+mj-lt"/>
              </a:rPr>
              <a:t>mô</a:t>
            </a:r>
            <a:r>
              <a:rPr lang="en-GB" sz="1800" dirty="0">
                <a:latin typeface="+mj-lt"/>
              </a:rPr>
              <a:t> </a:t>
            </a:r>
            <a:r>
              <a:rPr lang="en-GB" sz="1800" dirty="0" err="1">
                <a:latin typeface="+mj-lt"/>
              </a:rPr>
              <a:t>hình</a:t>
            </a:r>
            <a:r>
              <a:rPr lang="en-GB" sz="1800" dirty="0">
                <a:latin typeface="+mj-lt"/>
              </a:rPr>
              <a:t> </a:t>
            </a:r>
            <a:r>
              <a:rPr lang="en-GB" sz="1800" dirty="0" err="1">
                <a:latin typeface="+mj-lt"/>
              </a:rPr>
              <a:t>quản</a:t>
            </a:r>
            <a:r>
              <a:rPr lang="en-GB" sz="1800" dirty="0">
                <a:latin typeface="+mj-lt"/>
              </a:rPr>
              <a:t> </a:t>
            </a:r>
            <a:r>
              <a:rPr lang="en-GB" sz="1800" dirty="0" err="1">
                <a:latin typeface="+mj-lt"/>
              </a:rPr>
              <a:t>lý</a:t>
            </a:r>
            <a:r>
              <a:rPr lang="en-GB" sz="1800" dirty="0">
                <a:latin typeface="+mj-lt"/>
              </a:rPr>
              <a:t> </a:t>
            </a:r>
            <a:r>
              <a:rPr lang="en-GB" sz="1800" dirty="0" err="1">
                <a:latin typeface="+mj-lt"/>
              </a:rPr>
              <a:t>trạng</a:t>
            </a:r>
            <a:r>
              <a:rPr lang="en-GB" sz="1800" dirty="0">
                <a:latin typeface="+mj-lt"/>
              </a:rPr>
              <a:t> </a:t>
            </a:r>
            <a:r>
              <a:rPr lang="en-GB" sz="1800" dirty="0" err="1">
                <a:latin typeface="+mj-lt"/>
              </a:rPr>
              <a:t>thái</a:t>
            </a:r>
            <a:r>
              <a:rPr lang="en-GB" sz="1800" dirty="0">
                <a:latin typeface="+mj-lt"/>
              </a:rPr>
              <a:t> </a:t>
            </a:r>
            <a:r>
              <a:rPr lang="en-GB" sz="1800" dirty="0" err="1">
                <a:latin typeface="+mj-lt"/>
              </a:rPr>
              <a:t>có</a:t>
            </a:r>
            <a:r>
              <a:rPr lang="en-GB" sz="1800" dirty="0">
                <a:latin typeface="+mj-lt"/>
              </a:rPr>
              <a:t> </a:t>
            </a:r>
            <a:r>
              <a:rPr lang="en-GB" sz="1800" dirty="0" err="1">
                <a:latin typeface="+mj-lt"/>
              </a:rPr>
              <a:t>nguyên</a:t>
            </a:r>
            <a:r>
              <a:rPr lang="en-GB" sz="1800" dirty="0">
                <a:latin typeface="+mj-lt"/>
              </a:rPr>
              <a:t> </a:t>
            </a:r>
            <a:r>
              <a:rPr lang="en-GB" sz="1800" dirty="0" err="1">
                <a:latin typeface="+mj-lt"/>
              </a:rPr>
              <a:t>tắc</a:t>
            </a:r>
            <a:r>
              <a:rPr lang="en-GB" sz="1800" dirty="0">
                <a:latin typeface="+mj-lt"/>
              </a:rPr>
              <a:t> </a:t>
            </a:r>
            <a:r>
              <a:rPr lang="en-GB" sz="1800" dirty="0" err="1">
                <a:latin typeface="+mj-lt"/>
              </a:rPr>
              <a:t>rõ</a:t>
            </a:r>
            <a:r>
              <a:rPr lang="en-GB" sz="1800" dirty="0">
                <a:latin typeface="+mj-lt"/>
              </a:rPr>
              <a:t> </a:t>
            </a:r>
            <a:r>
              <a:rPr lang="en-GB" sz="1800" dirty="0" err="1">
                <a:latin typeface="+mj-lt"/>
              </a:rPr>
              <a:t>ràng</a:t>
            </a:r>
            <a:r>
              <a:rPr lang="en-GB" sz="1800" dirty="0">
                <a:latin typeface="+mj-lt"/>
              </a:rPr>
              <a:t>.</a:t>
            </a:r>
            <a:endParaRPr lang="en-US" sz="1800" dirty="0">
              <a:latin typeface="+mj-lt"/>
            </a:endParaRPr>
          </a:p>
          <a:p>
            <a:endParaRPr lang="en-US" sz="1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43537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E1D20ABD-A43A-74A6-2101-CF77196EA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678803-6A22-C5F3-C06A-B8CD0B627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406DA5A-0099-5E46-8328-0DE6A7BBA90E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1. </a:t>
            </a:r>
            <a:r>
              <a:rPr lang="en-US" sz="2400" b="1" dirty="0" err="1">
                <a:solidFill>
                  <a:srgbClr val="2073BE"/>
                </a:solidFill>
              </a:rPr>
              <a:t>Tổng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quan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về</a:t>
            </a:r>
            <a:r>
              <a:rPr lang="en-US" sz="2400" b="1" dirty="0">
                <a:solidFill>
                  <a:srgbClr val="2073BE"/>
                </a:solidFill>
              </a:rPr>
              <a:t> Redux Pattern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3D3750-EADC-F35D-6EB8-2194283147A7}"/>
              </a:ext>
            </a:extLst>
          </p:cNvPr>
          <p:cNvSpPr txBox="1"/>
          <p:nvPr/>
        </p:nvSpPr>
        <p:spPr>
          <a:xfrm>
            <a:off x="1229114" y="1168953"/>
            <a:ext cx="668577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600" b="1" dirty="0"/>
              <a:t>1. SINGLE SOURCE OF TRUTH</a:t>
            </a:r>
            <a:endParaRPr lang="en-US" sz="1600" b="1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600" dirty="0" err="1"/>
              <a:t>Toàn</a:t>
            </a:r>
            <a:r>
              <a:rPr lang="en-GB" sz="1600" dirty="0"/>
              <a:t> </a:t>
            </a:r>
            <a:r>
              <a:rPr lang="en-GB" sz="1600" dirty="0" err="1"/>
              <a:t>bộ</a:t>
            </a:r>
            <a:r>
              <a:rPr lang="en-GB" sz="1600" dirty="0"/>
              <a:t> </a:t>
            </a:r>
            <a:r>
              <a:rPr lang="en-GB" sz="1600" dirty="0" err="1"/>
              <a:t>trạng</a:t>
            </a:r>
            <a:r>
              <a:rPr lang="en-GB" sz="1600" dirty="0"/>
              <a:t> </a:t>
            </a:r>
            <a:r>
              <a:rPr lang="en-GB" sz="1600" dirty="0" err="1"/>
              <a:t>thái</a:t>
            </a:r>
            <a:r>
              <a:rPr lang="en-GB" sz="1600" dirty="0"/>
              <a:t> </a:t>
            </a:r>
            <a:r>
              <a:rPr lang="en-GB" sz="1600" dirty="0" err="1"/>
              <a:t>ứng</a:t>
            </a:r>
            <a:r>
              <a:rPr lang="en-GB" sz="1600" dirty="0"/>
              <a:t> </a:t>
            </a:r>
            <a:r>
              <a:rPr lang="en-GB" sz="1600" dirty="0" err="1"/>
              <a:t>dụng</a:t>
            </a:r>
            <a:r>
              <a:rPr lang="en-GB" sz="1600" dirty="0"/>
              <a:t> </a:t>
            </a:r>
            <a:r>
              <a:rPr lang="en-GB" sz="1600" dirty="0" err="1"/>
              <a:t>được</a:t>
            </a:r>
            <a:r>
              <a:rPr lang="en-GB" sz="1600" dirty="0"/>
              <a:t> </a:t>
            </a:r>
            <a:r>
              <a:rPr lang="en-GB" sz="1600" dirty="0" err="1"/>
              <a:t>lưu</a:t>
            </a:r>
            <a:r>
              <a:rPr lang="en-GB" sz="1600" dirty="0"/>
              <a:t> </a:t>
            </a:r>
            <a:r>
              <a:rPr lang="en-GB" sz="1600" dirty="0" err="1"/>
              <a:t>trữ</a:t>
            </a:r>
            <a:r>
              <a:rPr lang="en-GB" sz="1600" dirty="0"/>
              <a:t> </a:t>
            </a:r>
            <a:r>
              <a:rPr lang="en-GB" sz="1600" dirty="0" err="1"/>
              <a:t>trong</a:t>
            </a:r>
            <a:r>
              <a:rPr lang="en-GB" sz="1600" dirty="0"/>
              <a:t> </a:t>
            </a:r>
            <a:r>
              <a:rPr lang="en-GB" sz="1600" dirty="0" err="1"/>
              <a:t>một</a:t>
            </a:r>
            <a:r>
              <a:rPr lang="en-GB" sz="1600" dirty="0"/>
              <a:t> object </a:t>
            </a:r>
            <a:r>
              <a:rPr lang="en-GB" sz="1600" dirty="0" err="1"/>
              <a:t>duy</a:t>
            </a:r>
            <a:r>
              <a:rPr lang="en-GB" sz="1600" dirty="0"/>
              <a:t> </a:t>
            </a:r>
            <a:r>
              <a:rPr lang="en-GB" sz="1600" dirty="0" err="1"/>
              <a:t>nhất</a:t>
            </a:r>
            <a:r>
              <a:rPr lang="en-GB" sz="1600" dirty="0"/>
              <a:t> </a:t>
            </a:r>
            <a:r>
              <a:rPr lang="en-GB" sz="1600" dirty="0" err="1"/>
              <a:t>gọi</a:t>
            </a:r>
            <a:r>
              <a:rPr lang="en-GB" sz="1600" dirty="0"/>
              <a:t> </a:t>
            </a:r>
            <a:r>
              <a:rPr lang="en-GB" sz="1600" dirty="0" err="1"/>
              <a:t>là</a:t>
            </a:r>
            <a:r>
              <a:rPr lang="en-GB" sz="1600" dirty="0"/>
              <a:t> Store.</a:t>
            </a:r>
          </a:p>
          <a:p>
            <a:pPr lvl="0" algn="just"/>
            <a:endParaRPr lang="en-US" sz="1600" dirty="0"/>
          </a:p>
          <a:p>
            <a:pPr algn="just"/>
            <a:r>
              <a:rPr lang="en-GB" sz="1600" b="1" dirty="0"/>
              <a:t>2.  STATE IS READ-ONLY</a:t>
            </a:r>
            <a:endParaRPr lang="en-US" sz="1600" b="1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600" dirty="0" err="1"/>
              <a:t>Để</a:t>
            </a:r>
            <a:r>
              <a:rPr lang="en-GB" sz="1600" dirty="0"/>
              <a:t> </a:t>
            </a:r>
            <a:r>
              <a:rPr lang="en-GB" sz="1600" dirty="0" err="1"/>
              <a:t>thay</a:t>
            </a:r>
            <a:r>
              <a:rPr lang="en-GB" sz="1600" dirty="0"/>
              <a:t> </a:t>
            </a:r>
            <a:r>
              <a:rPr lang="en-GB" sz="1600" dirty="0" err="1"/>
              <a:t>đổi</a:t>
            </a:r>
            <a:r>
              <a:rPr lang="en-GB" sz="1600" dirty="0"/>
              <a:t> state, ta </a:t>
            </a:r>
            <a:r>
              <a:rPr lang="en-GB" sz="1600" dirty="0" err="1"/>
              <a:t>không</a:t>
            </a:r>
            <a:r>
              <a:rPr lang="en-GB" sz="1600" dirty="0"/>
              <a:t> </a:t>
            </a:r>
            <a:r>
              <a:rPr lang="en-GB" sz="1600" dirty="0" err="1"/>
              <a:t>thể</a:t>
            </a:r>
            <a:r>
              <a:rPr lang="en-GB" sz="1600" dirty="0"/>
              <a:t> </a:t>
            </a:r>
            <a:r>
              <a:rPr lang="en-GB" sz="1600" dirty="0" err="1"/>
              <a:t>thay</a:t>
            </a:r>
            <a:r>
              <a:rPr lang="en-GB" sz="1600" dirty="0"/>
              <a:t> </a:t>
            </a:r>
            <a:r>
              <a:rPr lang="en-GB" sz="1600" dirty="0" err="1"/>
              <a:t>đổi</a:t>
            </a:r>
            <a:r>
              <a:rPr lang="en-GB" sz="1600" dirty="0"/>
              <a:t> </a:t>
            </a:r>
            <a:r>
              <a:rPr lang="en-GB" sz="1600" dirty="0" err="1"/>
              <a:t>trực</a:t>
            </a:r>
            <a:r>
              <a:rPr lang="en-GB" sz="1600" dirty="0"/>
              <a:t> </a:t>
            </a:r>
            <a:r>
              <a:rPr lang="en-GB" sz="1600" dirty="0" err="1"/>
              <a:t>tiếp</a:t>
            </a:r>
            <a:r>
              <a:rPr lang="en-GB" sz="1600" dirty="0"/>
              <a:t> </a:t>
            </a:r>
            <a:r>
              <a:rPr lang="en-GB" sz="1600" dirty="0" err="1"/>
              <a:t>mà</a:t>
            </a:r>
            <a:r>
              <a:rPr lang="en-GB" sz="1600" dirty="0"/>
              <a:t> </a:t>
            </a:r>
            <a:r>
              <a:rPr lang="en-GB" sz="1600" dirty="0" err="1"/>
              <a:t>cần</a:t>
            </a:r>
            <a:r>
              <a:rPr lang="en-GB" sz="1600" dirty="0"/>
              <a:t> </a:t>
            </a:r>
            <a:r>
              <a:rPr lang="en-GB" sz="1600" dirty="0" err="1"/>
              <a:t>một</a:t>
            </a:r>
            <a:r>
              <a:rPr lang="en-GB" sz="1600" dirty="0"/>
              <a:t> Action.</a:t>
            </a:r>
          </a:p>
          <a:p>
            <a:pPr lvl="0" algn="just"/>
            <a:endParaRPr lang="en-US" sz="1600" dirty="0"/>
          </a:p>
          <a:p>
            <a:pPr algn="just"/>
            <a:r>
              <a:rPr lang="en-GB" sz="1600" b="1" dirty="0"/>
              <a:t>3. CHANGES MADE WITH PURE FUNCTIONS </a:t>
            </a:r>
            <a:endParaRPr lang="en-US" sz="1600" b="1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Các pure functions (</a:t>
            </a:r>
            <a:r>
              <a:rPr lang="en-GB" sz="1600" dirty="0" err="1"/>
              <a:t>hàm</a:t>
            </a:r>
            <a:r>
              <a:rPr lang="en-GB" sz="1600" dirty="0"/>
              <a:t> </a:t>
            </a:r>
            <a:r>
              <a:rPr lang="en-GB" sz="1600" dirty="0" err="1"/>
              <a:t>thuần</a:t>
            </a:r>
            <a:r>
              <a:rPr lang="en-GB" sz="1600" dirty="0"/>
              <a:t> </a:t>
            </a:r>
            <a:r>
              <a:rPr lang="en-GB" sz="1600" dirty="0" err="1"/>
              <a:t>tuý</a:t>
            </a:r>
            <a:r>
              <a:rPr lang="en-GB" sz="1600" dirty="0"/>
              <a:t>) </a:t>
            </a:r>
            <a:r>
              <a:rPr lang="en-GB" sz="1600" dirty="0" err="1"/>
              <a:t>được</a:t>
            </a:r>
            <a:r>
              <a:rPr lang="en-GB" sz="1600" dirty="0"/>
              <a:t> </a:t>
            </a:r>
            <a:r>
              <a:rPr lang="en-GB" sz="1600" dirty="0" err="1"/>
              <a:t>viết</a:t>
            </a:r>
            <a:r>
              <a:rPr lang="en-GB" sz="1600" dirty="0"/>
              <a:t> </a:t>
            </a:r>
            <a:r>
              <a:rPr lang="en-GB" sz="1600" dirty="0" err="1"/>
              <a:t>để</a:t>
            </a:r>
            <a:r>
              <a:rPr lang="en-GB" sz="1600" dirty="0"/>
              <a:t> </a:t>
            </a:r>
            <a:r>
              <a:rPr lang="en-GB" sz="1600" dirty="0" err="1"/>
              <a:t>xác</a:t>
            </a:r>
            <a:r>
              <a:rPr lang="en-GB" sz="1600" dirty="0"/>
              <a:t> </a:t>
            </a:r>
            <a:r>
              <a:rPr lang="en-GB" sz="1600" dirty="0" err="1"/>
              <a:t>định</a:t>
            </a:r>
            <a:r>
              <a:rPr lang="en-GB" sz="1600" dirty="0"/>
              <a:t> state </a:t>
            </a:r>
            <a:r>
              <a:rPr lang="en-GB" sz="1600" dirty="0" err="1"/>
              <a:t>sẽ</a:t>
            </a:r>
            <a:r>
              <a:rPr lang="en-GB" sz="1600" dirty="0"/>
              <a:t> </a:t>
            </a:r>
            <a:r>
              <a:rPr lang="en-GB" sz="1600" dirty="0" err="1"/>
              <a:t>chuyển</a:t>
            </a:r>
            <a:r>
              <a:rPr lang="en-GB" sz="1600" dirty="0"/>
              <a:t> </a:t>
            </a:r>
            <a:r>
              <a:rPr lang="en-GB" sz="1600" dirty="0" err="1"/>
              <a:t>đổi</a:t>
            </a:r>
            <a:r>
              <a:rPr lang="en-GB" sz="1600" dirty="0"/>
              <a:t> </a:t>
            </a:r>
            <a:r>
              <a:rPr lang="en-GB" sz="1600" dirty="0" err="1"/>
              <a:t>như</a:t>
            </a:r>
            <a:r>
              <a:rPr lang="en-GB" sz="1600" dirty="0"/>
              <a:t> </a:t>
            </a:r>
            <a:r>
              <a:rPr lang="en-GB" sz="1600" dirty="0" err="1"/>
              <a:t>thế</a:t>
            </a:r>
            <a:r>
              <a:rPr lang="en-GB" sz="1600" dirty="0"/>
              <a:t> </a:t>
            </a:r>
            <a:r>
              <a:rPr lang="en-GB" sz="1600" dirty="0" err="1"/>
              <a:t>nào</a:t>
            </a:r>
            <a:r>
              <a:rPr lang="en-GB" sz="1600" dirty="0"/>
              <a:t>. </a:t>
            </a:r>
            <a:endParaRPr lang="en-US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Pure function </a:t>
            </a:r>
            <a:r>
              <a:rPr lang="en-GB" sz="1600" dirty="0" err="1"/>
              <a:t>này</a:t>
            </a:r>
            <a:r>
              <a:rPr lang="en-GB" sz="1600" dirty="0"/>
              <a:t> </a:t>
            </a:r>
            <a:r>
              <a:rPr lang="en-GB" sz="1600" dirty="0" err="1"/>
              <a:t>được</a:t>
            </a:r>
            <a:r>
              <a:rPr lang="en-GB" sz="1600" dirty="0"/>
              <a:t> </a:t>
            </a:r>
            <a:r>
              <a:rPr lang="en-GB" sz="1600" dirty="0" err="1"/>
              <a:t>gọi</a:t>
            </a:r>
            <a:r>
              <a:rPr lang="en-GB" sz="1600" dirty="0"/>
              <a:t> </a:t>
            </a:r>
            <a:r>
              <a:rPr lang="en-GB" sz="1600" dirty="0" err="1"/>
              <a:t>là</a:t>
            </a:r>
            <a:r>
              <a:rPr lang="en-GB" sz="1600" dirty="0"/>
              <a:t> reducer.</a:t>
            </a:r>
            <a:endParaRPr lang="en-US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600" dirty="0"/>
              <a:t>Reducer </a:t>
            </a:r>
            <a:r>
              <a:rPr lang="en-GB" sz="1600" dirty="0" err="1"/>
              <a:t>sẽ</a:t>
            </a:r>
            <a:r>
              <a:rPr lang="en-GB" sz="1600" dirty="0"/>
              <a:t> </a:t>
            </a:r>
            <a:r>
              <a:rPr lang="en-GB" sz="1600" dirty="0" err="1"/>
              <a:t>nhận</a:t>
            </a:r>
            <a:r>
              <a:rPr lang="en-GB" sz="1600" dirty="0"/>
              <a:t> Action </a:t>
            </a:r>
            <a:r>
              <a:rPr lang="en-GB" sz="1600" dirty="0" err="1"/>
              <a:t>đó</a:t>
            </a:r>
            <a:r>
              <a:rPr lang="en-GB" sz="1600" dirty="0"/>
              <a:t>, </a:t>
            </a:r>
            <a:r>
              <a:rPr lang="en-GB" sz="1600" dirty="0" err="1"/>
              <a:t>xử</a:t>
            </a:r>
            <a:r>
              <a:rPr lang="en-GB" sz="1600" dirty="0"/>
              <a:t> </a:t>
            </a:r>
            <a:r>
              <a:rPr lang="en-GB" sz="1600" dirty="0" err="1"/>
              <a:t>lý</a:t>
            </a:r>
            <a:r>
              <a:rPr lang="en-GB" sz="1600" dirty="0"/>
              <a:t> logic, </a:t>
            </a:r>
            <a:r>
              <a:rPr lang="en-GB" sz="1600" dirty="0" err="1"/>
              <a:t>và</a:t>
            </a:r>
            <a:r>
              <a:rPr lang="en-GB" sz="1600" dirty="0"/>
              <a:t> </a:t>
            </a:r>
            <a:r>
              <a:rPr lang="en-GB" sz="1600" dirty="0" err="1"/>
              <a:t>trả</a:t>
            </a:r>
            <a:r>
              <a:rPr lang="en-GB" sz="1600" dirty="0"/>
              <a:t> </a:t>
            </a:r>
            <a:r>
              <a:rPr lang="en-GB" sz="1600" dirty="0" err="1"/>
              <a:t>về</a:t>
            </a:r>
            <a:r>
              <a:rPr lang="en-GB" sz="1600" dirty="0"/>
              <a:t> state </a:t>
            </a:r>
            <a:r>
              <a:rPr lang="en-GB" sz="1600" dirty="0" err="1"/>
              <a:t>mới</a:t>
            </a:r>
            <a:r>
              <a:rPr lang="en-GB" sz="1600" dirty="0"/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790912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27585668-80A8-76CC-E7D5-0A733943A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8E3E9F-F262-F910-F1F9-104450FE4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A4E745-092F-2BE8-D6EE-5AE944CC7DD0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1. </a:t>
            </a:r>
            <a:r>
              <a:rPr lang="en-US" sz="2400" b="1" dirty="0" err="1">
                <a:solidFill>
                  <a:srgbClr val="2073BE"/>
                </a:solidFill>
              </a:rPr>
              <a:t>Tổng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quan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về</a:t>
            </a:r>
            <a:r>
              <a:rPr lang="en-US" sz="2400" b="1" dirty="0">
                <a:solidFill>
                  <a:srgbClr val="2073BE"/>
                </a:solidFill>
              </a:rPr>
              <a:t> Redux Pattern</a:t>
            </a:r>
            <a:endParaRPr lang="vi-VN">
              <a:cs typeface="Arial" panose="020B0604020202020204" pitchFamily="34" charset="0"/>
            </a:endParaRPr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05A0B3B-00D0-A8D1-6434-C3D44D4B3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1813" y="793848"/>
            <a:ext cx="4966399" cy="41896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5A54BD-10EE-32B7-9A4E-EC1F67B4D4E4}"/>
              </a:ext>
            </a:extLst>
          </p:cNvPr>
          <p:cNvSpPr txBox="1"/>
          <p:nvPr/>
        </p:nvSpPr>
        <p:spPr>
          <a:xfrm>
            <a:off x="115788" y="2058914"/>
            <a:ext cx="41312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/>
              <a:t>1. SINGLE SOURCE OF TRUTH</a:t>
            </a:r>
            <a:endParaRPr lang="en-US" dirty="0"/>
          </a:p>
          <a:p>
            <a:pPr lvl="0" algn="just"/>
            <a:endParaRPr lang="en-US" dirty="0"/>
          </a:p>
          <a:p>
            <a:pPr algn="just"/>
            <a:r>
              <a:rPr lang="en-GB" dirty="0"/>
              <a:t>2. STATE IS READ-ONLY</a:t>
            </a:r>
            <a:endParaRPr lang="en-US" dirty="0"/>
          </a:p>
          <a:p>
            <a:pPr lvl="0" algn="just"/>
            <a:endParaRPr lang="en-US" dirty="0"/>
          </a:p>
          <a:p>
            <a:pPr algn="just"/>
            <a:r>
              <a:rPr lang="en-GB" dirty="0"/>
              <a:t>3. CHANGES MADE WITH PURE FUNCTIONS 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648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2C0C7FFD-958D-6ED9-A0B8-ABB688226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E96973-E90E-4E97-FC8B-2ACE344FA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D4C3E0E-B631-6A70-83F6-B476E3E1FF26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2. </a:t>
            </a:r>
            <a:r>
              <a:rPr lang="en-US" sz="2400" b="1" dirty="0" err="1">
                <a:solidFill>
                  <a:srgbClr val="2073BE"/>
                </a:solidFill>
              </a:rPr>
              <a:t>Làm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việc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với</a:t>
            </a:r>
            <a:r>
              <a:rPr lang="en-US" sz="2400" b="1" dirty="0">
                <a:solidFill>
                  <a:srgbClr val="2073BE"/>
                </a:solidFill>
              </a:rPr>
              <a:t> Redux Pattern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36AA3-B728-F962-AB9F-51C373551684}"/>
              </a:ext>
            </a:extLst>
          </p:cNvPr>
          <p:cNvSpPr txBox="1"/>
          <p:nvPr/>
        </p:nvSpPr>
        <p:spPr>
          <a:xfrm>
            <a:off x="1294411" y="1486398"/>
            <a:ext cx="6555178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hai</a:t>
            </a:r>
            <a:r>
              <a:rPr lang="en-US" sz="1600" dirty="0"/>
              <a:t> </a:t>
            </a:r>
            <a:r>
              <a:rPr lang="en-US" sz="1600" dirty="0" err="1"/>
              <a:t>gói</a:t>
            </a:r>
            <a:r>
              <a:rPr lang="en-US" sz="1600" dirty="0"/>
              <a:t> (package) </a:t>
            </a:r>
            <a:r>
              <a:rPr lang="en-US" sz="1600" dirty="0" err="1"/>
              <a:t>rất</a:t>
            </a:r>
            <a:r>
              <a:rPr lang="en-US" sz="1600" dirty="0"/>
              <a:t> </a:t>
            </a:r>
            <a:r>
              <a:rPr lang="en-US" sz="1600" dirty="0" err="1"/>
              <a:t>hữu</a:t>
            </a:r>
            <a:r>
              <a:rPr lang="en-US" sz="1600" dirty="0"/>
              <a:t> </a:t>
            </a:r>
            <a:r>
              <a:rPr lang="en-US" sz="1600" dirty="0" err="1"/>
              <a:t>ích</a:t>
            </a:r>
            <a:r>
              <a:rPr lang="en-US" sz="1600" dirty="0"/>
              <a:t> </a:t>
            </a:r>
            <a:r>
              <a:rPr lang="en-US" sz="1600" dirty="0" err="1"/>
              <a:t>mà</a:t>
            </a:r>
            <a:r>
              <a:rPr lang="en-US" sz="1600" dirty="0"/>
              <a:t> </a:t>
            </a:r>
            <a:r>
              <a:rPr lang="en-US" sz="1600" dirty="0" err="1"/>
              <a:t>chúng</a:t>
            </a:r>
            <a:r>
              <a:rPr lang="en-US" sz="1600" dirty="0"/>
              <a:t> ta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thể</a:t>
            </a:r>
            <a:r>
              <a:rPr lang="en-US" sz="1600" dirty="0"/>
              <a:t> </a:t>
            </a:r>
            <a:r>
              <a:rPr lang="en-US" sz="1600" dirty="0" err="1"/>
              <a:t>sử</a:t>
            </a:r>
            <a:r>
              <a:rPr lang="en-US" sz="1600" dirty="0"/>
              <a:t> </a:t>
            </a:r>
            <a:r>
              <a:rPr lang="en-US" sz="1600" dirty="0" err="1"/>
              <a:t>dụng</a:t>
            </a:r>
            <a:r>
              <a:rPr lang="en-US" sz="1600" dirty="0"/>
              <a:t> </a:t>
            </a:r>
            <a:r>
              <a:rPr lang="en-US" sz="1600" dirty="0" err="1"/>
              <a:t>để</a:t>
            </a:r>
            <a:r>
              <a:rPr lang="en-US" sz="1600" dirty="0"/>
              <a:t> </a:t>
            </a:r>
            <a:r>
              <a:rPr lang="en-US" sz="1600" dirty="0" err="1"/>
              <a:t>thực</a:t>
            </a:r>
            <a:r>
              <a:rPr lang="en-US" sz="1600" dirty="0"/>
              <a:t> </a:t>
            </a:r>
            <a:r>
              <a:rPr lang="en-US" sz="1600" dirty="0" err="1"/>
              <a:t>hiện</a:t>
            </a:r>
            <a:r>
              <a:rPr lang="en-US" sz="1600" dirty="0"/>
              <a:t> Redux </a:t>
            </a:r>
            <a:r>
              <a:rPr lang="en-US" sz="1600" dirty="0" err="1"/>
              <a:t>trong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ứng</a:t>
            </a:r>
            <a:r>
              <a:rPr lang="en-US" sz="1600" dirty="0"/>
              <a:t> </a:t>
            </a:r>
            <a:r>
              <a:rPr lang="en-US" sz="1600" dirty="0" err="1"/>
              <a:t>dụng</a:t>
            </a:r>
            <a:r>
              <a:rPr lang="en-US" sz="1600" dirty="0"/>
              <a:t> Flutter: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redux:</a:t>
            </a:r>
            <a:r>
              <a:rPr lang="en-US" sz="1600" dirty="0"/>
              <a:t> Cung </a:t>
            </a:r>
            <a:r>
              <a:rPr lang="en-US" sz="1600" dirty="0" err="1"/>
              <a:t>cấp</a:t>
            </a:r>
            <a:r>
              <a:rPr lang="en-US" sz="1600" dirty="0"/>
              <a:t> </a:t>
            </a:r>
            <a:r>
              <a:rPr lang="en-US" sz="1600" dirty="0" err="1"/>
              <a:t>các</a:t>
            </a:r>
            <a:r>
              <a:rPr lang="en-US" sz="1600" dirty="0"/>
              <a:t>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phần</a:t>
            </a:r>
            <a:r>
              <a:rPr lang="en-US" sz="1600" dirty="0"/>
              <a:t> logic </a:t>
            </a:r>
            <a:r>
              <a:rPr lang="en-US" sz="1600" dirty="0" err="1"/>
              <a:t>cần</a:t>
            </a:r>
            <a:r>
              <a:rPr lang="en-US" sz="1600" dirty="0"/>
              <a:t> </a:t>
            </a:r>
            <a:r>
              <a:rPr lang="en-US" sz="1600" dirty="0" err="1"/>
              <a:t>thiết</a:t>
            </a:r>
            <a:r>
              <a:rPr lang="en-US" sz="1600" dirty="0"/>
              <a:t> </a:t>
            </a:r>
            <a:r>
              <a:rPr lang="en-US" sz="1600" dirty="0" err="1"/>
              <a:t>để</a:t>
            </a:r>
            <a:r>
              <a:rPr lang="en-US" sz="1600" dirty="0"/>
              <a:t> </a:t>
            </a:r>
            <a:r>
              <a:rPr lang="en-US" sz="1600" dirty="0" err="1"/>
              <a:t>sử</a:t>
            </a:r>
            <a:r>
              <a:rPr lang="en-US" sz="1600" dirty="0"/>
              <a:t> </a:t>
            </a:r>
            <a:r>
              <a:rPr lang="en-US" sz="1600" dirty="0" err="1"/>
              <a:t>dụng</a:t>
            </a:r>
            <a:r>
              <a:rPr lang="en-US" sz="1600" dirty="0"/>
              <a:t> Redux (Store, Reducer, Action, Middleware).</a:t>
            </a:r>
          </a:p>
          <a:p>
            <a:pPr algn="just"/>
            <a:endParaRPr lang="en-US" sz="1600" b="1" dirty="0"/>
          </a:p>
          <a:p>
            <a:pPr algn="just"/>
            <a:r>
              <a:rPr lang="en-US" sz="1600" b="1" dirty="0"/>
              <a:t>flutter redux:</a:t>
            </a:r>
            <a:r>
              <a:rPr lang="en-US" sz="1600" dirty="0"/>
              <a:t> </a:t>
            </a:r>
            <a:r>
              <a:rPr lang="en-GB" sz="1600" dirty="0"/>
              <a:t>Cung </a:t>
            </a:r>
            <a:r>
              <a:rPr lang="en-GB" sz="1600" dirty="0" err="1"/>
              <a:t>cấp</a:t>
            </a:r>
            <a:r>
              <a:rPr lang="en-GB" sz="1600" dirty="0"/>
              <a:t> </a:t>
            </a:r>
            <a:r>
              <a:rPr lang="en-GB" sz="1600" dirty="0" err="1"/>
              <a:t>các</a:t>
            </a:r>
            <a:r>
              <a:rPr lang="en-GB" sz="1600" dirty="0"/>
              <a:t> </a:t>
            </a:r>
            <a:r>
              <a:rPr lang="en-GB" sz="1600" dirty="0" err="1"/>
              <a:t>thành</a:t>
            </a:r>
            <a:r>
              <a:rPr lang="en-GB" sz="1600" dirty="0"/>
              <a:t> </a:t>
            </a:r>
            <a:r>
              <a:rPr lang="en-GB" sz="1600" dirty="0" err="1"/>
              <a:t>phần</a:t>
            </a:r>
            <a:r>
              <a:rPr lang="en-GB" sz="1600" dirty="0"/>
              <a:t> </a:t>
            </a:r>
            <a:r>
              <a:rPr lang="en-GB" sz="1600" dirty="0" err="1"/>
              <a:t>bổ</a:t>
            </a:r>
            <a:r>
              <a:rPr lang="en-GB" sz="1600" dirty="0"/>
              <a:t> sung </a:t>
            </a:r>
            <a:r>
              <a:rPr lang="en-GB" sz="1600" dirty="0" err="1"/>
              <a:t>trên</a:t>
            </a:r>
            <a:r>
              <a:rPr lang="en-GB" sz="1600" dirty="0"/>
              <a:t> </a:t>
            </a:r>
            <a:r>
              <a:rPr lang="en-GB" sz="1600" dirty="0" err="1"/>
              <a:t>thư</a:t>
            </a:r>
            <a:r>
              <a:rPr lang="en-GB" sz="1600" dirty="0"/>
              <a:t> </a:t>
            </a:r>
            <a:r>
              <a:rPr lang="en-GB" sz="1600" dirty="0" err="1"/>
              <a:t>viện</a:t>
            </a:r>
            <a:r>
              <a:rPr lang="en-GB" sz="1600" dirty="0"/>
              <a:t> redux, </a:t>
            </a:r>
            <a:r>
              <a:rPr lang="en-US" sz="1600" dirty="0" err="1"/>
              <a:t>là</a:t>
            </a:r>
            <a:r>
              <a:rPr lang="en-US" sz="1600" dirty="0"/>
              <a:t> </a:t>
            </a:r>
            <a:r>
              <a:rPr lang="en-US" sz="1600" dirty="0" err="1"/>
              <a:t>cầu</a:t>
            </a:r>
            <a:r>
              <a:rPr lang="en-US" sz="1600" dirty="0"/>
              <a:t> </a:t>
            </a:r>
            <a:r>
              <a:rPr lang="en-US" sz="1600" dirty="0" err="1"/>
              <a:t>nối</a:t>
            </a:r>
            <a:r>
              <a:rPr lang="en-US" sz="1600" dirty="0"/>
              <a:t> </a:t>
            </a:r>
            <a:r>
              <a:rPr lang="en-US" sz="1600" dirty="0" err="1"/>
              <a:t>giữa</a:t>
            </a:r>
            <a:r>
              <a:rPr lang="en-US" sz="1600" dirty="0"/>
              <a:t> Redux </a:t>
            </a:r>
            <a:r>
              <a:rPr lang="en-US" sz="1600" dirty="0" err="1"/>
              <a:t>và</a:t>
            </a:r>
            <a:r>
              <a:rPr lang="en-US" sz="1600" dirty="0"/>
              <a:t> widget tree </a:t>
            </a:r>
            <a:r>
              <a:rPr lang="en-US" sz="1600" dirty="0" err="1"/>
              <a:t>trong</a:t>
            </a:r>
            <a:r>
              <a:rPr lang="en-US" sz="1600" dirty="0"/>
              <a:t> Flutter (</a:t>
            </a:r>
            <a:r>
              <a:rPr lang="en-US" sz="1600" dirty="0" err="1"/>
              <a:t>giúp</a:t>
            </a:r>
            <a:r>
              <a:rPr lang="en-US" sz="1600" dirty="0"/>
              <a:t> widget </a:t>
            </a:r>
            <a:r>
              <a:rPr lang="en-US" sz="1600" dirty="0" err="1"/>
              <a:t>đọc</a:t>
            </a:r>
            <a:r>
              <a:rPr lang="en-US" sz="1600" dirty="0"/>
              <a:t> </a:t>
            </a:r>
            <a:r>
              <a:rPr lang="en-US" sz="1600" dirty="0" err="1"/>
              <a:t>và</a:t>
            </a:r>
            <a:r>
              <a:rPr lang="en-US" sz="1600" dirty="0"/>
              <a:t> </a:t>
            </a:r>
            <a:r>
              <a:rPr lang="en-US" sz="1600" dirty="0" err="1"/>
              <a:t>cập</a:t>
            </a:r>
            <a:r>
              <a:rPr lang="en-US" sz="1600" dirty="0"/>
              <a:t> </a:t>
            </a:r>
            <a:r>
              <a:rPr lang="en-US" sz="1600" dirty="0" err="1"/>
              <a:t>nhật</a:t>
            </a:r>
            <a:r>
              <a:rPr lang="en-US" sz="1600" dirty="0"/>
              <a:t> state)</a:t>
            </a:r>
            <a:endParaRPr lang="en-US" sz="1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F0D2EB-7EF6-A7A1-01B8-90C615DE9608}"/>
              </a:ext>
            </a:extLst>
          </p:cNvPr>
          <p:cNvSpPr txBox="1"/>
          <p:nvPr/>
        </p:nvSpPr>
        <p:spPr>
          <a:xfrm>
            <a:off x="499536" y="895596"/>
            <a:ext cx="14398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 err="1"/>
              <a:t>Cách</a:t>
            </a:r>
            <a:r>
              <a:rPr lang="en-US" sz="1600" dirty="0"/>
              <a:t> </a:t>
            </a:r>
            <a:r>
              <a:rPr lang="en-US" sz="1600" dirty="0" err="1"/>
              <a:t>cài</a:t>
            </a:r>
            <a:r>
              <a:rPr lang="en-US" sz="1600" dirty="0"/>
              <a:t> </a:t>
            </a:r>
            <a:r>
              <a:rPr lang="en-US" sz="1600" dirty="0" err="1"/>
              <a:t>đặt</a:t>
            </a:r>
            <a:r>
              <a:rPr lang="en-US" sz="1600" dirty="0"/>
              <a:t>: </a:t>
            </a:r>
          </a:p>
          <a:p>
            <a:pPr algn="just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2597239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80DB634D-8C2C-2F73-084B-29B35F68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697FE9-5801-C257-CCB2-99BFF4865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664B9E4-EF5B-53BB-69A4-9F48B691A1B1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2. </a:t>
            </a:r>
            <a:r>
              <a:rPr lang="en-US" sz="2400" b="1" dirty="0" err="1">
                <a:solidFill>
                  <a:srgbClr val="2073BE"/>
                </a:solidFill>
              </a:rPr>
              <a:t>Làm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việc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với</a:t>
            </a:r>
            <a:r>
              <a:rPr lang="en-US" sz="2400" b="1" dirty="0">
                <a:solidFill>
                  <a:srgbClr val="2073BE"/>
                </a:solidFill>
              </a:rPr>
              <a:t> Redux Pattern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06E457-52AE-264D-94DB-9FFDC2851573}"/>
              </a:ext>
            </a:extLst>
          </p:cNvPr>
          <p:cNvSpPr txBox="1"/>
          <p:nvPr/>
        </p:nvSpPr>
        <p:spPr>
          <a:xfrm>
            <a:off x="434221" y="1238221"/>
            <a:ext cx="8892678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GB" sz="1600" u="sng" err="1"/>
              <a:t>Bước</a:t>
            </a:r>
            <a:r>
              <a:rPr lang="en-GB" sz="1600" u="sng" dirty="0"/>
              <a:t> 1</a:t>
            </a:r>
            <a:r>
              <a:rPr lang="en-GB" sz="1600" dirty="0"/>
              <a:t>: </a:t>
            </a:r>
            <a:r>
              <a:rPr lang="en-GB" sz="1600" err="1"/>
              <a:t>Mở</a:t>
            </a:r>
            <a:r>
              <a:rPr lang="en-GB" sz="1600" dirty="0"/>
              <a:t> file </a:t>
            </a:r>
            <a:r>
              <a:rPr lang="en-GB" sz="1600" err="1"/>
              <a:t>pubspec.yaml</a:t>
            </a:r>
            <a:r>
              <a:rPr lang="en-US" sz="1600" dirty="0"/>
              <a:t> </a:t>
            </a:r>
            <a:r>
              <a:rPr lang="en-US" sz="1600" err="1"/>
              <a:t>và</a:t>
            </a:r>
            <a:r>
              <a:rPr lang="en-US" sz="1600" dirty="0"/>
              <a:t> </a:t>
            </a:r>
            <a:r>
              <a:rPr lang="en-GB" sz="1600" err="1"/>
              <a:t>tìm</a:t>
            </a:r>
            <a:r>
              <a:rPr lang="en-GB" sz="1600" dirty="0"/>
              <a:t> </a:t>
            </a:r>
            <a:r>
              <a:rPr lang="en-GB" sz="1600" err="1"/>
              <a:t>đến</a:t>
            </a:r>
            <a:r>
              <a:rPr lang="en-GB" sz="1600" dirty="0"/>
              <a:t> </a:t>
            </a:r>
            <a:r>
              <a:rPr lang="en-GB" sz="1600" err="1"/>
              <a:t>phần</a:t>
            </a:r>
            <a:r>
              <a:rPr lang="en-GB" sz="1600" dirty="0"/>
              <a:t> dependencies </a:t>
            </a:r>
            <a:r>
              <a:rPr lang="en-GB" sz="1600" err="1"/>
              <a:t>trong</a:t>
            </a:r>
            <a:r>
              <a:rPr lang="en-GB" sz="1600" dirty="0"/>
              <a:t> file </a:t>
            </a:r>
            <a:r>
              <a:rPr lang="en-GB" sz="1600" err="1"/>
              <a:t>cấu</a:t>
            </a:r>
            <a:r>
              <a:rPr lang="en-GB" sz="1600" dirty="0"/>
              <a:t> </a:t>
            </a:r>
            <a:r>
              <a:rPr lang="en-GB" sz="1600" err="1"/>
              <a:t>hình</a:t>
            </a:r>
            <a:endParaRPr lang="en-US" sz="16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7549A2-52C3-31BC-0562-0DCAC6EE4FE3}"/>
              </a:ext>
            </a:extLst>
          </p:cNvPr>
          <p:cNvSpPr txBox="1"/>
          <p:nvPr/>
        </p:nvSpPr>
        <p:spPr>
          <a:xfrm>
            <a:off x="434221" y="849453"/>
            <a:ext cx="14398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 err="1"/>
              <a:t>Cách</a:t>
            </a:r>
            <a:r>
              <a:rPr lang="en-US" sz="1600" dirty="0"/>
              <a:t> </a:t>
            </a:r>
            <a:r>
              <a:rPr lang="en-US" sz="1600" dirty="0" err="1"/>
              <a:t>cài</a:t>
            </a:r>
            <a:r>
              <a:rPr lang="en-US" sz="1600" dirty="0"/>
              <a:t> </a:t>
            </a:r>
            <a:r>
              <a:rPr lang="en-US" sz="1600" dirty="0" err="1"/>
              <a:t>đặt</a:t>
            </a:r>
            <a:r>
              <a:rPr lang="en-US" sz="1600" dirty="0"/>
              <a:t>: </a:t>
            </a:r>
          </a:p>
          <a:p>
            <a:pPr algn="just"/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C0EDE1-D1A5-D32F-64F1-DA62CAD9A68E}"/>
              </a:ext>
            </a:extLst>
          </p:cNvPr>
          <p:cNvSpPr txBox="1"/>
          <p:nvPr/>
        </p:nvSpPr>
        <p:spPr>
          <a:xfrm>
            <a:off x="434221" y="4060038"/>
            <a:ext cx="65551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 dirty="0" err="1"/>
              <a:t>Bước</a:t>
            </a:r>
            <a:r>
              <a:rPr lang="en-US" sz="1600" u="sng" dirty="0"/>
              <a:t> 2: </a:t>
            </a:r>
            <a:endParaRPr lang="en-US" sz="1600" dirty="0"/>
          </a:p>
          <a:p>
            <a:r>
              <a:rPr lang="en-GB" sz="1600" dirty="0"/>
              <a:t>Sau </a:t>
            </a:r>
            <a:r>
              <a:rPr lang="en-GB" sz="1600" dirty="0" err="1"/>
              <a:t>khi</a:t>
            </a:r>
            <a:r>
              <a:rPr lang="en-GB" sz="1600" dirty="0"/>
              <a:t> </a:t>
            </a:r>
            <a:r>
              <a:rPr lang="en-GB" sz="1600" dirty="0" err="1"/>
              <a:t>thêm</a:t>
            </a:r>
            <a:r>
              <a:rPr lang="en-GB" sz="1600" dirty="0"/>
              <a:t> </a:t>
            </a:r>
            <a:r>
              <a:rPr lang="en-GB" sz="1600" dirty="0" err="1"/>
              <a:t>gói</a:t>
            </a:r>
            <a:r>
              <a:rPr lang="en-GB" sz="1600" dirty="0"/>
              <a:t>, </a:t>
            </a:r>
            <a:r>
              <a:rPr lang="en-GB" sz="1600" dirty="0" err="1"/>
              <a:t>chạy</a:t>
            </a:r>
            <a:r>
              <a:rPr lang="en-GB" sz="1600" dirty="0"/>
              <a:t> </a:t>
            </a:r>
            <a:r>
              <a:rPr lang="en-GB" sz="1600" dirty="0" err="1"/>
              <a:t>lệnh</a:t>
            </a:r>
            <a:r>
              <a:rPr lang="en-GB" sz="1600" dirty="0"/>
              <a:t>: 	flutter pub get</a:t>
            </a:r>
            <a:endParaRPr lang="en-US" sz="1600" dirty="0"/>
          </a:p>
          <a:p>
            <a:r>
              <a:rPr lang="en-GB" sz="1600" dirty="0" err="1"/>
              <a:t>Hoặc</a:t>
            </a:r>
            <a:r>
              <a:rPr lang="en-GB" sz="1600" dirty="0"/>
              <a:t> </a:t>
            </a:r>
            <a:r>
              <a:rPr lang="en-GB" sz="1600" dirty="0" err="1"/>
              <a:t>chạy</a:t>
            </a:r>
            <a:r>
              <a:rPr lang="en-GB" sz="1600" dirty="0"/>
              <a:t> </a:t>
            </a:r>
            <a:r>
              <a:rPr lang="en-GB" sz="1600" dirty="0" err="1"/>
              <a:t>tải</a:t>
            </a:r>
            <a:r>
              <a:rPr lang="en-GB" sz="1600" dirty="0"/>
              <a:t> </a:t>
            </a:r>
            <a:r>
              <a:rPr lang="en-GB" sz="1600" dirty="0" err="1"/>
              <a:t>trực</a:t>
            </a:r>
            <a:r>
              <a:rPr lang="en-GB" sz="1600" dirty="0"/>
              <a:t> </a:t>
            </a:r>
            <a:r>
              <a:rPr lang="en-GB" sz="1600" dirty="0" err="1"/>
              <a:t>tiếp</a:t>
            </a:r>
            <a:r>
              <a:rPr lang="en-GB" sz="1600" dirty="0"/>
              <a:t>: </a:t>
            </a:r>
            <a:r>
              <a:rPr lang="en-US" sz="1600" dirty="0"/>
              <a:t>	</a:t>
            </a:r>
            <a:r>
              <a:rPr lang="en-GB" sz="1600" dirty="0"/>
              <a:t>flutter pub add redux </a:t>
            </a:r>
            <a:r>
              <a:rPr lang="en-GB" sz="1600" dirty="0" err="1"/>
              <a:t>flutter_redux</a:t>
            </a:r>
            <a:endParaRPr lang="en-US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2D88C5-F224-F7FD-D3AF-F1A7933658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8934" y="1564007"/>
            <a:ext cx="4306131" cy="249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040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DD9E9240-E866-EBA6-CD32-EAF30ACC4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873ADA-5705-AACB-AF22-B10B0A958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287AB14-D256-AECA-6FB7-BED62E68C05B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Store, Actions, Reducers concepts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993574-A828-C96F-91FA-9EFB7FE22AE3}"/>
              </a:ext>
            </a:extLst>
          </p:cNvPr>
          <p:cNvSpPr txBox="1"/>
          <p:nvPr/>
        </p:nvSpPr>
        <p:spPr>
          <a:xfrm>
            <a:off x="1785010" y="1019489"/>
            <a:ext cx="59005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800" dirty="0"/>
              <a:t>Store </a:t>
            </a:r>
            <a:r>
              <a:rPr lang="en-GB" sz="1800" dirty="0" err="1"/>
              <a:t>là</a:t>
            </a:r>
            <a:r>
              <a:rPr lang="en-GB" sz="1800" dirty="0"/>
              <a:t> </a:t>
            </a:r>
            <a:r>
              <a:rPr lang="en-GB" sz="1800" dirty="0" err="1"/>
              <a:t>trung</a:t>
            </a:r>
            <a:r>
              <a:rPr lang="en-GB" sz="1800" dirty="0"/>
              <a:t> </a:t>
            </a:r>
            <a:r>
              <a:rPr lang="en-GB" sz="1800" dirty="0" err="1"/>
              <a:t>tâm</a:t>
            </a:r>
            <a:r>
              <a:rPr lang="en-GB" sz="1800" dirty="0"/>
              <a:t> </a:t>
            </a:r>
            <a:r>
              <a:rPr lang="en-GB" sz="1800" dirty="0" err="1"/>
              <a:t>dữ</a:t>
            </a:r>
            <a:r>
              <a:rPr lang="en-GB" sz="1800" dirty="0"/>
              <a:t> </a:t>
            </a:r>
            <a:r>
              <a:rPr lang="en-GB" sz="1800" dirty="0" err="1"/>
              <a:t>liệu</a:t>
            </a:r>
            <a:r>
              <a:rPr lang="en-GB" sz="1800" dirty="0"/>
              <a:t> </a:t>
            </a:r>
            <a:r>
              <a:rPr lang="en-GB" sz="1800" dirty="0" err="1"/>
              <a:t>của</a:t>
            </a:r>
            <a:r>
              <a:rPr lang="en-GB" sz="1800" dirty="0"/>
              <a:t> </a:t>
            </a:r>
            <a:r>
              <a:rPr lang="en-GB" sz="1800" dirty="0" err="1"/>
              <a:t>ứng</a:t>
            </a:r>
            <a:r>
              <a:rPr lang="en-GB" sz="1800" dirty="0"/>
              <a:t> </a:t>
            </a:r>
            <a:r>
              <a:rPr lang="en-GB" sz="1800" dirty="0" err="1"/>
              <a:t>dụng</a:t>
            </a:r>
            <a:r>
              <a:rPr lang="en-GB" sz="1800" dirty="0"/>
              <a:t>. </a:t>
            </a:r>
          </a:p>
          <a:p>
            <a:pPr algn="just"/>
            <a:endParaRPr lang="en-US" sz="1800" dirty="0"/>
          </a:p>
          <a:p>
            <a:pPr algn="just"/>
            <a:r>
              <a:rPr lang="en-GB" sz="1800" u="sng" dirty="0"/>
              <a:t>Vai </a:t>
            </a:r>
            <a:r>
              <a:rPr lang="en-GB" sz="1800" u="sng" dirty="0" err="1"/>
              <a:t>trò</a:t>
            </a:r>
            <a:endParaRPr lang="en-US" sz="1800" u="sng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 dirty="0"/>
              <a:t>Lưu </a:t>
            </a:r>
            <a:r>
              <a:rPr lang="en-GB" sz="1800" dirty="0" err="1"/>
              <a:t>trữ</a:t>
            </a:r>
            <a:r>
              <a:rPr lang="en-GB" sz="1800" dirty="0"/>
              <a:t> </a:t>
            </a:r>
            <a:r>
              <a:rPr lang="en-GB" sz="1800" dirty="0" err="1"/>
              <a:t>toàn</a:t>
            </a:r>
            <a:r>
              <a:rPr lang="en-GB" sz="1800" dirty="0"/>
              <a:t> </a:t>
            </a:r>
            <a:r>
              <a:rPr lang="en-GB" sz="1800" dirty="0" err="1"/>
              <a:t>bộ</a:t>
            </a:r>
            <a:r>
              <a:rPr lang="en-GB" sz="1800" dirty="0"/>
              <a:t> state (</a:t>
            </a:r>
            <a:r>
              <a:rPr lang="en-GB" sz="1800" dirty="0" err="1"/>
              <a:t>trạng</a:t>
            </a:r>
            <a:r>
              <a:rPr lang="en-GB" sz="1800" dirty="0"/>
              <a:t> </a:t>
            </a:r>
            <a:r>
              <a:rPr lang="en-GB" sz="1800" dirty="0" err="1"/>
              <a:t>thái</a:t>
            </a:r>
            <a:r>
              <a:rPr lang="en-GB" sz="1800" dirty="0"/>
              <a:t>) </a:t>
            </a:r>
            <a:r>
              <a:rPr lang="en-GB" sz="1800" dirty="0" err="1"/>
              <a:t>hiện</a:t>
            </a:r>
            <a:r>
              <a:rPr lang="en-GB" sz="1800" dirty="0"/>
              <a:t> </a:t>
            </a:r>
            <a:r>
              <a:rPr lang="en-GB" sz="1800" dirty="0" err="1"/>
              <a:t>tại</a:t>
            </a:r>
            <a:r>
              <a:rPr lang="en-GB" sz="1800" dirty="0"/>
              <a:t> </a:t>
            </a:r>
            <a:r>
              <a:rPr lang="en-GB" sz="1800" dirty="0" err="1"/>
              <a:t>của</a:t>
            </a:r>
            <a:r>
              <a:rPr lang="en-GB" sz="1800" dirty="0"/>
              <a:t> app.</a:t>
            </a:r>
            <a:endParaRPr lang="en-US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 dirty="0" err="1"/>
              <a:t>Có</a:t>
            </a:r>
            <a:r>
              <a:rPr lang="en-GB" sz="1800" dirty="0"/>
              <a:t> </a:t>
            </a:r>
            <a:r>
              <a:rPr lang="en-GB" sz="1800" dirty="0" err="1"/>
              <a:t>thể</a:t>
            </a:r>
            <a:r>
              <a:rPr lang="en-GB" sz="1800" dirty="0"/>
              <a:t> </a:t>
            </a:r>
            <a:r>
              <a:rPr lang="en-GB" sz="1800" dirty="0" err="1"/>
              <a:t>xem</a:t>
            </a:r>
            <a:r>
              <a:rPr lang="en-GB" sz="1800" dirty="0"/>
              <a:t> </a:t>
            </a:r>
            <a:r>
              <a:rPr lang="en-GB" sz="1800" dirty="0" err="1"/>
              <a:t>như</a:t>
            </a:r>
            <a:r>
              <a:rPr lang="en-GB" sz="1800" dirty="0"/>
              <a:t> database </a:t>
            </a:r>
            <a:r>
              <a:rPr lang="en-GB" sz="1800" dirty="0" err="1"/>
              <a:t>tạm</a:t>
            </a:r>
            <a:r>
              <a:rPr lang="en-GB" sz="1800" dirty="0"/>
              <a:t> </a:t>
            </a:r>
            <a:r>
              <a:rPr lang="en-GB" sz="1800" dirty="0" err="1"/>
              <a:t>thời</a:t>
            </a:r>
            <a:r>
              <a:rPr lang="en-GB" sz="1800" dirty="0"/>
              <a:t> </a:t>
            </a:r>
            <a:r>
              <a:rPr lang="en-GB" sz="1800" dirty="0" err="1"/>
              <a:t>trong</a:t>
            </a:r>
            <a:r>
              <a:rPr lang="en-GB" sz="1800" dirty="0"/>
              <a:t> </a:t>
            </a:r>
            <a:r>
              <a:rPr lang="en-GB" sz="1800" dirty="0" err="1"/>
              <a:t>bộ</a:t>
            </a:r>
            <a:r>
              <a:rPr lang="en-GB" sz="1800" dirty="0"/>
              <a:t> </a:t>
            </a:r>
            <a:r>
              <a:rPr lang="en-GB" sz="1800" dirty="0" err="1"/>
              <a:t>nhớ</a:t>
            </a:r>
            <a:r>
              <a:rPr lang="en-GB" sz="1800" dirty="0"/>
              <a:t>.</a:t>
            </a:r>
            <a:endParaRPr lang="en-US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 dirty="0" err="1"/>
              <a:t>Nơi</a:t>
            </a:r>
            <a:r>
              <a:rPr lang="en-GB" sz="1800" dirty="0"/>
              <a:t> UI </a:t>
            </a:r>
            <a:r>
              <a:rPr lang="en-GB" sz="1800" dirty="0" err="1"/>
              <a:t>lấy</a:t>
            </a:r>
            <a:r>
              <a:rPr lang="en-GB" sz="1800" dirty="0"/>
              <a:t> </a:t>
            </a:r>
            <a:r>
              <a:rPr lang="en-GB" sz="1800" dirty="0" err="1"/>
              <a:t>dữ</a:t>
            </a:r>
            <a:r>
              <a:rPr lang="en-GB" sz="1800" dirty="0"/>
              <a:t> </a:t>
            </a:r>
            <a:r>
              <a:rPr lang="en-GB" sz="1800" dirty="0" err="1"/>
              <a:t>liệu</a:t>
            </a:r>
            <a:r>
              <a:rPr lang="en-GB" sz="1800" dirty="0"/>
              <a:t> </a:t>
            </a:r>
            <a:r>
              <a:rPr lang="en-GB" sz="1800" dirty="0" err="1"/>
              <a:t>và</a:t>
            </a:r>
            <a:r>
              <a:rPr lang="en-GB" sz="1800" dirty="0"/>
              <a:t> </a:t>
            </a:r>
            <a:r>
              <a:rPr lang="en-GB" sz="1800" dirty="0" err="1"/>
              <a:t>cập</a:t>
            </a:r>
            <a:r>
              <a:rPr lang="en-GB" sz="1800" dirty="0"/>
              <a:t> </a:t>
            </a:r>
            <a:r>
              <a:rPr lang="en-GB" sz="1800" dirty="0" err="1"/>
              <a:t>nhật</a:t>
            </a:r>
            <a:r>
              <a:rPr lang="en-GB" sz="1800" dirty="0"/>
              <a:t> </a:t>
            </a:r>
            <a:r>
              <a:rPr lang="en-GB" sz="1800" dirty="0" err="1"/>
              <a:t>khi</a:t>
            </a:r>
            <a:r>
              <a:rPr lang="en-GB" sz="1800" dirty="0"/>
              <a:t> </a:t>
            </a:r>
            <a:r>
              <a:rPr lang="en-GB" sz="1800" dirty="0" err="1"/>
              <a:t>có</a:t>
            </a:r>
            <a:r>
              <a:rPr lang="en-GB" sz="1800" dirty="0"/>
              <a:t> </a:t>
            </a:r>
            <a:r>
              <a:rPr lang="en-GB" sz="1800" dirty="0" err="1"/>
              <a:t>thay</a:t>
            </a:r>
            <a:r>
              <a:rPr lang="en-GB" sz="1800" dirty="0"/>
              <a:t> </a:t>
            </a:r>
            <a:r>
              <a:rPr lang="en-GB" sz="1800" dirty="0" err="1"/>
              <a:t>đổi</a:t>
            </a:r>
            <a:r>
              <a:rPr lang="en-GB" sz="1800" dirty="0"/>
              <a:t>. </a:t>
            </a:r>
            <a:endParaRPr lang="en-US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 dirty="0" err="1"/>
              <a:t>Mỗi</a:t>
            </a:r>
            <a:r>
              <a:rPr lang="en-GB" sz="1800" dirty="0"/>
              <a:t> </a:t>
            </a:r>
            <a:r>
              <a:rPr lang="en-GB" sz="1800" dirty="0" err="1"/>
              <a:t>ứng</a:t>
            </a:r>
            <a:r>
              <a:rPr lang="en-GB" sz="1800" dirty="0"/>
              <a:t> </a:t>
            </a:r>
            <a:r>
              <a:rPr lang="en-GB" sz="1800" dirty="0" err="1"/>
              <a:t>dụng</a:t>
            </a:r>
            <a:r>
              <a:rPr lang="en-GB" sz="1800" dirty="0"/>
              <a:t> Redux </a:t>
            </a:r>
            <a:r>
              <a:rPr lang="en-GB" sz="1800" dirty="0" err="1"/>
              <a:t>chỉ</a:t>
            </a:r>
            <a:r>
              <a:rPr lang="en-GB" sz="1800" dirty="0"/>
              <a:t> </a:t>
            </a:r>
            <a:r>
              <a:rPr lang="en-GB" sz="1800" dirty="0" err="1"/>
              <a:t>có</a:t>
            </a:r>
            <a:r>
              <a:rPr lang="en-GB" sz="1800" dirty="0"/>
              <a:t> </a:t>
            </a:r>
            <a:r>
              <a:rPr lang="en-GB" sz="1800" dirty="0" err="1"/>
              <a:t>một</a:t>
            </a:r>
            <a:r>
              <a:rPr lang="en-GB" sz="1800" dirty="0"/>
              <a:t> Store </a:t>
            </a:r>
            <a:r>
              <a:rPr lang="en-GB" sz="1800" dirty="0" err="1"/>
              <a:t>duy</a:t>
            </a:r>
            <a:r>
              <a:rPr lang="en-GB" sz="1800" dirty="0"/>
              <a:t> </a:t>
            </a:r>
            <a:r>
              <a:rPr lang="en-GB" sz="1800" dirty="0" err="1"/>
              <a:t>nhất</a:t>
            </a:r>
            <a:r>
              <a:rPr lang="en-GB" sz="1800" dirty="0"/>
              <a:t>.</a:t>
            </a:r>
          </a:p>
          <a:p>
            <a:pPr lvl="0" algn="just"/>
            <a:endParaRPr lang="en-GB" sz="1800" dirty="0"/>
          </a:p>
          <a:p>
            <a:pPr lvl="0" algn="just"/>
            <a:endParaRPr lang="en-GB" sz="1800" dirty="0"/>
          </a:p>
          <a:p>
            <a:pPr algn="just"/>
            <a:r>
              <a:rPr lang="en-GB" sz="1800" u="sng" dirty="0" err="1"/>
              <a:t>Đặc</a:t>
            </a:r>
            <a:r>
              <a:rPr lang="en-GB" sz="1800" u="sng" dirty="0"/>
              <a:t> </a:t>
            </a:r>
            <a:r>
              <a:rPr lang="en-GB" sz="1800" u="sng" dirty="0" err="1"/>
              <a:t>điểm</a:t>
            </a:r>
            <a:r>
              <a:rPr lang="en-GB" sz="1800" u="sng" dirty="0"/>
              <a:t> </a:t>
            </a:r>
            <a:r>
              <a:rPr lang="en-GB" sz="1800" u="sng" dirty="0" err="1"/>
              <a:t>chính</a:t>
            </a:r>
            <a:endParaRPr lang="en-US" sz="1800" u="sng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 dirty="0"/>
              <a:t>Single Source of Truth - State </a:t>
            </a:r>
            <a:r>
              <a:rPr lang="en-GB" sz="1800" dirty="0" err="1"/>
              <a:t>duy</a:t>
            </a:r>
            <a:r>
              <a:rPr lang="en-GB" sz="1800" dirty="0"/>
              <a:t> </a:t>
            </a:r>
            <a:r>
              <a:rPr lang="en-GB" sz="1800" dirty="0" err="1"/>
              <a:t>nhất</a:t>
            </a:r>
            <a:endParaRPr lang="en-US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 dirty="0"/>
              <a:t>Read-only - </a:t>
            </a:r>
            <a:r>
              <a:rPr lang="en-GB" sz="1800" dirty="0" err="1"/>
              <a:t>Không</a:t>
            </a:r>
            <a:r>
              <a:rPr lang="en-GB" sz="1800" dirty="0"/>
              <a:t> </a:t>
            </a:r>
            <a:r>
              <a:rPr lang="en-GB" sz="1800" dirty="0" err="1"/>
              <a:t>thể</a:t>
            </a:r>
            <a:r>
              <a:rPr lang="en-GB" sz="1800" dirty="0"/>
              <a:t> </a:t>
            </a:r>
            <a:r>
              <a:rPr lang="en-GB" sz="1800" dirty="0" err="1"/>
              <a:t>thay</a:t>
            </a:r>
            <a:r>
              <a:rPr lang="en-GB" sz="1800" dirty="0"/>
              <a:t> </a:t>
            </a:r>
            <a:r>
              <a:rPr lang="en-GB" sz="1800" dirty="0" err="1"/>
              <a:t>đổi</a:t>
            </a:r>
            <a:r>
              <a:rPr lang="en-GB" sz="1800" dirty="0"/>
              <a:t> </a:t>
            </a:r>
            <a:r>
              <a:rPr lang="en-GB" sz="1800" dirty="0" err="1"/>
              <a:t>trực</a:t>
            </a:r>
            <a:r>
              <a:rPr lang="en-GB" sz="1800" dirty="0"/>
              <a:t> </a:t>
            </a:r>
            <a:r>
              <a:rPr lang="en-GB" sz="1800" dirty="0" err="1"/>
              <a:t>tiếp</a:t>
            </a:r>
            <a:endParaRPr lang="en-US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 dirty="0"/>
              <a:t>Immutable - State </a:t>
            </a:r>
            <a:r>
              <a:rPr lang="en-GB" sz="1800" dirty="0" err="1"/>
              <a:t>không</a:t>
            </a:r>
            <a:r>
              <a:rPr lang="en-GB" sz="1800" dirty="0"/>
              <a:t> </a:t>
            </a:r>
            <a:r>
              <a:rPr lang="en-GB" sz="1800" dirty="0" err="1"/>
              <a:t>thay</a:t>
            </a:r>
            <a:r>
              <a:rPr lang="en-GB" sz="1800" dirty="0"/>
              <a:t> </a:t>
            </a:r>
            <a:r>
              <a:rPr lang="en-GB" sz="1800" dirty="0" err="1"/>
              <a:t>đổi</a:t>
            </a:r>
            <a:r>
              <a:rPr lang="en-GB" sz="1800" dirty="0"/>
              <a:t>, </a:t>
            </a:r>
            <a:r>
              <a:rPr lang="en-GB" sz="1800" dirty="0" err="1"/>
              <a:t>chỉ</a:t>
            </a:r>
            <a:r>
              <a:rPr lang="en-GB" sz="1800" dirty="0"/>
              <a:t> </a:t>
            </a:r>
            <a:r>
              <a:rPr lang="en-GB" sz="1800" dirty="0" err="1"/>
              <a:t>tạo</a:t>
            </a:r>
            <a:r>
              <a:rPr lang="en-GB" sz="1800" dirty="0"/>
              <a:t> </a:t>
            </a:r>
            <a:r>
              <a:rPr lang="en-GB" sz="1800" dirty="0" err="1"/>
              <a:t>mới</a:t>
            </a:r>
            <a:endParaRPr lang="en-US" sz="1800" dirty="0"/>
          </a:p>
          <a:p>
            <a:pPr lvl="0" algn="just"/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2C143A-E013-2085-5334-FAEE3AA4ED2D}"/>
              </a:ext>
            </a:extLst>
          </p:cNvPr>
          <p:cNvSpPr txBox="1"/>
          <p:nvPr/>
        </p:nvSpPr>
        <p:spPr>
          <a:xfrm>
            <a:off x="231299" y="650157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Store</a:t>
            </a:r>
          </a:p>
        </p:txBody>
      </p:sp>
    </p:spTree>
    <p:extLst>
      <p:ext uri="{BB962C8B-B14F-4D97-AF65-F5344CB8AC3E}">
        <p14:creationId xmlns:p14="http://schemas.microsoft.com/office/powerpoint/2010/main" val="1986194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71E6A97D-726E-27FB-2650-58C6C4977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FF55DC-EDB6-2206-131C-505BC9BA7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A73F19A-EA63-AC6B-44DB-CD2CBEC977A8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Store, Actions, Reducers concepts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2DD8CA-0BDC-B73B-7366-EE69596F05BD}"/>
              </a:ext>
            </a:extLst>
          </p:cNvPr>
          <p:cNvSpPr txBox="1"/>
          <p:nvPr/>
        </p:nvSpPr>
        <p:spPr>
          <a:xfrm>
            <a:off x="1453837" y="3433917"/>
            <a:ext cx="62363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/>
              <a:t>Khởi</a:t>
            </a:r>
            <a:r>
              <a:rPr lang="en-US" sz="1800" dirty="0"/>
              <a:t> </a:t>
            </a:r>
            <a:r>
              <a:rPr lang="en-US" sz="1800" dirty="0" err="1"/>
              <a:t>tạo</a:t>
            </a:r>
            <a:r>
              <a:rPr lang="en-US" sz="1800" dirty="0"/>
              <a:t> 1 store </a:t>
            </a:r>
            <a:r>
              <a:rPr lang="en-US" sz="1800" dirty="0" err="1"/>
              <a:t>cho</a:t>
            </a:r>
            <a:r>
              <a:rPr lang="en-US" sz="1800" dirty="0"/>
              <a:t> app </a:t>
            </a:r>
            <a:r>
              <a:rPr lang="en-US" sz="1800" dirty="0" err="1"/>
              <a:t>có</a:t>
            </a:r>
            <a:r>
              <a:rPr lang="en-US" sz="1800" dirty="0"/>
              <a:t> </a:t>
            </a:r>
            <a:r>
              <a:rPr lang="en-US" sz="1800" b="1" dirty="0"/>
              <a:t>state</a:t>
            </a:r>
            <a:r>
              <a:rPr lang="en-US" sz="1800" dirty="0"/>
              <a:t> ban </a:t>
            </a:r>
            <a:r>
              <a:rPr lang="en-US" sz="1800" dirty="0" err="1"/>
              <a:t>đầu</a:t>
            </a:r>
            <a:r>
              <a:rPr lang="en-US" sz="1800" dirty="0"/>
              <a:t> = 0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/>
              <a:t>store </a:t>
            </a:r>
            <a:r>
              <a:rPr lang="en-GB" sz="1800" dirty="0" err="1"/>
              <a:t>lưu</a:t>
            </a:r>
            <a:r>
              <a:rPr lang="en-GB" sz="1800" dirty="0"/>
              <a:t> </a:t>
            </a:r>
            <a:r>
              <a:rPr lang="en-GB" sz="1800" dirty="0" err="1"/>
              <a:t>trữ</a:t>
            </a:r>
            <a:r>
              <a:rPr lang="en-GB" sz="1800" dirty="0"/>
              <a:t> </a:t>
            </a:r>
            <a:r>
              <a:rPr lang="en-GB" sz="1800" dirty="0" err="1"/>
              <a:t>một</a:t>
            </a:r>
            <a:r>
              <a:rPr lang="en-GB" sz="1800" dirty="0"/>
              <a:t> state </a:t>
            </a:r>
            <a:r>
              <a:rPr lang="en-GB" sz="1800" dirty="0" err="1"/>
              <a:t>kiểu</a:t>
            </a:r>
            <a:r>
              <a:rPr lang="en-GB" sz="1800" dirty="0"/>
              <a:t> int, </a:t>
            </a:r>
            <a:r>
              <a:rPr lang="en-GB" sz="1800" dirty="0" err="1"/>
              <a:t>và</a:t>
            </a:r>
            <a:r>
              <a:rPr lang="en-GB" sz="1800" dirty="0"/>
              <a:t> </a:t>
            </a:r>
            <a:r>
              <a:rPr lang="en-GB" sz="1800" dirty="0" err="1"/>
              <a:t>được</a:t>
            </a:r>
            <a:r>
              <a:rPr lang="en-GB" sz="1800" dirty="0"/>
              <a:t> </a:t>
            </a:r>
            <a:r>
              <a:rPr lang="en-GB" sz="1800" dirty="0" err="1"/>
              <a:t>cập</a:t>
            </a:r>
            <a:r>
              <a:rPr lang="en-GB" sz="1800" dirty="0"/>
              <a:t> </a:t>
            </a:r>
            <a:r>
              <a:rPr lang="en-GB" sz="1800" dirty="0" err="1"/>
              <a:t>nhật</a:t>
            </a:r>
            <a:r>
              <a:rPr lang="en-GB" sz="1800" dirty="0"/>
              <a:t> </a:t>
            </a:r>
            <a:r>
              <a:rPr lang="en-GB" sz="1800" dirty="0" err="1"/>
              <a:t>bởi</a:t>
            </a:r>
            <a:r>
              <a:rPr lang="en-GB" sz="1800" dirty="0"/>
              <a:t> </a:t>
            </a:r>
            <a:r>
              <a:rPr lang="en-GB" sz="1800" dirty="0" err="1"/>
              <a:t>hàm</a:t>
            </a:r>
            <a:r>
              <a:rPr lang="en-GB" sz="1800" dirty="0"/>
              <a:t> </a:t>
            </a:r>
            <a:r>
              <a:rPr lang="en-GB" sz="1800" dirty="0" err="1"/>
              <a:t>counterReducer</a:t>
            </a:r>
            <a:r>
              <a:rPr lang="en-GB" sz="1800" dirty="0"/>
              <a:t>.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637D4-3882-2485-7189-4FBE8C6BA4C0}"/>
              </a:ext>
            </a:extLst>
          </p:cNvPr>
          <p:cNvSpPr txBox="1"/>
          <p:nvPr/>
        </p:nvSpPr>
        <p:spPr>
          <a:xfrm>
            <a:off x="231299" y="650157"/>
            <a:ext cx="106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Store</a:t>
            </a:r>
          </a:p>
        </p:txBody>
      </p:sp>
      <p:pic>
        <p:nvPicPr>
          <p:cNvPr id="2" name="Picture 1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28415294-93F9-2470-EE55-C114E96C5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8587" y="1369149"/>
            <a:ext cx="6146826" cy="170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743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7903ED14-13D4-9881-5A87-50BA02950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40CFE62-AE66-418D-D8AE-AF8EBE3AA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8CFF028-0FB2-13C6-121A-11A914038868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Store, Actions, Reducers concepts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301C69-74E8-0532-9A00-5020FBECF72F}"/>
              </a:ext>
            </a:extLst>
          </p:cNvPr>
          <p:cNvSpPr txBox="1"/>
          <p:nvPr/>
        </p:nvSpPr>
        <p:spPr>
          <a:xfrm>
            <a:off x="1453837" y="1556980"/>
            <a:ext cx="58483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1800" dirty="0"/>
              <a:t>Action </a:t>
            </a:r>
            <a:r>
              <a:rPr lang="en-GB" sz="1800" dirty="0" err="1"/>
              <a:t>là</a:t>
            </a:r>
            <a:r>
              <a:rPr lang="en-GB" sz="1800" dirty="0"/>
              <a:t> </a:t>
            </a:r>
            <a:r>
              <a:rPr lang="en-GB" sz="1800" dirty="0" err="1"/>
              <a:t>sự</a:t>
            </a:r>
            <a:r>
              <a:rPr lang="en-GB" sz="1800" dirty="0"/>
              <a:t> </a:t>
            </a:r>
            <a:r>
              <a:rPr lang="en-GB" sz="1800" dirty="0" err="1"/>
              <a:t>kiện</a:t>
            </a:r>
            <a:r>
              <a:rPr lang="en-GB" sz="1800" dirty="0"/>
              <a:t> </a:t>
            </a:r>
            <a:r>
              <a:rPr lang="en-GB" sz="1800" dirty="0" err="1"/>
              <a:t>mô</a:t>
            </a:r>
            <a:r>
              <a:rPr lang="en-GB" sz="1800" dirty="0"/>
              <a:t> </a:t>
            </a:r>
            <a:r>
              <a:rPr lang="en-GB" sz="1800" dirty="0" err="1"/>
              <a:t>tả</a:t>
            </a:r>
            <a:r>
              <a:rPr lang="en-GB" sz="1800" dirty="0"/>
              <a:t> </a:t>
            </a:r>
            <a:r>
              <a:rPr lang="en-GB" sz="1800" dirty="0" err="1"/>
              <a:t>điều</a:t>
            </a:r>
            <a:r>
              <a:rPr lang="en-GB" sz="1800" dirty="0"/>
              <a:t> </a:t>
            </a:r>
            <a:r>
              <a:rPr lang="en-GB" sz="1800" dirty="0" err="1"/>
              <a:t>gì</a:t>
            </a:r>
            <a:r>
              <a:rPr lang="en-GB" sz="1800" dirty="0"/>
              <a:t> </a:t>
            </a:r>
            <a:r>
              <a:rPr lang="en-GB" sz="1800" dirty="0" err="1"/>
              <a:t>đó</a:t>
            </a:r>
            <a:r>
              <a:rPr lang="en-GB" sz="1800" dirty="0"/>
              <a:t> </a:t>
            </a:r>
            <a:r>
              <a:rPr lang="en-GB" sz="1800" dirty="0" err="1"/>
              <a:t>đã</a:t>
            </a:r>
            <a:r>
              <a:rPr lang="en-GB" sz="1800" dirty="0"/>
              <a:t> </a:t>
            </a:r>
            <a:r>
              <a:rPr lang="en-GB" sz="1800" dirty="0" err="1"/>
              <a:t>xảy</a:t>
            </a:r>
            <a:r>
              <a:rPr lang="en-GB" sz="1800" dirty="0"/>
              <a:t> </a:t>
            </a:r>
            <a:r>
              <a:rPr lang="en-GB" sz="1800" dirty="0" err="1"/>
              <a:t>ra</a:t>
            </a:r>
            <a:r>
              <a:rPr lang="en-GB" sz="1800" dirty="0"/>
              <a:t> </a:t>
            </a:r>
            <a:r>
              <a:rPr lang="en-GB" sz="1800" dirty="0" err="1"/>
              <a:t>trong</a:t>
            </a:r>
            <a:r>
              <a:rPr lang="en-GB" sz="1800" dirty="0"/>
              <a:t> </a:t>
            </a:r>
            <a:r>
              <a:rPr lang="en-GB" sz="1800" dirty="0" err="1"/>
              <a:t>ứng</a:t>
            </a:r>
            <a:r>
              <a:rPr lang="en-GB" sz="1800" dirty="0"/>
              <a:t> </a:t>
            </a:r>
            <a:r>
              <a:rPr lang="en-GB" sz="1800" dirty="0" err="1"/>
              <a:t>dụng</a:t>
            </a:r>
            <a:r>
              <a:rPr lang="en-GB" sz="1800" dirty="0"/>
              <a:t>(</a:t>
            </a:r>
            <a:r>
              <a:rPr lang="en-GB" sz="1800" dirty="0" err="1"/>
              <a:t>người</a:t>
            </a:r>
            <a:r>
              <a:rPr lang="en-GB" sz="1800" dirty="0"/>
              <a:t> </a:t>
            </a:r>
            <a:r>
              <a:rPr lang="en-GB" sz="1800" dirty="0" err="1"/>
              <a:t>dùng</a:t>
            </a:r>
            <a:r>
              <a:rPr lang="en-GB" sz="1800" dirty="0"/>
              <a:t> </a:t>
            </a:r>
            <a:r>
              <a:rPr lang="en-GB" sz="1800" dirty="0" err="1"/>
              <a:t>bấm</a:t>
            </a:r>
            <a:r>
              <a:rPr lang="en-GB" sz="1800" dirty="0"/>
              <a:t> </a:t>
            </a:r>
            <a:r>
              <a:rPr lang="en-GB" sz="1800" dirty="0" err="1"/>
              <a:t>nút</a:t>
            </a:r>
            <a:r>
              <a:rPr lang="en-GB" sz="1800" dirty="0"/>
              <a:t>, </a:t>
            </a:r>
            <a:r>
              <a:rPr lang="en-GB" sz="1800" dirty="0" err="1"/>
              <a:t>nhận</a:t>
            </a:r>
            <a:r>
              <a:rPr lang="en-GB" sz="1800" dirty="0"/>
              <a:t> </a:t>
            </a:r>
            <a:r>
              <a:rPr lang="en-GB" sz="1800" dirty="0" err="1"/>
              <a:t>được</a:t>
            </a:r>
            <a:r>
              <a:rPr lang="en-GB" sz="1800" dirty="0"/>
              <a:t> </a:t>
            </a:r>
            <a:r>
              <a:rPr lang="en-GB" sz="1800" dirty="0" err="1"/>
              <a:t>dữ</a:t>
            </a:r>
            <a:r>
              <a:rPr lang="en-GB" sz="1800" dirty="0"/>
              <a:t> </a:t>
            </a:r>
            <a:r>
              <a:rPr lang="en-GB" sz="1800" dirty="0" err="1"/>
              <a:t>liệu</a:t>
            </a:r>
            <a:r>
              <a:rPr lang="en-GB" sz="1800" dirty="0"/>
              <a:t> API,…)</a:t>
            </a:r>
          </a:p>
          <a:p>
            <a:pPr algn="just"/>
            <a:endParaRPr lang="en-US" sz="1800" dirty="0"/>
          </a:p>
          <a:p>
            <a:pPr algn="just"/>
            <a:r>
              <a:rPr lang="en-GB" sz="1800" dirty="0"/>
              <a:t>Action </a:t>
            </a:r>
            <a:r>
              <a:rPr lang="en-GB" sz="1800" dirty="0" err="1"/>
              <a:t>không</a:t>
            </a:r>
            <a:r>
              <a:rPr lang="en-GB" sz="1800" dirty="0"/>
              <a:t> </a:t>
            </a:r>
            <a:r>
              <a:rPr lang="en-GB" sz="1800" dirty="0" err="1"/>
              <a:t>chứa</a:t>
            </a:r>
            <a:r>
              <a:rPr lang="en-GB" sz="1800" dirty="0"/>
              <a:t> logic </a:t>
            </a:r>
            <a:r>
              <a:rPr lang="en-GB" sz="1800" dirty="0" err="1"/>
              <a:t>xử</a:t>
            </a:r>
            <a:r>
              <a:rPr lang="en-GB" sz="1800" dirty="0"/>
              <a:t> </a:t>
            </a:r>
            <a:r>
              <a:rPr lang="en-GB" sz="1800" dirty="0" err="1"/>
              <a:t>lý</a:t>
            </a:r>
            <a:r>
              <a:rPr lang="en-GB" sz="1800" dirty="0"/>
              <a:t>, </a:t>
            </a:r>
            <a:r>
              <a:rPr lang="en-GB" sz="1800" dirty="0" err="1"/>
              <a:t>mà</a:t>
            </a:r>
            <a:r>
              <a:rPr lang="en-GB" sz="1800" dirty="0"/>
              <a:t> </a:t>
            </a:r>
            <a:r>
              <a:rPr lang="en-GB" sz="1800" dirty="0" err="1"/>
              <a:t>chỉ</a:t>
            </a:r>
            <a:r>
              <a:rPr lang="en-GB" sz="1800" dirty="0"/>
              <a:t> mang </a:t>
            </a:r>
            <a:r>
              <a:rPr lang="en-GB" sz="1800" dirty="0" err="1"/>
              <a:t>thông</a:t>
            </a:r>
            <a:r>
              <a:rPr lang="en-GB" sz="1800" dirty="0"/>
              <a:t> </a:t>
            </a:r>
            <a:r>
              <a:rPr lang="en-GB" sz="1800" dirty="0" err="1"/>
              <a:t>điệp</a:t>
            </a:r>
            <a:r>
              <a:rPr lang="en-GB" sz="1800" dirty="0"/>
              <a:t>.</a:t>
            </a:r>
          </a:p>
          <a:p>
            <a:pPr algn="just"/>
            <a:endParaRPr lang="en-US" sz="1800" dirty="0"/>
          </a:p>
          <a:p>
            <a:pPr algn="just"/>
            <a:r>
              <a:rPr lang="en-US" sz="1800" dirty="0" err="1"/>
              <a:t>Một</a:t>
            </a:r>
            <a:r>
              <a:rPr lang="en-US" sz="1800" dirty="0"/>
              <a:t> Action </a:t>
            </a:r>
            <a:r>
              <a:rPr lang="en-US" sz="1800" dirty="0" err="1"/>
              <a:t>là</a:t>
            </a:r>
            <a:r>
              <a:rPr lang="en-US" sz="1800" dirty="0"/>
              <a:t> object </a:t>
            </a:r>
            <a:r>
              <a:rPr lang="en-US" sz="1800" dirty="0" err="1"/>
              <a:t>đơn</a:t>
            </a:r>
            <a:r>
              <a:rPr lang="en-US" sz="1800" dirty="0"/>
              <a:t> </a:t>
            </a:r>
            <a:r>
              <a:rPr lang="en-US" sz="1800" dirty="0" err="1"/>
              <a:t>giản</a:t>
            </a:r>
            <a:r>
              <a:rPr lang="en-US" sz="1800" dirty="0"/>
              <a:t> </a:t>
            </a:r>
            <a:r>
              <a:rPr lang="en-US" sz="1800" dirty="0" err="1"/>
              <a:t>gồm</a:t>
            </a:r>
            <a:r>
              <a:rPr lang="en-US" sz="1800" dirty="0"/>
              <a:t>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type: </a:t>
            </a:r>
            <a:r>
              <a:rPr lang="en-US" sz="1800" dirty="0" err="1"/>
              <a:t>loại</a:t>
            </a:r>
            <a:r>
              <a:rPr lang="en-US" sz="1800" dirty="0"/>
              <a:t> </a:t>
            </a:r>
            <a:r>
              <a:rPr lang="en-US" sz="1800" dirty="0" err="1"/>
              <a:t>hành</a:t>
            </a:r>
            <a:r>
              <a:rPr lang="en-US" sz="1800" dirty="0"/>
              <a:t> </a:t>
            </a:r>
            <a:r>
              <a:rPr lang="en-US" sz="1800" dirty="0" err="1"/>
              <a:t>động</a:t>
            </a:r>
            <a:r>
              <a:rPr lang="en-US" sz="1800" dirty="0"/>
              <a:t> (</a:t>
            </a:r>
            <a:r>
              <a:rPr lang="en-US" sz="1800" dirty="0" err="1"/>
              <a:t>ví</a:t>
            </a:r>
            <a:r>
              <a:rPr lang="en-US" sz="1800" dirty="0"/>
              <a:t> </a:t>
            </a:r>
            <a:r>
              <a:rPr lang="en-US" sz="1800" dirty="0" err="1"/>
              <a:t>dụ</a:t>
            </a:r>
            <a:r>
              <a:rPr lang="en-US" sz="1800" dirty="0"/>
              <a:t>: </a:t>
            </a:r>
            <a:r>
              <a:rPr lang="en-US" sz="1800" dirty="0" err="1"/>
              <a:t>tăng</a:t>
            </a:r>
            <a:r>
              <a:rPr lang="en-US" sz="1800" dirty="0"/>
              <a:t>, </a:t>
            </a:r>
            <a:r>
              <a:rPr lang="en-US" sz="1800" dirty="0" err="1"/>
              <a:t>giảm</a:t>
            </a:r>
            <a:r>
              <a:rPr lang="en-US" sz="1800" dirty="0"/>
              <a:t>, </a:t>
            </a:r>
            <a:r>
              <a:rPr lang="en-US" sz="1800" dirty="0" err="1"/>
              <a:t>xóa</a:t>
            </a:r>
            <a:r>
              <a:rPr lang="en-US" sz="1800" dirty="0"/>
              <a:t>, </a:t>
            </a:r>
            <a:r>
              <a:rPr lang="en-US" sz="1800" dirty="0" err="1"/>
              <a:t>thêm</a:t>
            </a:r>
            <a:r>
              <a:rPr lang="en-US" sz="1800" dirty="0"/>
              <a:t>)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800" dirty="0"/>
              <a:t>payload (</a:t>
            </a:r>
            <a:r>
              <a:rPr lang="en-US" sz="1800" dirty="0" err="1"/>
              <a:t>tuỳ</a:t>
            </a:r>
            <a:r>
              <a:rPr lang="en-US" sz="1800" dirty="0"/>
              <a:t> </a:t>
            </a:r>
            <a:r>
              <a:rPr lang="en-US" sz="1800" dirty="0" err="1"/>
              <a:t>chọn</a:t>
            </a:r>
            <a:r>
              <a:rPr lang="en-US" sz="1800" dirty="0"/>
              <a:t>): </a:t>
            </a:r>
            <a:r>
              <a:rPr lang="en-US" sz="1800" dirty="0" err="1"/>
              <a:t>dữ</a:t>
            </a:r>
            <a:r>
              <a:rPr lang="en-US" sz="1800" dirty="0"/>
              <a:t> </a:t>
            </a:r>
            <a:r>
              <a:rPr lang="en-US" sz="1800" dirty="0" err="1"/>
              <a:t>liệu</a:t>
            </a:r>
            <a:r>
              <a:rPr lang="en-US" sz="1800" dirty="0"/>
              <a:t> </a:t>
            </a:r>
            <a:r>
              <a:rPr lang="en-US" sz="1800" dirty="0" err="1"/>
              <a:t>kèm</a:t>
            </a:r>
            <a:r>
              <a:rPr lang="en-US" sz="1800" dirty="0"/>
              <a:t> </a:t>
            </a:r>
            <a:r>
              <a:rPr lang="en-US" sz="1800" dirty="0" err="1"/>
              <a:t>theo</a:t>
            </a:r>
            <a:r>
              <a:rPr lang="en-US" sz="1800" dirty="0"/>
              <a:t>, </a:t>
            </a:r>
            <a:r>
              <a:rPr lang="en-US" sz="1800" dirty="0" err="1"/>
              <a:t>nếu</a:t>
            </a:r>
            <a:r>
              <a:rPr lang="en-US" sz="1800" dirty="0"/>
              <a:t> </a:t>
            </a:r>
            <a:r>
              <a:rPr lang="en-US" sz="1800" dirty="0" err="1"/>
              <a:t>có</a:t>
            </a:r>
            <a:endParaRPr lang="en-US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979052-4BE8-23D9-7410-CED207B1D462}"/>
              </a:ext>
            </a:extLst>
          </p:cNvPr>
          <p:cNvSpPr txBox="1"/>
          <p:nvPr/>
        </p:nvSpPr>
        <p:spPr>
          <a:xfrm>
            <a:off x="231299" y="650157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Actions</a:t>
            </a:r>
          </a:p>
        </p:txBody>
      </p:sp>
    </p:spTree>
    <p:extLst>
      <p:ext uri="{BB962C8B-B14F-4D97-AF65-F5344CB8AC3E}">
        <p14:creationId xmlns:p14="http://schemas.microsoft.com/office/powerpoint/2010/main" val="3433987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EE859A49-7667-A6E1-E393-292E9E6E3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8886F1D-A554-3999-729B-10E9A60C6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48D9A4D-1FB3-8992-0CA5-95E82AA896D7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Store, Actions, Reducers concepts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519609-15F7-580F-7D91-42B82C552538}"/>
              </a:ext>
            </a:extLst>
          </p:cNvPr>
          <p:cNvSpPr txBox="1"/>
          <p:nvPr/>
        </p:nvSpPr>
        <p:spPr>
          <a:xfrm>
            <a:off x="231299" y="650157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Actions</a:t>
            </a:r>
          </a:p>
        </p:txBody>
      </p:sp>
      <p:pic>
        <p:nvPicPr>
          <p:cNvPr id="1026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D40520B-037F-B28C-931C-1CBE221C6F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" y="1820804"/>
            <a:ext cx="3086545" cy="2966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B2B730D-08AE-F511-539E-301670DBDA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932990"/>
            <a:ext cx="4010143" cy="3854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1A21D8F2-BC0E-DD4C-A0B4-FCDEFD9D4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857" y="1331823"/>
            <a:ext cx="3517310" cy="292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Ví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dụ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Action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không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payload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Aptos" panose="020B0004020202020204" pitchFamily="34" charset="0"/>
                <a:cs typeface="Times New Roman" panose="02020603050405020304" pitchFamily="18" charset="0"/>
              </a:rPr>
              <a:t> payload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847446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7E6E0485-1048-9B2D-4FD4-ED60EFD8B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F8C232-4666-FD9B-EC5B-BCA358E166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A55AF57-DE7B-0C11-2A32-15BEE15F522B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Store, Actions, Reducers concepts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35BC37-E96E-5EB1-E2A5-76ADE1C42824}"/>
              </a:ext>
            </a:extLst>
          </p:cNvPr>
          <p:cNvSpPr txBox="1"/>
          <p:nvPr/>
        </p:nvSpPr>
        <p:spPr>
          <a:xfrm>
            <a:off x="231299" y="650157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Actions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2A1DBE5-CDCE-DA11-9275-B17E14A4E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0891" y="3450922"/>
            <a:ext cx="613684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1600" dirty="0" err="1"/>
              <a:t>Cách</a:t>
            </a:r>
            <a:r>
              <a:rPr lang="en-GB" sz="1600" dirty="0"/>
              <a:t> Action </a:t>
            </a:r>
            <a:r>
              <a:rPr lang="en-GB" sz="1600" dirty="0" err="1"/>
              <a:t>hoạt</a:t>
            </a:r>
            <a:r>
              <a:rPr lang="en-GB" sz="1600" dirty="0"/>
              <a:t> </a:t>
            </a:r>
            <a:r>
              <a:rPr lang="en-GB" sz="1600" dirty="0" err="1"/>
              <a:t>động</a:t>
            </a:r>
            <a:r>
              <a:rPr lang="en-GB" sz="1600" dirty="0"/>
              <a:t>:</a:t>
            </a:r>
          </a:p>
          <a:p>
            <a:pPr algn="just"/>
            <a:endParaRPr lang="en-US" sz="1600" dirty="0"/>
          </a:p>
          <a:p>
            <a:pPr marL="342900" lvl="0" indent="-342900" algn="just">
              <a:buFont typeface="+mj-lt"/>
              <a:buAutoNum type="arabicPeriod"/>
            </a:pPr>
            <a:r>
              <a:rPr lang="en-US" sz="1600" dirty="0"/>
              <a:t>UI (</a:t>
            </a:r>
            <a:r>
              <a:rPr lang="en-US" sz="1600" dirty="0" err="1"/>
              <a:t>người</a:t>
            </a:r>
            <a:r>
              <a:rPr lang="en-US" sz="1600" dirty="0"/>
              <a:t> </a:t>
            </a:r>
            <a:r>
              <a:rPr lang="en-US" sz="1600" dirty="0" err="1"/>
              <a:t>dùng</a:t>
            </a:r>
            <a:r>
              <a:rPr lang="en-US" sz="1600" dirty="0"/>
              <a:t> </a:t>
            </a:r>
            <a:r>
              <a:rPr lang="en-US" sz="1600" dirty="0" err="1"/>
              <a:t>hoặc</a:t>
            </a:r>
            <a:r>
              <a:rPr lang="en-US" sz="1600" dirty="0"/>
              <a:t> </a:t>
            </a:r>
            <a:r>
              <a:rPr lang="en-US" sz="1600" dirty="0" err="1"/>
              <a:t>sự</a:t>
            </a:r>
            <a:r>
              <a:rPr lang="en-US" sz="1600" dirty="0"/>
              <a:t> </a:t>
            </a:r>
            <a:r>
              <a:rPr lang="en-US" sz="1600" dirty="0" err="1"/>
              <a:t>kiện</a:t>
            </a:r>
            <a:r>
              <a:rPr lang="en-US" sz="1600" dirty="0"/>
              <a:t>) dispatch </a:t>
            </a:r>
            <a:r>
              <a:rPr lang="en-US" sz="1600" dirty="0" err="1"/>
              <a:t>một</a:t>
            </a:r>
            <a:r>
              <a:rPr lang="en-US" sz="1600" dirty="0"/>
              <a:t> Action </a:t>
            </a:r>
            <a:r>
              <a:rPr lang="en-US" sz="1600" dirty="0" err="1"/>
              <a:t>đến</a:t>
            </a:r>
            <a:r>
              <a:rPr lang="en-US" sz="1600" dirty="0"/>
              <a:t> Store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600" dirty="0"/>
              <a:t>Store </a:t>
            </a:r>
            <a:r>
              <a:rPr lang="en-US" sz="1600" dirty="0" err="1"/>
              <a:t>chuyển</a:t>
            </a:r>
            <a:r>
              <a:rPr lang="en-US" sz="1600" dirty="0"/>
              <a:t> Action </a:t>
            </a:r>
            <a:r>
              <a:rPr lang="en-US" sz="1600" dirty="0" err="1"/>
              <a:t>đó</a:t>
            </a:r>
            <a:r>
              <a:rPr lang="en-US" sz="1600" dirty="0"/>
              <a:t> </a:t>
            </a:r>
            <a:r>
              <a:rPr lang="en-US" sz="1600" dirty="0" err="1"/>
              <a:t>đến</a:t>
            </a:r>
            <a:r>
              <a:rPr lang="en-US" sz="1600" dirty="0"/>
              <a:t> Reducer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1600" dirty="0"/>
              <a:t>Reducer </a:t>
            </a:r>
            <a:r>
              <a:rPr lang="en-US" sz="1600" dirty="0" err="1"/>
              <a:t>xử</a:t>
            </a:r>
            <a:r>
              <a:rPr lang="en-US" sz="1600" dirty="0"/>
              <a:t> </a:t>
            </a:r>
            <a:r>
              <a:rPr lang="en-US" sz="1600" dirty="0" err="1"/>
              <a:t>lý</a:t>
            </a:r>
            <a:r>
              <a:rPr lang="en-US" sz="1600" dirty="0"/>
              <a:t> Action </a:t>
            </a:r>
            <a:r>
              <a:rPr lang="en-US" sz="1600" dirty="0" err="1"/>
              <a:t>và</a:t>
            </a:r>
            <a:r>
              <a:rPr lang="en-US" sz="1600" dirty="0"/>
              <a:t> </a:t>
            </a:r>
            <a:r>
              <a:rPr lang="en-US" sz="1600" dirty="0" err="1"/>
              <a:t>trả</a:t>
            </a:r>
            <a:r>
              <a:rPr lang="en-US" sz="1600" dirty="0"/>
              <a:t> </a:t>
            </a:r>
            <a:r>
              <a:rPr lang="en-US" sz="1600" dirty="0" err="1"/>
              <a:t>về</a:t>
            </a:r>
            <a:r>
              <a:rPr lang="en-US" sz="1600" dirty="0"/>
              <a:t> state </a:t>
            </a:r>
            <a:r>
              <a:rPr lang="en-US" sz="1600" dirty="0" err="1"/>
              <a:t>mới</a:t>
            </a:r>
            <a:endParaRPr lang="en-US" sz="16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084858-1052-E05D-FB30-7A3BBA27BE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860" y="1019489"/>
            <a:ext cx="6440280" cy="240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0028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9BA58C96-2A77-2B88-F9B4-4456400AD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B021818-82DF-3128-4A82-C5E7F8E0D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C2C0465-714E-71CD-A005-1D8B872D9448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Store, Actions, Reducers concepts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30543A-0E7A-2FDE-30DA-BCBA49C5055A}"/>
              </a:ext>
            </a:extLst>
          </p:cNvPr>
          <p:cNvSpPr txBox="1"/>
          <p:nvPr/>
        </p:nvSpPr>
        <p:spPr>
          <a:xfrm>
            <a:off x="231299" y="650157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Reducers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3C825B3-FB8D-7872-02B6-5CBD10DB11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367" y="1669646"/>
            <a:ext cx="752926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1800" dirty="0"/>
              <a:t>Reducer </a:t>
            </a:r>
            <a:r>
              <a:rPr lang="en-GB" sz="1800" dirty="0" err="1"/>
              <a:t>là</a:t>
            </a:r>
            <a:r>
              <a:rPr lang="en-GB" sz="1800" dirty="0"/>
              <a:t> </a:t>
            </a:r>
            <a:r>
              <a:rPr lang="en-GB" sz="1800" dirty="0" err="1"/>
              <a:t>hàm</a:t>
            </a:r>
            <a:r>
              <a:rPr lang="en-GB" sz="1800" dirty="0"/>
              <a:t> </a:t>
            </a:r>
            <a:r>
              <a:rPr lang="en-GB" sz="1800" dirty="0" err="1"/>
              <a:t>thuần</a:t>
            </a:r>
            <a:r>
              <a:rPr lang="en-GB" sz="1800" dirty="0"/>
              <a:t> </a:t>
            </a:r>
            <a:r>
              <a:rPr lang="en-GB" sz="1800" dirty="0" err="1"/>
              <a:t>tuý</a:t>
            </a:r>
            <a:r>
              <a:rPr lang="en-GB" sz="1800" dirty="0"/>
              <a:t> (pure function), </a:t>
            </a:r>
            <a:r>
              <a:rPr lang="en-GB" sz="1800" dirty="0" err="1"/>
              <a:t>nhận</a:t>
            </a:r>
            <a:r>
              <a:rPr lang="en-GB" sz="1800" dirty="0"/>
              <a:t> </a:t>
            </a:r>
            <a:r>
              <a:rPr lang="en-GB" sz="1800" dirty="0" err="1"/>
              <a:t>vào</a:t>
            </a:r>
            <a:r>
              <a:rPr lang="en-GB" sz="1800" dirty="0"/>
              <a:t> state </a:t>
            </a:r>
            <a:r>
              <a:rPr lang="en-GB" sz="1800" dirty="0" err="1"/>
              <a:t>hiện</a:t>
            </a:r>
            <a:r>
              <a:rPr lang="en-GB" sz="1800" dirty="0"/>
              <a:t> </a:t>
            </a:r>
            <a:r>
              <a:rPr lang="en-GB" sz="1800" dirty="0" err="1"/>
              <a:t>tại</a:t>
            </a:r>
            <a:r>
              <a:rPr lang="en-GB" sz="1800" dirty="0"/>
              <a:t> </a:t>
            </a:r>
            <a:r>
              <a:rPr lang="en-GB" sz="1800" dirty="0" err="1"/>
              <a:t>và</a:t>
            </a:r>
            <a:r>
              <a:rPr lang="en-GB" sz="1800" dirty="0"/>
              <a:t> action, </a:t>
            </a:r>
            <a:r>
              <a:rPr lang="en-GB" sz="1800" dirty="0" err="1"/>
              <a:t>rồi</a:t>
            </a:r>
            <a:r>
              <a:rPr lang="en-GB" sz="1800" dirty="0"/>
              <a:t> </a:t>
            </a:r>
            <a:r>
              <a:rPr lang="en-GB" sz="1800" dirty="0" err="1"/>
              <a:t>trả</a:t>
            </a:r>
            <a:r>
              <a:rPr lang="en-GB" sz="1800" dirty="0"/>
              <a:t> </a:t>
            </a:r>
            <a:r>
              <a:rPr lang="en-GB" sz="1800" dirty="0" err="1"/>
              <a:t>về</a:t>
            </a:r>
            <a:r>
              <a:rPr lang="en-GB" sz="1800" dirty="0"/>
              <a:t> state </a:t>
            </a:r>
            <a:r>
              <a:rPr lang="en-GB" sz="1800" dirty="0" err="1"/>
              <a:t>mới</a:t>
            </a:r>
            <a:r>
              <a:rPr lang="en-GB" sz="1800" dirty="0"/>
              <a:t>.</a:t>
            </a:r>
          </a:p>
          <a:p>
            <a:pPr algn="just"/>
            <a:endParaRPr lang="en-US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 dirty="0"/>
              <a:t>Reducer </a:t>
            </a:r>
            <a:r>
              <a:rPr lang="en-GB" sz="1800" dirty="0" err="1"/>
              <a:t>không</a:t>
            </a:r>
            <a:r>
              <a:rPr lang="en-GB" sz="1800" dirty="0"/>
              <a:t> </a:t>
            </a:r>
            <a:r>
              <a:rPr lang="en-GB" sz="1800" dirty="0" err="1"/>
              <a:t>thay</a:t>
            </a:r>
            <a:r>
              <a:rPr lang="en-GB" sz="1800" dirty="0"/>
              <a:t> </a:t>
            </a:r>
            <a:r>
              <a:rPr lang="en-GB" sz="1800" dirty="0" err="1"/>
              <a:t>đổi</a:t>
            </a:r>
            <a:r>
              <a:rPr lang="en-GB" sz="1800" dirty="0"/>
              <a:t> state </a:t>
            </a:r>
            <a:r>
              <a:rPr lang="en-GB" sz="1800" dirty="0" err="1"/>
              <a:t>cũ</a:t>
            </a:r>
            <a:r>
              <a:rPr lang="en-GB" sz="1800" dirty="0"/>
              <a:t> </a:t>
            </a:r>
            <a:r>
              <a:rPr lang="en-GB" sz="1800" dirty="0" err="1"/>
              <a:t>mà</a:t>
            </a:r>
            <a:r>
              <a:rPr lang="en-GB" sz="1800" dirty="0"/>
              <a:t> </a:t>
            </a:r>
            <a:r>
              <a:rPr lang="en-GB" sz="1800" dirty="0" err="1"/>
              <a:t>tạo</a:t>
            </a:r>
            <a:r>
              <a:rPr lang="en-GB" sz="1800" dirty="0"/>
              <a:t> </a:t>
            </a:r>
            <a:r>
              <a:rPr lang="en-GB" sz="1800" dirty="0" err="1"/>
              <a:t>bản</a:t>
            </a:r>
            <a:r>
              <a:rPr lang="en-GB" sz="1800" dirty="0"/>
              <a:t> </a:t>
            </a:r>
            <a:r>
              <a:rPr lang="en-GB" sz="1800" dirty="0" err="1"/>
              <a:t>sao</a:t>
            </a:r>
            <a:r>
              <a:rPr lang="en-GB" sz="1800" dirty="0"/>
              <a:t> </a:t>
            </a:r>
            <a:r>
              <a:rPr lang="en-GB" sz="1800" dirty="0" err="1"/>
              <a:t>mới</a:t>
            </a:r>
            <a:r>
              <a:rPr lang="en-GB" sz="1800" dirty="0"/>
              <a:t>, </a:t>
            </a:r>
            <a:r>
              <a:rPr lang="en-GB" sz="1800" dirty="0" err="1"/>
              <a:t>giúp</a:t>
            </a:r>
            <a:r>
              <a:rPr lang="en-GB" sz="1800" dirty="0"/>
              <a:t> </a:t>
            </a:r>
            <a:r>
              <a:rPr lang="en-GB" sz="1800" dirty="0" err="1"/>
              <a:t>dễ</a:t>
            </a:r>
            <a:r>
              <a:rPr lang="en-GB" sz="1800" dirty="0"/>
              <a:t> debug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 dirty="0"/>
              <a:t>Logic </a:t>
            </a:r>
            <a:r>
              <a:rPr lang="en-GB" sz="1800" dirty="0" err="1"/>
              <a:t>xử</a:t>
            </a:r>
            <a:r>
              <a:rPr lang="en-GB" sz="1800" dirty="0"/>
              <a:t> </a:t>
            </a:r>
            <a:r>
              <a:rPr lang="en-GB" sz="1800" dirty="0" err="1"/>
              <a:t>lý</a:t>
            </a:r>
            <a:r>
              <a:rPr lang="en-GB" sz="1800" dirty="0"/>
              <a:t> </a:t>
            </a:r>
            <a:r>
              <a:rPr lang="en-GB" sz="1800" dirty="0" err="1"/>
              <a:t>nằm</a:t>
            </a:r>
            <a:r>
              <a:rPr lang="en-GB" sz="1800" dirty="0"/>
              <a:t> </a:t>
            </a:r>
            <a:r>
              <a:rPr lang="en-GB" sz="1800" dirty="0" err="1"/>
              <a:t>trong</a:t>
            </a:r>
            <a:r>
              <a:rPr lang="en-GB" sz="1800" dirty="0"/>
              <a:t> Reducer - </a:t>
            </a:r>
            <a:r>
              <a:rPr lang="en-GB" sz="1800" dirty="0" err="1"/>
              <a:t>quyết</a:t>
            </a:r>
            <a:r>
              <a:rPr lang="en-GB" sz="1800" dirty="0"/>
              <a:t> </a:t>
            </a:r>
            <a:r>
              <a:rPr lang="en-GB" sz="1800" dirty="0" err="1"/>
              <a:t>định</a:t>
            </a:r>
            <a:r>
              <a:rPr lang="en-GB" sz="1800" dirty="0"/>
              <a:t> </a:t>
            </a:r>
            <a:r>
              <a:rPr lang="en-GB" sz="1800" dirty="0" err="1"/>
              <a:t>cách</a:t>
            </a:r>
            <a:r>
              <a:rPr lang="en-GB" sz="1800" dirty="0"/>
              <a:t> </a:t>
            </a:r>
            <a:r>
              <a:rPr lang="en-GB" sz="1800" dirty="0" err="1"/>
              <a:t>thay</a:t>
            </a:r>
            <a:r>
              <a:rPr lang="en-GB" sz="1800" dirty="0"/>
              <a:t> </a:t>
            </a:r>
            <a:r>
              <a:rPr lang="en-GB" sz="1800" dirty="0" err="1"/>
              <a:t>đổi</a:t>
            </a:r>
            <a:r>
              <a:rPr lang="en-GB" sz="1800" dirty="0"/>
              <a:t> state </a:t>
            </a:r>
            <a:r>
              <a:rPr lang="en-GB" sz="1800" dirty="0" err="1"/>
              <a:t>dựa</a:t>
            </a:r>
            <a:r>
              <a:rPr lang="en-GB" sz="1800" dirty="0"/>
              <a:t> </a:t>
            </a:r>
            <a:r>
              <a:rPr lang="en-GB" sz="1800" dirty="0" err="1"/>
              <a:t>trên</a:t>
            </a:r>
            <a:r>
              <a:rPr lang="en-GB" sz="1800" dirty="0"/>
              <a:t> action, </a:t>
            </a:r>
            <a:r>
              <a:rPr lang="en-GB" sz="1800" dirty="0" err="1"/>
              <a:t>nhưng</a:t>
            </a:r>
            <a:r>
              <a:rPr lang="en-GB" sz="1800" dirty="0"/>
              <a:t> </a:t>
            </a:r>
            <a:r>
              <a:rPr lang="en-GB" sz="1800" dirty="0" err="1"/>
              <a:t>không</a:t>
            </a:r>
            <a:r>
              <a:rPr lang="en-GB" sz="1800" dirty="0"/>
              <a:t> </a:t>
            </a:r>
            <a:r>
              <a:rPr lang="en-GB" sz="1800" dirty="0" err="1"/>
              <a:t>chứa</a:t>
            </a:r>
            <a:r>
              <a:rPr lang="en-GB" sz="1800" dirty="0"/>
              <a:t> side-effect (</a:t>
            </a:r>
            <a:r>
              <a:rPr lang="en-GB" sz="1800" dirty="0" err="1"/>
              <a:t>như</a:t>
            </a:r>
            <a:r>
              <a:rPr lang="en-GB" sz="1800" dirty="0"/>
              <a:t> </a:t>
            </a:r>
            <a:r>
              <a:rPr lang="en-GB" sz="1800" dirty="0" err="1"/>
              <a:t>gọi</a:t>
            </a:r>
            <a:r>
              <a:rPr lang="en-GB" sz="1800" dirty="0"/>
              <a:t> API, </a:t>
            </a:r>
            <a:r>
              <a:rPr lang="en-GB" sz="1800" dirty="0" err="1"/>
              <a:t>lưu</a:t>
            </a:r>
            <a:r>
              <a:rPr lang="en-GB" sz="1800" dirty="0"/>
              <a:t> </a:t>
            </a:r>
            <a:r>
              <a:rPr lang="en-GB" sz="1800" dirty="0" err="1"/>
              <a:t>dữ</a:t>
            </a:r>
            <a:r>
              <a:rPr lang="en-GB" sz="1800" dirty="0"/>
              <a:t> </a:t>
            </a:r>
            <a:r>
              <a:rPr lang="en-GB" sz="1800" dirty="0" err="1"/>
              <a:t>liệu</a:t>
            </a:r>
            <a:r>
              <a:rPr lang="en-GB" sz="1800" dirty="0"/>
              <a:t>).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639782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F42943CC-242F-5F2F-C4BB-3C3F534FF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95D825-BAA4-756C-5FEE-81DFD040D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FC3FDDC-34C6-CB91-6C3B-3203E9BA1840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Store, Actions, Reducers concepts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0E7391-A600-4292-01D8-3785FB21D960}"/>
              </a:ext>
            </a:extLst>
          </p:cNvPr>
          <p:cNvSpPr txBox="1"/>
          <p:nvPr/>
        </p:nvSpPr>
        <p:spPr>
          <a:xfrm>
            <a:off x="231299" y="650157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Reducers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CDD592E-9AE1-F3C9-A5D8-6E5639C44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78" y="1399091"/>
            <a:ext cx="350580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 dirty="0" err="1"/>
              <a:t>Đặc</a:t>
            </a:r>
            <a:r>
              <a:rPr lang="en-US" sz="1600" dirty="0"/>
              <a:t> </a:t>
            </a:r>
            <a:r>
              <a:rPr lang="en-US" sz="1600" dirty="0" err="1"/>
              <a:t>điểm</a:t>
            </a:r>
            <a:r>
              <a:rPr lang="en-US" sz="1600" dirty="0"/>
              <a:t> </a:t>
            </a:r>
            <a:r>
              <a:rPr lang="en-US" sz="1600" dirty="0" err="1"/>
              <a:t>khi</a:t>
            </a:r>
            <a:r>
              <a:rPr lang="en-US" sz="1600" dirty="0"/>
              <a:t> </a:t>
            </a:r>
            <a:r>
              <a:rPr lang="en-US" sz="1600" dirty="0" err="1"/>
              <a:t>dùng</a:t>
            </a:r>
            <a:r>
              <a:rPr lang="en-US" sz="1600" dirty="0"/>
              <a:t> Reducer:</a:t>
            </a:r>
          </a:p>
          <a:p>
            <a:pPr algn="just"/>
            <a:endParaRPr lang="en-US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thay</a:t>
            </a:r>
            <a:r>
              <a:rPr lang="en-US" sz="1600" dirty="0"/>
              <a:t> </a:t>
            </a:r>
            <a:r>
              <a:rPr lang="en-US" sz="1600" dirty="0" err="1"/>
              <a:t>đổi</a:t>
            </a:r>
            <a:r>
              <a:rPr lang="en-US" sz="1600" dirty="0"/>
              <a:t> </a:t>
            </a:r>
            <a:r>
              <a:rPr lang="en-US" sz="1600" dirty="0" err="1"/>
              <a:t>trực</a:t>
            </a:r>
            <a:r>
              <a:rPr lang="en-US" sz="1600" dirty="0"/>
              <a:t> </a:t>
            </a:r>
            <a:r>
              <a:rPr lang="en-US" sz="1600" dirty="0" err="1"/>
              <a:t>tiếp</a:t>
            </a:r>
            <a:r>
              <a:rPr lang="en-US" sz="1600" dirty="0"/>
              <a:t> state </a:t>
            </a:r>
            <a:r>
              <a:rPr lang="en-US" sz="1600" dirty="0" err="1"/>
              <a:t>cũ</a:t>
            </a:r>
            <a:r>
              <a:rPr lang="en-US" sz="1600" dirty="0"/>
              <a:t>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thực</a:t>
            </a:r>
            <a:r>
              <a:rPr lang="en-US" sz="1600" dirty="0"/>
              <a:t> </a:t>
            </a:r>
            <a:r>
              <a:rPr lang="en-US" sz="1600" dirty="0" err="1"/>
              <a:t>hiện</a:t>
            </a:r>
            <a:r>
              <a:rPr lang="en-US" sz="1600" dirty="0"/>
              <a:t> side-effect </a:t>
            </a:r>
            <a:r>
              <a:rPr lang="en-US" sz="1600" dirty="0" err="1"/>
              <a:t>trong</a:t>
            </a:r>
            <a:r>
              <a:rPr lang="en-US" sz="1600" dirty="0"/>
              <a:t> Reducer.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Trả</a:t>
            </a:r>
            <a:r>
              <a:rPr lang="en-US" sz="1600" dirty="0"/>
              <a:t> </a:t>
            </a:r>
            <a:r>
              <a:rPr lang="en-US" sz="1600" dirty="0" err="1"/>
              <a:t>về</a:t>
            </a:r>
            <a:r>
              <a:rPr lang="en-US" sz="1600" dirty="0"/>
              <a:t> state </a:t>
            </a:r>
            <a:r>
              <a:rPr lang="en-US" sz="1600" dirty="0" err="1"/>
              <a:t>mới</a:t>
            </a:r>
            <a:r>
              <a:rPr lang="en-US" sz="1600" dirty="0"/>
              <a:t> </a:t>
            </a:r>
            <a:r>
              <a:rPr lang="en-US" sz="1600" dirty="0" err="1"/>
              <a:t>hoàn</a:t>
            </a:r>
            <a:r>
              <a:rPr lang="en-US" sz="1600" dirty="0"/>
              <a:t> </a:t>
            </a:r>
            <a:r>
              <a:rPr lang="en-US" sz="1600" dirty="0" err="1"/>
              <a:t>chỉnh</a:t>
            </a:r>
            <a:r>
              <a:rPr lang="en-US" sz="1600" dirty="0"/>
              <a:t>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Với</a:t>
            </a:r>
            <a:r>
              <a:rPr lang="en-US" sz="1600" dirty="0"/>
              <a:t> </a:t>
            </a:r>
            <a:r>
              <a:rPr lang="en-US" sz="1600" dirty="0" err="1"/>
              <a:t>cùng</a:t>
            </a:r>
            <a:r>
              <a:rPr lang="en-US" sz="1600" dirty="0"/>
              <a:t> input, </a:t>
            </a:r>
            <a:r>
              <a:rPr lang="en-US" sz="1600" dirty="0" err="1"/>
              <a:t>cho</a:t>
            </a:r>
            <a:r>
              <a:rPr lang="en-US" sz="1600" dirty="0"/>
              <a:t> </a:t>
            </a:r>
            <a:r>
              <a:rPr lang="en-US" sz="1600" dirty="0" err="1"/>
              <a:t>cùng</a:t>
            </a:r>
            <a:r>
              <a:rPr lang="en-US" sz="1600" dirty="0"/>
              <a:t> output</a:t>
            </a: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937531B-630B-858E-BBA1-54AF67C377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8281" y="1073873"/>
            <a:ext cx="5399417" cy="320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7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3C403A19-6C2D-D663-F9EC-DD54E0E27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811F8C-6222-6239-4101-68927531B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8F461E-FA35-6581-E042-136A83450E93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Store, Actions, Reducers concepts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7D750-F458-5B69-8633-89668D6EEED1}"/>
              </a:ext>
            </a:extLst>
          </p:cNvPr>
          <p:cNvSpPr txBox="1"/>
          <p:nvPr/>
        </p:nvSpPr>
        <p:spPr>
          <a:xfrm>
            <a:off x="231299" y="650157"/>
            <a:ext cx="15247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tx1"/>
                </a:solidFill>
              </a:rPr>
              <a:t>Reducers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0CA8CE7-7A82-706C-0DA2-30160856D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718" y="1237784"/>
            <a:ext cx="730056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endParaRPr lang="en-US" sz="1600" dirty="0"/>
          </a:p>
          <a:p>
            <a:pPr marL="342900" indent="-342900" algn="just">
              <a:buAutoNum type="arabicPeriod"/>
            </a:pPr>
            <a:r>
              <a:rPr lang="en-US" sz="1600" dirty="0" err="1"/>
              <a:t>Nhận</a:t>
            </a:r>
            <a:r>
              <a:rPr lang="en-US" sz="1600" dirty="0"/>
              <a:t> </a:t>
            </a:r>
            <a:r>
              <a:rPr lang="en-US" sz="1600" dirty="0" err="1"/>
              <a:t>và</a:t>
            </a:r>
            <a:r>
              <a:rPr lang="en-US" sz="1600" dirty="0"/>
              <a:t> </a:t>
            </a:r>
            <a:r>
              <a:rPr lang="en-US" sz="1600" dirty="0" err="1"/>
              <a:t>xử</a:t>
            </a:r>
            <a:r>
              <a:rPr lang="en-US" sz="1600" dirty="0"/>
              <a:t> </a:t>
            </a:r>
            <a:r>
              <a:rPr lang="en-US" sz="1600" dirty="0" err="1"/>
              <a:t>lý</a:t>
            </a:r>
            <a:r>
              <a:rPr lang="en-US" sz="1600" dirty="0"/>
              <a:t> </a:t>
            </a:r>
            <a:r>
              <a:rPr lang="en-US" sz="1600" dirty="0" err="1"/>
              <a:t>nhiều</a:t>
            </a:r>
            <a:r>
              <a:rPr lang="en-US" sz="1600" dirty="0"/>
              <a:t> action </a:t>
            </a:r>
            <a:r>
              <a:rPr lang="en-US" sz="1600" dirty="0" err="1"/>
              <a:t>cùng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lúc</a:t>
            </a:r>
            <a:r>
              <a:rPr lang="en-US" sz="1600" dirty="0"/>
              <a:t>, </a:t>
            </a:r>
            <a:r>
              <a:rPr lang="en-US" sz="1600" dirty="0" err="1"/>
              <a:t>tập</a:t>
            </a:r>
            <a:r>
              <a:rPr lang="en-US" sz="1600" dirty="0"/>
              <a:t> </a:t>
            </a:r>
            <a:r>
              <a:rPr lang="en-US" sz="1600" dirty="0" err="1"/>
              <a:t>trung</a:t>
            </a:r>
            <a:r>
              <a:rPr lang="en-US" sz="1600" dirty="0"/>
              <a:t> logic </a:t>
            </a:r>
            <a:r>
              <a:rPr lang="en-US" sz="1600" dirty="0" err="1"/>
              <a:t>cập</a:t>
            </a:r>
            <a:r>
              <a:rPr lang="en-US" sz="1600" dirty="0"/>
              <a:t> </a:t>
            </a:r>
            <a:r>
              <a:rPr lang="en-US" sz="1600" dirty="0" err="1"/>
              <a:t>nhật</a:t>
            </a:r>
            <a:r>
              <a:rPr lang="en-US" sz="1600" dirty="0"/>
              <a:t> state ở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nơi</a:t>
            </a:r>
            <a:r>
              <a:rPr lang="en-US" sz="1600" dirty="0"/>
              <a:t>, </a:t>
            </a:r>
            <a:r>
              <a:rPr lang="en-US" sz="1600" dirty="0" err="1"/>
              <a:t>dễ</a:t>
            </a:r>
            <a:r>
              <a:rPr lang="en-US" sz="1600" dirty="0"/>
              <a:t> </a:t>
            </a:r>
            <a:r>
              <a:rPr lang="en-US" sz="1600" dirty="0" err="1"/>
              <a:t>mở</a:t>
            </a:r>
            <a:r>
              <a:rPr lang="en-US" sz="1600" dirty="0"/>
              <a:t> </a:t>
            </a:r>
            <a:r>
              <a:rPr lang="en-US" sz="1600" dirty="0" err="1"/>
              <a:t>rộng</a:t>
            </a:r>
            <a:r>
              <a:rPr lang="en-US" sz="1600" dirty="0"/>
              <a:t> </a:t>
            </a:r>
            <a:r>
              <a:rPr lang="en-US" sz="1600" dirty="0" err="1"/>
              <a:t>khi</a:t>
            </a:r>
            <a:r>
              <a:rPr lang="en-US" sz="1600" dirty="0"/>
              <a:t> </a:t>
            </a:r>
            <a:r>
              <a:rPr lang="en-US" sz="1600" dirty="0" err="1"/>
              <a:t>thêm</a:t>
            </a:r>
            <a:r>
              <a:rPr lang="en-US" sz="1600" dirty="0"/>
              <a:t> action </a:t>
            </a:r>
            <a:r>
              <a:rPr lang="en-US" sz="1600" dirty="0" err="1"/>
              <a:t>mới</a:t>
            </a:r>
            <a:r>
              <a:rPr lang="en-US" sz="1600" dirty="0"/>
              <a:t>.</a:t>
            </a:r>
          </a:p>
          <a:p>
            <a:pPr marL="342900" indent="-342900" algn="just">
              <a:buAutoNum type="arabicPeriod"/>
            </a:pPr>
            <a:endParaRPr lang="en-US" sz="1600" dirty="0"/>
          </a:p>
          <a:p>
            <a:pPr algn="just"/>
            <a:r>
              <a:rPr lang="en-US" sz="1600" dirty="0"/>
              <a:t>2.  Khi state </a:t>
            </a:r>
            <a:r>
              <a:rPr lang="en-US" sz="1600" dirty="0" err="1"/>
              <a:t>phức</a:t>
            </a:r>
            <a:r>
              <a:rPr lang="en-US" sz="1600" dirty="0"/>
              <a:t> </a:t>
            </a:r>
            <a:r>
              <a:rPr lang="en-US" sz="1600" dirty="0" err="1"/>
              <a:t>tạp</a:t>
            </a:r>
            <a:r>
              <a:rPr lang="en-US" sz="1600" dirty="0"/>
              <a:t> (nested object, list), </a:t>
            </a:r>
            <a:r>
              <a:rPr lang="en-US" sz="1600" dirty="0" err="1"/>
              <a:t>hỗ</a:t>
            </a:r>
            <a:r>
              <a:rPr lang="en-US" sz="1600" dirty="0"/>
              <a:t> </a:t>
            </a:r>
            <a:r>
              <a:rPr lang="en-US" sz="1600" dirty="0" err="1"/>
              <a:t>trợ</a:t>
            </a:r>
            <a:r>
              <a:rPr lang="en-US" sz="1600" dirty="0"/>
              <a:t> </a:t>
            </a:r>
            <a:r>
              <a:rPr lang="en-US" sz="1600" dirty="0" err="1"/>
              <a:t>các</a:t>
            </a:r>
            <a:r>
              <a:rPr lang="en-US" sz="1600" dirty="0"/>
              <a:t> </a:t>
            </a:r>
            <a:r>
              <a:rPr lang="en-US" sz="1600" dirty="0" err="1"/>
              <a:t>phương</a:t>
            </a:r>
            <a:r>
              <a:rPr lang="en-US" sz="1600" dirty="0"/>
              <a:t> </a:t>
            </a:r>
            <a:r>
              <a:rPr lang="en-US" sz="1600" dirty="0" err="1"/>
              <a:t>pháp</a:t>
            </a:r>
            <a:r>
              <a:rPr lang="en-US" sz="1600" dirty="0"/>
              <a:t> </a:t>
            </a:r>
            <a:r>
              <a:rPr lang="en-US" sz="1600" dirty="0" err="1"/>
              <a:t>như</a:t>
            </a:r>
            <a:r>
              <a:rPr lang="en-US" sz="1600" dirty="0"/>
              <a:t>: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dirty="0" err="1"/>
              <a:t>copyWith</a:t>
            </a:r>
            <a:r>
              <a:rPr lang="en-US" sz="1600" dirty="0"/>
              <a:t> </a:t>
            </a:r>
            <a:r>
              <a:rPr lang="en-US" sz="1600" dirty="0" err="1"/>
              <a:t>để</a:t>
            </a:r>
            <a:r>
              <a:rPr lang="en-US" sz="1600" dirty="0"/>
              <a:t> </a:t>
            </a:r>
            <a:r>
              <a:rPr lang="en-US" sz="1600" dirty="0" err="1"/>
              <a:t>tạo</a:t>
            </a:r>
            <a:r>
              <a:rPr lang="en-US" sz="1600" dirty="0"/>
              <a:t> </a:t>
            </a:r>
            <a:r>
              <a:rPr lang="en-US" sz="1600" dirty="0" err="1"/>
              <a:t>bản</a:t>
            </a:r>
            <a:r>
              <a:rPr lang="en-US" sz="1600" dirty="0"/>
              <a:t> </a:t>
            </a:r>
            <a:r>
              <a:rPr lang="en-US" sz="1600" dirty="0" err="1"/>
              <a:t>sao</a:t>
            </a:r>
            <a:r>
              <a:rPr lang="en-US" sz="1600" dirty="0"/>
              <a:t> state </a:t>
            </a:r>
            <a:r>
              <a:rPr lang="en-US" sz="1600" dirty="0" err="1"/>
              <a:t>với</a:t>
            </a:r>
            <a:r>
              <a:rPr lang="en-US" sz="1600" dirty="0"/>
              <a:t> </a:t>
            </a:r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số</a:t>
            </a:r>
            <a:r>
              <a:rPr lang="en-US" sz="1600" dirty="0"/>
              <a:t> </a:t>
            </a:r>
            <a:r>
              <a:rPr lang="en-US" sz="1600" dirty="0" err="1"/>
              <a:t>thay</a:t>
            </a:r>
            <a:r>
              <a:rPr lang="en-US" sz="1600" dirty="0"/>
              <a:t> </a:t>
            </a:r>
            <a:r>
              <a:rPr lang="en-US" sz="1600" dirty="0" err="1"/>
              <a:t>đổi</a:t>
            </a:r>
            <a:r>
              <a:rPr lang="en-US" sz="1600" dirty="0"/>
              <a:t>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Spread operator [...] </a:t>
            </a:r>
            <a:r>
              <a:rPr lang="en-US" sz="1600" dirty="0" err="1"/>
              <a:t>để</a:t>
            </a:r>
            <a:r>
              <a:rPr lang="en-US" sz="1600" dirty="0"/>
              <a:t> copy list </a:t>
            </a:r>
            <a:r>
              <a:rPr lang="en-US" sz="1600" dirty="0" err="1"/>
              <a:t>mà</a:t>
            </a:r>
            <a:r>
              <a:rPr lang="en-US" sz="1600" dirty="0"/>
              <a:t>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thay</a:t>
            </a:r>
            <a:r>
              <a:rPr lang="en-US" sz="1600" dirty="0"/>
              <a:t> </a:t>
            </a:r>
            <a:r>
              <a:rPr lang="en-US" sz="1600" dirty="0" err="1"/>
              <a:t>đổi</a:t>
            </a:r>
            <a:r>
              <a:rPr lang="en-US" sz="1600" dirty="0"/>
              <a:t> </a:t>
            </a:r>
            <a:r>
              <a:rPr lang="en-US" sz="1600" dirty="0" err="1"/>
              <a:t>gốc</a:t>
            </a:r>
            <a:r>
              <a:rPr lang="en-US" sz="1600" dirty="0"/>
              <a:t>.</a:t>
            </a:r>
          </a:p>
          <a:p>
            <a:pPr lvl="0" algn="just"/>
            <a:endParaRPr lang="en-US" sz="1600" dirty="0"/>
          </a:p>
          <a:p>
            <a:pPr algn="just"/>
            <a:r>
              <a:rPr lang="en-US" sz="1600" dirty="0"/>
              <a:t>3. </a:t>
            </a:r>
            <a:r>
              <a:rPr lang="en-US" sz="1600" dirty="0" err="1"/>
              <a:t>Tách</a:t>
            </a:r>
            <a:r>
              <a:rPr lang="en-US" sz="1600" dirty="0"/>
              <a:t> reducer </a:t>
            </a:r>
            <a:r>
              <a:rPr lang="en-US" sz="1600" dirty="0" err="1"/>
              <a:t>cho</a:t>
            </a:r>
            <a:r>
              <a:rPr lang="en-US" sz="1600" dirty="0"/>
              <a:t> </a:t>
            </a:r>
            <a:r>
              <a:rPr lang="en-US" sz="1600" dirty="0" err="1"/>
              <a:t>từng</a:t>
            </a:r>
            <a:r>
              <a:rPr lang="en-US" sz="1600" dirty="0"/>
              <a:t> </a:t>
            </a:r>
            <a:r>
              <a:rPr lang="en-US" sz="1600" dirty="0" err="1"/>
              <a:t>phần</a:t>
            </a:r>
            <a:r>
              <a:rPr lang="en-US" sz="1600" dirty="0"/>
              <a:t> state (optional), </a:t>
            </a:r>
            <a:r>
              <a:rPr lang="en-US" sz="1600" dirty="0" err="1"/>
              <a:t>giúp</a:t>
            </a:r>
            <a:r>
              <a:rPr lang="en-US" sz="1600" dirty="0"/>
              <a:t> code </a:t>
            </a:r>
            <a:r>
              <a:rPr lang="en-US" sz="1600" dirty="0" err="1"/>
              <a:t>dễ</a:t>
            </a:r>
            <a:r>
              <a:rPr lang="en-US" sz="1600" dirty="0"/>
              <a:t> </a:t>
            </a:r>
            <a:r>
              <a:rPr lang="en-US" sz="1600" dirty="0" err="1"/>
              <a:t>đọc</a:t>
            </a:r>
            <a:r>
              <a:rPr lang="en-US" sz="1600" dirty="0"/>
              <a:t>, </a:t>
            </a:r>
            <a:r>
              <a:rPr lang="en-US" sz="1600" dirty="0" err="1"/>
              <a:t>dễ</a:t>
            </a:r>
            <a:r>
              <a:rPr lang="en-US" sz="1600" dirty="0"/>
              <a:t> test, </a:t>
            </a:r>
            <a:r>
              <a:rPr lang="en-US" sz="1600" dirty="0" err="1"/>
              <a:t>tránh</a:t>
            </a:r>
            <a:r>
              <a:rPr lang="en-US" sz="1600" dirty="0"/>
              <a:t> reducer </a:t>
            </a:r>
            <a:r>
              <a:rPr lang="en-US" sz="1600" dirty="0" err="1"/>
              <a:t>quá</a:t>
            </a:r>
            <a:r>
              <a:rPr lang="en-US" sz="1600" dirty="0"/>
              <a:t> </a:t>
            </a:r>
            <a:r>
              <a:rPr lang="en-US" sz="1600" dirty="0" err="1"/>
              <a:t>dài</a:t>
            </a:r>
            <a:r>
              <a:rPr lang="en-US" sz="1600" dirty="0"/>
              <a:t>.</a:t>
            </a:r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4. Reducer </a:t>
            </a:r>
            <a:r>
              <a:rPr lang="en-US" sz="1600" dirty="0" err="1"/>
              <a:t>có</a:t>
            </a:r>
            <a:r>
              <a:rPr lang="en-US" sz="1600" dirty="0"/>
              <a:t> </a:t>
            </a:r>
            <a:r>
              <a:rPr lang="en-US" sz="1600" dirty="0" err="1"/>
              <a:t>thể</a:t>
            </a:r>
            <a:r>
              <a:rPr lang="en-US" sz="1600" dirty="0"/>
              <a:t> </a:t>
            </a:r>
            <a:r>
              <a:rPr lang="en-US" sz="1600" dirty="0" err="1"/>
              <a:t>dự</a:t>
            </a:r>
            <a:r>
              <a:rPr lang="en-US" sz="1600" dirty="0"/>
              <a:t> </a:t>
            </a:r>
            <a:r>
              <a:rPr lang="en-US" sz="1600" dirty="0" err="1"/>
              <a:t>đoán</a:t>
            </a:r>
            <a:r>
              <a:rPr lang="en-US" sz="1600" dirty="0"/>
              <a:t> </a:t>
            </a:r>
            <a:r>
              <a:rPr lang="en-US" sz="1600" dirty="0" err="1"/>
              <a:t>như</a:t>
            </a:r>
            <a:r>
              <a:rPr lang="en-US" sz="1600" dirty="0"/>
              <a:t> </a:t>
            </a:r>
            <a:r>
              <a:rPr lang="en-US" sz="1600" dirty="0" err="1"/>
              <a:t>cùng</a:t>
            </a:r>
            <a:r>
              <a:rPr lang="en-US" sz="1600" dirty="0"/>
              <a:t> state + </a:t>
            </a:r>
            <a:r>
              <a:rPr lang="en-US" sz="1600" dirty="0" err="1"/>
              <a:t>cùng</a:t>
            </a:r>
            <a:r>
              <a:rPr lang="en-US" sz="1600" dirty="0"/>
              <a:t> action </a:t>
            </a:r>
            <a:r>
              <a:rPr lang="en-US" sz="1600" dirty="0" err="1"/>
              <a:t>sẽ</a:t>
            </a:r>
            <a:r>
              <a:rPr lang="en-US" sz="1600" dirty="0"/>
              <a:t> </a:t>
            </a:r>
            <a:r>
              <a:rPr lang="en-US" sz="1600" dirty="0" err="1"/>
              <a:t>cho</a:t>
            </a:r>
            <a:r>
              <a:rPr lang="en-US" sz="1600" dirty="0"/>
              <a:t> </a:t>
            </a:r>
            <a:r>
              <a:rPr lang="en-US" sz="1600" dirty="0" err="1"/>
              <a:t>cùng</a:t>
            </a:r>
            <a:r>
              <a:rPr lang="en-US" sz="1600" dirty="0"/>
              <a:t> </a:t>
            </a:r>
            <a:r>
              <a:rPr lang="en-US" sz="1600" dirty="0" err="1"/>
              <a:t>kết</a:t>
            </a:r>
            <a:r>
              <a:rPr lang="en-US" sz="1600" dirty="0"/>
              <a:t> </a:t>
            </a:r>
            <a:r>
              <a:rPr lang="en-US" sz="1600" dirty="0" err="1"/>
              <a:t>quả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13669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D40835A5-48E1-93E4-8F2A-B776255FF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B89888-CE60-460D-55C5-2F0A9282B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1202AE4-ECD3-3112-65B3-A7CC0852FA51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 err="1">
                <a:solidFill>
                  <a:srgbClr val="2073BE"/>
                </a:solidFill>
              </a:rPr>
              <a:t>StoreConnector</a:t>
            </a:r>
            <a:r>
              <a:rPr lang="en-GB" sz="2400" b="1" dirty="0">
                <a:solidFill>
                  <a:srgbClr val="2073BE"/>
                </a:solidFill>
              </a:rPr>
              <a:t> </a:t>
            </a:r>
            <a:r>
              <a:rPr lang="en-GB" sz="2400" b="1" dirty="0" err="1">
                <a:solidFill>
                  <a:srgbClr val="2073BE"/>
                </a:solidFill>
              </a:rPr>
              <a:t>và</a:t>
            </a:r>
            <a:r>
              <a:rPr lang="en-GB" sz="2400" b="1" dirty="0">
                <a:solidFill>
                  <a:srgbClr val="2073BE"/>
                </a:solidFill>
              </a:rPr>
              <a:t> </a:t>
            </a:r>
            <a:r>
              <a:rPr lang="en-GB" sz="2400" b="1" dirty="0" err="1">
                <a:solidFill>
                  <a:srgbClr val="2073BE"/>
                </a:solidFill>
              </a:rPr>
              <a:t>StoreBuilder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8B0A28F-AEE3-413D-6284-B8E5AC3DA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82" y="1489554"/>
            <a:ext cx="7921836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/>
              <a:t>Flutter </a:t>
            </a:r>
            <a:r>
              <a:rPr lang="en-GB" sz="1800" dirty="0" err="1"/>
              <a:t>cần</a:t>
            </a:r>
            <a:r>
              <a:rPr lang="en-GB" sz="1800" dirty="0"/>
              <a:t> </a:t>
            </a:r>
            <a:r>
              <a:rPr lang="en-GB" sz="1800" dirty="0" err="1"/>
              <a:t>cách</a:t>
            </a:r>
            <a:r>
              <a:rPr lang="en-GB" sz="1800" dirty="0"/>
              <a:t> </a:t>
            </a:r>
            <a:r>
              <a:rPr lang="en-GB" sz="1800" dirty="0" err="1"/>
              <a:t>đưa</a:t>
            </a:r>
            <a:r>
              <a:rPr lang="en-GB" sz="1800" dirty="0"/>
              <a:t> </a:t>
            </a:r>
            <a:r>
              <a:rPr lang="en-GB" sz="1800" dirty="0" err="1"/>
              <a:t>dữ</a:t>
            </a:r>
            <a:r>
              <a:rPr lang="en-GB" sz="1800" dirty="0"/>
              <a:t> </a:t>
            </a:r>
            <a:r>
              <a:rPr lang="en-GB" sz="1800" dirty="0" err="1"/>
              <a:t>liệu</a:t>
            </a:r>
            <a:r>
              <a:rPr lang="en-GB" sz="1800" dirty="0"/>
              <a:t> </a:t>
            </a:r>
            <a:r>
              <a:rPr lang="en-GB" sz="1800" dirty="0" err="1"/>
              <a:t>trong</a:t>
            </a:r>
            <a:r>
              <a:rPr lang="en-GB" sz="1800" dirty="0"/>
              <a:t> Store </a:t>
            </a:r>
            <a:r>
              <a:rPr lang="en-GB" sz="1800" dirty="0" err="1"/>
              <a:t>ra</a:t>
            </a:r>
            <a:r>
              <a:rPr lang="en-GB" sz="1800" dirty="0"/>
              <a:t> UI </a:t>
            </a:r>
            <a:r>
              <a:rPr lang="en-GB" sz="1800" dirty="0" err="1"/>
              <a:t>và</a:t>
            </a:r>
            <a:r>
              <a:rPr lang="en-GB" sz="1800" dirty="0"/>
              <a:t> </a:t>
            </a:r>
            <a:r>
              <a:rPr lang="en-GB" sz="1800" dirty="0" err="1"/>
              <a:t>gửi</a:t>
            </a:r>
            <a:r>
              <a:rPr lang="en-GB" sz="1800" dirty="0"/>
              <a:t> Action </a:t>
            </a:r>
            <a:r>
              <a:rPr lang="en-GB" sz="1800" dirty="0" err="1"/>
              <a:t>ngược</a:t>
            </a:r>
            <a:r>
              <a:rPr lang="en-GB" sz="1800" dirty="0"/>
              <a:t> </a:t>
            </a:r>
            <a:r>
              <a:rPr lang="en-GB" sz="1800" dirty="0" err="1"/>
              <a:t>lại</a:t>
            </a:r>
            <a:r>
              <a:rPr lang="en-GB" sz="1800" dirty="0"/>
              <a:t> </a:t>
            </a:r>
            <a:r>
              <a:rPr lang="en-GB" sz="1800" dirty="0" err="1"/>
              <a:t>khi</a:t>
            </a:r>
            <a:r>
              <a:rPr lang="en-GB" sz="1800" dirty="0"/>
              <a:t> </a:t>
            </a:r>
            <a:r>
              <a:rPr lang="en-GB" sz="1800" dirty="0" err="1"/>
              <a:t>người</a:t>
            </a:r>
            <a:r>
              <a:rPr lang="en-GB" sz="1800" dirty="0"/>
              <a:t> </a:t>
            </a:r>
            <a:r>
              <a:rPr lang="en-GB" sz="1800" dirty="0" err="1"/>
              <a:t>dùng</a:t>
            </a:r>
            <a:r>
              <a:rPr lang="en-GB" sz="1800" dirty="0"/>
              <a:t> </a:t>
            </a:r>
            <a:r>
              <a:rPr lang="en-GB" sz="1800" dirty="0" err="1"/>
              <a:t>thao</a:t>
            </a:r>
            <a:r>
              <a:rPr lang="en-GB" sz="1800" dirty="0"/>
              <a:t> </a:t>
            </a:r>
            <a:r>
              <a:rPr lang="en-GB" sz="1800" dirty="0" err="1"/>
              <a:t>tác</a:t>
            </a:r>
            <a:r>
              <a:rPr lang="en-GB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 err="1"/>
              <a:t>StoreConnector</a:t>
            </a:r>
            <a:r>
              <a:rPr lang="en-GB" sz="1800" dirty="0"/>
              <a:t> </a:t>
            </a:r>
            <a:r>
              <a:rPr lang="en-GB" sz="1800" dirty="0" err="1"/>
              <a:t>và</a:t>
            </a:r>
            <a:r>
              <a:rPr lang="en-GB" sz="1800" dirty="0"/>
              <a:t> </a:t>
            </a:r>
            <a:r>
              <a:rPr lang="en-GB" sz="1800" dirty="0" err="1"/>
              <a:t>StoreBuilder</a:t>
            </a:r>
            <a:r>
              <a:rPr lang="en-GB" sz="1800" dirty="0"/>
              <a:t> </a:t>
            </a:r>
            <a:r>
              <a:rPr lang="en-GB" sz="1800" dirty="0" err="1"/>
              <a:t>sẽ</a:t>
            </a:r>
            <a:r>
              <a:rPr lang="en-GB" sz="1800" dirty="0"/>
              <a:t> </a:t>
            </a:r>
            <a:r>
              <a:rPr lang="en-GB" sz="1800" dirty="0" err="1"/>
              <a:t>giúp</a:t>
            </a:r>
            <a:r>
              <a:rPr lang="en-GB" sz="1800" dirty="0"/>
              <a:t> </a:t>
            </a:r>
            <a:r>
              <a:rPr lang="en-GB" sz="1800" dirty="0" err="1"/>
              <a:t>làm</a:t>
            </a:r>
            <a:r>
              <a:rPr lang="en-GB" sz="1800" dirty="0"/>
              <a:t> </a:t>
            </a:r>
            <a:r>
              <a:rPr lang="en-GB" sz="1800" dirty="0" err="1"/>
              <a:t>nhiệm</a:t>
            </a:r>
            <a:r>
              <a:rPr lang="en-GB" sz="1800" dirty="0"/>
              <a:t> </a:t>
            </a:r>
            <a:r>
              <a:rPr lang="en-GB" sz="1800" dirty="0" err="1"/>
              <a:t>vụ</a:t>
            </a:r>
            <a:r>
              <a:rPr lang="en-GB" sz="1800" dirty="0"/>
              <a:t> </a:t>
            </a:r>
            <a:r>
              <a:rPr lang="en-GB" sz="1800" dirty="0" err="1"/>
              <a:t>đó</a:t>
            </a:r>
            <a:r>
              <a:rPr lang="en-GB" sz="18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GB" sz="1800" dirty="0" err="1"/>
              <a:t>StoreConnector</a:t>
            </a:r>
            <a:r>
              <a:rPr lang="en-GB" sz="1800" dirty="0"/>
              <a:t> - widget </a:t>
            </a:r>
            <a:r>
              <a:rPr lang="en-GB" sz="1800" dirty="0" err="1"/>
              <a:t>chính</a:t>
            </a:r>
            <a:r>
              <a:rPr lang="en-GB" sz="1800" dirty="0"/>
              <a:t> </a:t>
            </a:r>
            <a:r>
              <a:rPr lang="en-GB" sz="1800" dirty="0" err="1"/>
              <a:t>được</a:t>
            </a:r>
            <a:r>
              <a:rPr lang="en-GB" sz="1800" dirty="0"/>
              <a:t> </a:t>
            </a:r>
            <a:r>
              <a:rPr lang="en-GB" sz="1800" dirty="0" err="1"/>
              <a:t>dùng</a:t>
            </a:r>
            <a:r>
              <a:rPr lang="en-GB" sz="1800" dirty="0"/>
              <a:t> </a:t>
            </a:r>
            <a:r>
              <a:rPr lang="en-GB" sz="1800" dirty="0" err="1"/>
              <a:t>rất</a:t>
            </a:r>
            <a:r>
              <a:rPr lang="en-GB" sz="1800" dirty="0"/>
              <a:t> </a:t>
            </a:r>
            <a:r>
              <a:rPr lang="en-GB" sz="1800" dirty="0" err="1"/>
              <a:t>nhiều</a:t>
            </a:r>
            <a:r>
              <a:rPr lang="en-GB" sz="1800" dirty="0"/>
              <a:t> </a:t>
            </a:r>
            <a:r>
              <a:rPr lang="en-GB" sz="1800" dirty="0" err="1"/>
              <a:t>trong</a:t>
            </a:r>
            <a:r>
              <a:rPr lang="en-GB" sz="1800" dirty="0"/>
              <a:t> </a:t>
            </a:r>
            <a:r>
              <a:rPr lang="en-GB" sz="1800" dirty="0" err="1"/>
              <a:t>flutter_redux</a:t>
            </a:r>
            <a:r>
              <a:rPr lang="en-GB" sz="1800" dirty="0"/>
              <a:t>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800" dirty="0" err="1"/>
              <a:t>StoreBuilder</a:t>
            </a:r>
            <a:r>
              <a:rPr lang="en-GB" sz="1800" dirty="0"/>
              <a:t> - </a:t>
            </a:r>
            <a:r>
              <a:rPr lang="en-GB" sz="1800" dirty="0" err="1"/>
              <a:t>Đơn</a:t>
            </a:r>
            <a:r>
              <a:rPr lang="en-GB" sz="1800" dirty="0"/>
              <a:t> </a:t>
            </a:r>
            <a:r>
              <a:rPr lang="en-GB" sz="1800" dirty="0" err="1"/>
              <a:t>giản</a:t>
            </a:r>
            <a:r>
              <a:rPr lang="en-GB" sz="1800" dirty="0"/>
              <a:t>, </a:t>
            </a:r>
            <a:r>
              <a:rPr lang="en-GB" sz="1800" dirty="0" err="1"/>
              <a:t>phù</a:t>
            </a:r>
            <a:r>
              <a:rPr lang="en-GB" sz="1800" dirty="0"/>
              <a:t> </a:t>
            </a:r>
            <a:r>
              <a:rPr lang="en-GB" sz="1800" dirty="0" err="1"/>
              <a:t>hợp</a:t>
            </a:r>
            <a:r>
              <a:rPr lang="en-GB" sz="1800" dirty="0"/>
              <a:t> </a:t>
            </a:r>
            <a:r>
              <a:rPr lang="en-GB" sz="1800" dirty="0" err="1"/>
              <a:t>cho</a:t>
            </a:r>
            <a:r>
              <a:rPr lang="en-GB" sz="1800" dirty="0"/>
              <a:t> </a:t>
            </a:r>
            <a:r>
              <a:rPr lang="en-GB" sz="1800" dirty="0" err="1"/>
              <a:t>trường</a:t>
            </a:r>
            <a:r>
              <a:rPr lang="en-GB" sz="1800" dirty="0"/>
              <a:t> </a:t>
            </a:r>
            <a:r>
              <a:rPr lang="en-GB" sz="1800" dirty="0" err="1"/>
              <a:t>hợp</a:t>
            </a:r>
            <a:r>
              <a:rPr lang="en-GB" sz="1800" dirty="0"/>
              <a:t> </a:t>
            </a:r>
            <a:r>
              <a:rPr lang="en-GB" sz="1800" dirty="0" err="1"/>
              <a:t>cơ</a:t>
            </a:r>
            <a:r>
              <a:rPr lang="en-GB" sz="1800" dirty="0"/>
              <a:t> </a:t>
            </a:r>
            <a:r>
              <a:rPr lang="en-GB" sz="1800" dirty="0" err="1"/>
              <a:t>bản</a:t>
            </a:r>
            <a:r>
              <a:rPr lang="en-GB" sz="1800" dirty="0"/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11965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3D229D78-D9F0-0BD6-75C6-3A8B15F53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246C3A-B8A4-AC9D-CC53-E20352467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E0653B0-9119-F9D1-BFA5-F81089D222C7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 err="1">
                <a:solidFill>
                  <a:srgbClr val="2073BE"/>
                </a:solidFill>
              </a:rPr>
              <a:t>StoreConnector</a:t>
            </a:r>
            <a:r>
              <a:rPr lang="en-GB" sz="2400" b="1" dirty="0">
                <a:solidFill>
                  <a:srgbClr val="2073BE"/>
                </a:solidFill>
              </a:rPr>
              <a:t> </a:t>
            </a:r>
            <a:r>
              <a:rPr lang="en-GB" sz="2400" b="1" dirty="0" err="1">
                <a:solidFill>
                  <a:srgbClr val="2073BE"/>
                </a:solidFill>
              </a:rPr>
              <a:t>và</a:t>
            </a:r>
            <a:r>
              <a:rPr lang="en-GB" sz="2400" b="1" dirty="0">
                <a:solidFill>
                  <a:srgbClr val="2073BE"/>
                </a:solidFill>
              </a:rPr>
              <a:t> </a:t>
            </a:r>
            <a:r>
              <a:rPr lang="en-GB" sz="2400" b="1" dirty="0" err="1">
                <a:solidFill>
                  <a:srgbClr val="2073BE"/>
                </a:solidFill>
              </a:rPr>
              <a:t>StoreBuilder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71484E-32A1-A021-DB18-DBB451A95591}"/>
              </a:ext>
            </a:extLst>
          </p:cNvPr>
          <p:cNvSpPr txBox="1"/>
          <p:nvPr/>
        </p:nvSpPr>
        <p:spPr>
          <a:xfrm>
            <a:off x="231299" y="650157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chemeClr val="tx1"/>
                </a:solidFill>
              </a:rPr>
              <a:t>StoreConnector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5C514EE-5A41-C010-EA33-69DE812A2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36" y="1239196"/>
            <a:ext cx="589709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dirty="0" err="1"/>
              <a:t>Hoạt</a:t>
            </a:r>
            <a:r>
              <a:rPr lang="en-GB" dirty="0"/>
              <a:t> </a:t>
            </a:r>
            <a:r>
              <a:rPr lang="en-GB" dirty="0" err="1"/>
              <a:t>động</a:t>
            </a:r>
            <a:r>
              <a:rPr lang="en-GB" dirty="0"/>
              <a:t> </a:t>
            </a:r>
            <a:r>
              <a:rPr lang="en-GB" dirty="0" err="1"/>
              <a:t>như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Widget </a:t>
            </a:r>
            <a:r>
              <a:rPr lang="en-GB" dirty="0" err="1"/>
              <a:t>trung</a:t>
            </a:r>
            <a:r>
              <a:rPr lang="en-GB" dirty="0"/>
              <a:t> </a:t>
            </a:r>
            <a:r>
              <a:rPr lang="en-GB" dirty="0" err="1"/>
              <a:t>gian</a:t>
            </a:r>
            <a:r>
              <a:rPr lang="en-GB" dirty="0"/>
              <a:t>, </a:t>
            </a:r>
            <a:r>
              <a:rPr lang="en-GB" dirty="0" err="1"/>
              <a:t>lắng</a:t>
            </a:r>
            <a:r>
              <a:rPr lang="en-GB" dirty="0"/>
              <a:t> </a:t>
            </a:r>
            <a:r>
              <a:rPr lang="en-GB" dirty="0" err="1"/>
              <a:t>nghe</a:t>
            </a:r>
            <a:r>
              <a:rPr lang="en-GB" dirty="0"/>
              <a:t> </a:t>
            </a:r>
            <a:r>
              <a:rPr lang="en-GB" dirty="0" err="1"/>
              <a:t>thay</a:t>
            </a:r>
            <a:r>
              <a:rPr lang="en-GB" dirty="0"/>
              <a:t> </a:t>
            </a:r>
            <a:r>
              <a:rPr lang="en-GB" dirty="0" err="1"/>
              <a:t>đổi</a:t>
            </a:r>
            <a:r>
              <a:rPr lang="en-GB" dirty="0"/>
              <a:t> </a:t>
            </a:r>
            <a:r>
              <a:rPr lang="en-GB" dirty="0" err="1"/>
              <a:t>từ</a:t>
            </a:r>
            <a:r>
              <a:rPr lang="en-GB" dirty="0"/>
              <a:t> Store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tự</a:t>
            </a:r>
            <a:r>
              <a:rPr lang="en-GB" dirty="0"/>
              <a:t> </a:t>
            </a:r>
            <a:r>
              <a:rPr lang="en-GB" dirty="0" err="1"/>
              <a:t>động</a:t>
            </a:r>
            <a:r>
              <a:rPr lang="en-GB" dirty="0"/>
              <a:t> build </a:t>
            </a:r>
            <a:r>
              <a:rPr lang="en-GB" dirty="0" err="1"/>
              <a:t>lại</a:t>
            </a:r>
            <a:r>
              <a:rPr lang="en-GB" dirty="0"/>
              <a:t> UI </a:t>
            </a:r>
            <a:r>
              <a:rPr lang="en-GB" dirty="0" err="1"/>
              <a:t>khi</a:t>
            </a:r>
            <a:r>
              <a:rPr lang="en-GB" dirty="0"/>
              <a:t> state </a:t>
            </a:r>
            <a:r>
              <a:rPr lang="en-GB" dirty="0" err="1"/>
              <a:t>thay</a:t>
            </a:r>
            <a:r>
              <a:rPr lang="en-GB" dirty="0"/>
              <a:t> </a:t>
            </a:r>
            <a:r>
              <a:rPr lang="en-GB" dirty="0" err="1"/>
              <a:t>đổi</a:t>
            </a:r>
            <a:r>
              <a:rPr lang="en-GB" dirty="0"/>
              <a:t>.</a:t>
            </a:r>
          </a:p>
          <a:p>
            <a:endParaRPr lang="en-US" dirty="0"/>
          </a:p>
          <a:p>
            <a:r>
              <a:rPr lang="en-GB" u="sng" dirty="0" err="1"/>
              <a:t>Cấu</a:t>
            </a:r>
            <a:r>
              <a:rPr lang="en-GB" u="sng" dirty="0"/>
              <a:t> </a:t>
            </a:r>
            <a:r>
              <a:rPr lang="en-GB" u="sng" dirty="0" err="1"/>
              <a:t>trúc</a:t>
            </a:r>
            <a:r>
              <a:rPr lang="en-GB" u="sng" dirty="0"/>
              <a:t> </a:t>
            </a:r>
            <a:r>
              <a:rPr lang="en-GB" u="sng" dirty="0" err="1"/>
              <a:t>đơn</a:t>
            </a:r>
            <a:r>
              <a:rPr lang="en-GB" u="sng" dirty="0"/>
              <a:t> </a:t>
            </a:r>
            <a:r>
              <a:rPr lang="en-GB" u="sng" dirty="0" err="1"/>
              <a:t>giản</a:t>
            </a:r>
            <a:r>
              <a:rPr lang="en-GB" u="sng" dirty="0"/>
              <a:t>:</a:t>
            </a:r>
            <a:endParaRPr lang="en-US" dirty="0"/>
          </a:p>
        </p:txBody>
      </p:sp>
      <p:pic>
        <p:nvPicPr>
          <p:cNvPr id="3" name="Picture 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E8C440F-7E6C-FE4E-0C92-6A5C18D12E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4879" y="2193303"/>
            <a:ext cx="5014242" cy="2742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98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1E3ACF17-3C08-5DB8-565E-B0973E927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A34B0E-3633-7134-4FD4-5BA49F772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3BC4C24-873C-8C53-A139-1C83BB9F4820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 err="1">
                <a:solidFill>
                  <a:srgbClr val="2073BE"/>
                </a:solidFill>
              </a:rPr>
              <a:t>StoreConnector</a:t>
            </a:r>
            <a:r>
              <a:rPr lang="en-GB" sz="2400" b="1" dirty="0">
                <a:solidFill>
                  <a:srgbClr val="2073BE"/>
                </a:solidFill>
              </a:rPr>
              <a:t> </a:t>
            </a:r>
            <a:r>
              <a:rPr lang="en-GB" sz="2400" b="1" dirty="0" err="1">
                <a:solidFill>
                  <a:srgbClr val="2073BE"/>
                </a:solidFill>
              </a:rPr>
              <a:t>và</a:t>
            </a:r>
            <a:r>
              <a:rPr lang="en-GB" sz="2400" b="1" dirty="0">
                <a:solidFill>
                  <a:srgbClr val="2073BE"/>
                </a:solidFill>
              </a:rPr>
              <a:t> </a:t>
            </a:r>
            <a:r>
              <a:rPr lang="en-GB" sz="2400" b="1" dirty="0" err="1">
                <a:solidFill>
                  <a:srgbClr val="2073BE"/>
                </a:solidFill>
              </a:rPr>
              <a:t>StoreBuilder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3EF41-1A3F-275F-1D09-38332505EDF6}"/>
              </a:ext>
            </a:extLst>
          </p:cNvPr>
          <p:cNvSpPr txBox="1"/>
          <p:nvPr/>
        </p:nvSpPr>
        <p:spPr>
          <a:xfrm>
            <a:off x="231299" y="650157"/>
            <a:ext cx="2217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chemeClr val="tx1"/>
                </a:solidFill>
              </a:rPr>
              <a:t>StoreConnector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0C4FF19-EC10-48E4-27C5-6701732CA6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36" y="1239196"/>
            <a:ext cx="589709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dirty="0" err="1"/>
              <a:t>Hoạt</a:t>
            </a:r>
            <a:r>
              <a:rPr lang="en-GB" dirty="0"/>
              <a:t> </a:t>
            </a:r>
            <a:r>
              <a:rPr lang="en-GB" dirty="0" err="1"/>
              <a:t>động</a:t>
            </a:r>
            <a:r>
              <a:rPr lang="en-GB" dirty="0"/>
              <a:t> </a:t>
            </a:r>
            <a:r>
              <a:rPr lang="en-GB" dirty="0" err="1"/>
              <a:t>như</a:t>
            </a:r>
            <a:r>
              <a:rPr lang="en-GB" dirty="0"/>
              <a:t> </a:t>
            </a:r>
            <a:r>
              <a:rPr lang="en-GB" dirty="0" err="1"/>
              <a:t>một</a:t>
            </a:r>
            <a:r>
              <a:rPr lang="en-GB" dirty="0"/>
              <a:t> Widget </a:t>
            </a:r>
            <a:r>
              <a:rPr lang="en-GB" dirty="0" err="1"/>
              <a:t>trung</a:t>
            </a:r>
            <a:r>
              <a:rPr lang="en-GB" dirty="0"/>
              <a:t> </a:t>
            </a:r>
            <a:r>
              <a:rPr lang="en-GB" dirty="0" err="1"/>
              <a:t>gian</a:t>
            </a:r>
            <a:r>
              <a:rPr lang="en-GB" dirty="0"/>
              <a:t>, </a:t>
            </a:r>
            <a:r>
              <a:rPr lang="en-GB" dirty="0" err="1"/>
              <a:t>lắng</a:t>
            </a:r>
            <a:r>
              <a:rPr lang="en-GB" dirty="0"/>
              <a:t> </a:t>
            </a:r>
            <a:r>
              <a:rPr lang="en-GB" dirty="0" err="1"/>
              <a:t>nghe</a:t>
            </a:r>
            <a:r>
              <a:rPr lang="en-GB" dirty="0"/>
              <a:t> </a:t>
            </a:r>
            <a:r>
              <a:rPr lang="en-GB" dirty="0" err="1"/>
              <a:t>thay</a:t>
            </a:r>
            <a:r>
              <a:rPr lang="en-GB" dirty="0"/>
              <a:t> </a:t>
            </a:r>
            <a:r>
              <a:rPr lang="en-GB" dirty="0" err="1"/>
              <a:t>đổi</a:t>
            </a:r>
            <a:r>
              <a:rPr lang="en-GB" dirty="0"/>
              <a:t> </a:t>
            </a:r>
            <a:r>
              <a:rPr lang="en-GB" dirty="0" err="1"/>
              <a:t>từ</a:t>
            </a:r>
            <a:r>
              <a:rPr lang="en-GB" dirty="0"/>
              <a:t> Store </a:t>
            </a:r>
            <a:r>
              <a:rPr lang="en-GB" dirty="0" err="1"/>
              <a:t>và</a:t>
            </a:r>
            <a:r>
              <a:rPr lang="en-GB" dirty="0"/>
              <a:t> </a:t>
            </a:r>
            <a:r>
              <a:rPr lang="en-GB" dirty="0" err="1"/>
              <a:t>tự</a:t>
            </a:r>
            <a:r>
              <a:rPr lang="en-GB" dirty="0"/>
              <a:t> </a:t>
            </a:r>
            <a:r>
              <a:rPr lang="en-GB" dirty="0" err="1"/>
              <a:t>động</a:t>
            </a:r>
            <a:r>
              <a:rPr lang="en-GB" dirty="0"/>
              <a:t> build </a:t>
            </a:r>
            <a:r>
              <a:rPr lang="en-GB" dirty="0" err="1"/>
              <a:t>lại</a:t>
            </a:r>
            <a:r>
              <a:rPr lang="en-GB" dirty="0"/>
              <a:t> UI </a:t>
            </a:r>
            <a:r>
              <a:rPr lang="en-GB" dirty="0" err="1"/>
              <a:t>khi</a:t>
            </a:r>
            <a:r>
              <a:rPr lang="en-GB" dirty="0"/>
              <a:t> state </a:t>
            </a:r>
            <a:r>
              <a:rPr lang="en-GB" dirty="0" err="1"/>
              <a:t>thay</a:t>
            </a:r>
            <a:r>
              <a:rPr lang="en-GB" dirty="0"/>
              <a:t> </a:t>
            </a:r>
            <a:r>
              <a:rPr lang="en-GB" dirty="0" err="1"/>
              <a:t>đổi</a:t>
            </a:r>
            <a:r>
              <a:rPr lang="en-GB" dirty="0"/>
              <a:t>.</a:t>
            </a:r>
          </a:p>
          <a:p>
            <a:endParaRPr lang="en-US" dirty="0"/>
          </a:p>
          <a:p>
            <a:r>
              <a:rPr lang="en-GB" u="sng" dirty="0" err="1"/>
              <a:t>Cấu</a:t>
            </a:r>
            <a:r>
              <a:rPr lang="en-GB" u="sng" dirty="0"/>
              <a:t> </a:t>
            </a:r>
            <a:r>
              <a:rPr lang="en-GB" u="sng" dirty="0" err="1"/>
              <a:t>trúc</a:t>
            </a:r>
            <a:r>
              <a:rPr lang="en-GB" u="sng" dirty="0"/>
              <a:t> </a:t>
            </a:r>
            <a:r>
              <a:rPr lang="en-GB" u="sng" dirty="0" err="1"/>
              <a:t>tổ</a:t>
            </a:r>
            <a:r>
              <a:rPr lang="en-GB" u="sng" dirty="0"/>
              <a:t> </a:t>
            </a:r>
            <a:r>
              <a:rPr lang="en-GB" u="sng" dirty="0" err="1"/>
              <a:t>chức</a:t>
            </a:r>
            <a:r>
              <a:rPr lang="en-GB" u="sng" dirty="0"/>
              <a:t> </a:t>
            </a:r>
            <a:r>
              <a:rPr lang="en-GB" u="sng" dirty="0" err="1"/>
              <a:t>tốt</a:t>
            </a:r>
            <a:r>
              <a:rPr lang="en-GB" u="sng" dirty="0"/>
              <a:t> </a:t>
            </a:r>
            <a:r>
              <a:rPr lang="en-GB" u="sng" dirty="0" err="1"/>
              <a:t>hơn</a:t>
            </a:r>
            <a:r>
              <a:rPr lang="en-GB" u="sng" dirty="0"/>
              <a:t>:</a:t>
            </a:r>
            <a:endParaRPr lang="en-US" dirty="0"/>
          </a:p>
        </p:txBody>
      </p:sp>
      <p:pic>
        <p:nvPicPr>
          <p:cNvPr id="6" name="Picture 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1134EE79-BC07-DACB-D5AD-B23ADA6B7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4713" y="2262787"/>
            <a:ext cx="5414573" cy="268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6345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F41CE185-08DB-F60D-FB05-A6C160B65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EAFF7B-0A78-383D-0C6D-3C37FBDF6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9DDE51B-B928-231C-EEA9-BED6F1155678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 err="1">
                <a:solidFill>
                  <a:srgbClr val="2073BE"/>
                </a:solidFill>
              </a:rPr>
              <a:t>StoreConnector</a:t>
            </a:r>
            <a:r>
              <a:rPr lang="en-GB" sz="2400" b="1" dirty="0">
                <a:solidFill>
                  <a:srgbClr val="2073BE"/>
                </a:solidFill>
              </a:rPr>
              <a:t> </a:t>
            </a:r>
            <a:r>
              <a:rPr lang="en-GB" sz="2400" b="1" dirty="0" err="1">
                <a:solidFill>
                  <a:srgbClr val="2073BE"/>
                </a:solidFill>
              </a:rPr>
              <a:t>và</a:t>
            </a:r>
            <a:r>
              <a:rPr lang="en-GB" sz="2400" b="1" dirty="0">
                <a:solidFill>
                  <a:srgbClr val="2073BE"/>
                </a:solidFill>
              </a:rPr>
              <a:t> </a:t>
            </a:r>
            <a:r>
              <a:rPr lang="en-GB" sz="2400" b="1" dirty="0" err="1">
                <a:solidFill>
                  <a:srgbClr val="2073BE"/>
                </a:solidFill>
              </a:rPr>
              <a:t>StoreBuilder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8DB32F-2285-7870-A924-C3477437F8BD}"/>
              </a:ext>
            </a:extLst>
          </p:cNvPr>
          <p:cNvSpPr txBox="1"/>
          <p:nvPr/>
        </p:nvSpPr>
        <p:spPr>
          <a:xfrm>
            <a:off x="231299" y="650157"/>
            <a:ext cx="18582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>
                <a:solidFill>
                  <a:schemeClr val="tx1"/>
                </a:solidFill>
              </a:rPr>
              <a:t>StoreBuilder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314B14BC-6538-6790-5A8A-C3F4823BD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9535" y="1087141"/>
            <a:ext cx="808276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1600" dirty="0" err="1"/>
              <a:t>StoreBuilder</a:t>
            </a:r>
            <a:r>
              <a:rPr lang="en-GB" sz="1600" dirty="0"/>
              <a:t> </a:t>
            </a:r>
            <a:r>
              <a:rPr lang="en-GB" sz="1600" dirty="0" err="1"/>
              <a:t>là</a:t>
            </a:r>
            <a:r>
              <a:rPr lang="en-GB" sz="1600" dirty="0"/>
              <a:t> </a:t>
            </a:r>
            <a:r>
              <a:rPr lang="en-GB" sz="1600" dirty="0" err="1"/>
              <a:t>một</a:t>
            </a:r>
            <a:r>
              <a:rPr lang="en-GB" sz="1600" dirty="0"/>
              <a:t> widget </a:t>
            </a:r>
            <a:r>
              <a:rPr lang="en-GB" sz="1600" dirty="0" err="1"/>
              <a:t>đơn</a:t>
            </a:r>
            <a:r>
              <a:rPr lang="en-GB" sz="1600" dirty="0"/>
              <a:t> </a:t>
            </a:r>
            <a:r>
              <a:rPr lang="en-GB" sz="1600" dirty="0" err="1"/>
              <a:t>giản</a:t>
            </a:r>
            <a:r>
              <a:rPr lang="en-GB" sz="1600" dirty="0"/>
              <a:t> </a:t>
            </a:r>
            <a:r>
              <a:rPr lang="en-GB" sz="1600" dirty="0" err="1"/>
              <a:t>hơn</a:t>
            </a:r>
            <a:r>
              <a:rPr lang="en-GB" sz="1600" dirty="0"/>
              <a:t>, </a:t>
            </a:r>
            <a:r>
              <a:rPr lang="en-GB" sz="1600" dirty="0" err="1"/>
              <a:t>cho</a:t>
            </a:r>
            <a:r>
              <a:rPr lang="en-GB" sz="1600" dirty="0"/>
              <a:t> </a:t>
            </a:r>
            <a:r>
              <a:rPr lang="en-GB" sz="1600" dirty="0" err="1"/>
              <a:t>phép</a:t>
            </a:r>
            <a:r>
              <a:rPr lang="en-GB" sz="1600" dirty="0"/>
              <a:t> ta </a:t>
            </a:r>
            <a:r>
              <a:rPr lang="en-GB" sz="1600" dirty="0" err="1"/>
              <a:t>truy</a:t>
            </a:r>
            <a:r>
              <a:rPr lang="en-GB" sz="1600" dirty="0"/>
              <a:t> </a:t>
            </a:r>
            <a:r>
              <a:rPr lang="en-GB" sz="1600" dirty="0" err="1"/>
              <a:t>cập</a:t>
            </a:r>
            <a:r>
              <a:rPr lang="en-GB" sz="1600" dirty="0"/>
              <a:t> </a:t>
            </a:r>
            <a:r>
              <a:rPr lang="en-GB" sz="1600" dirty="0" err="1"/>
              <a:t>trực</a:t>
            </a:r>
            <a:r>
              <a:rPr lang="en-GB" sz="1600" dirty="0"/>
              <a:t> </a:t>
            </a:r>
            <a:r>
              <a:rPr lang="en-GB" sz="1600" dirty="0" err="1"/>
              <a:t>tiếp</a:t>
            </a:r>
            <a:r>
              <a:rPr lang="en-GB" sz="1600" dirty="0"/>
              <a:t> </a:t>
            </a:r>
            <a:r>
              <a:rPr lang="en-GB" sz="1600" dirty="0" err="1"/>
              <a:t>vào</a:t>
            </a:r>
            <a:r>
              <a:rPr lang="en-GB" sz="1600" dirty="0"/>
              <a:t> Store </a:t>
            </a:r>
            <a:r>
              <a:rPr lang="en-GB" sz="1600" dirty="0" err="1"/>
              <a:t>mà</a:t>
            </a:r>
            <a:r>
              <a:rPr lang="en-GB" sz="1600" dirty="0"/>
              <a:t> </a:t>
            </a:r>
            <a:r>
              <a:rPr lang="en-GB" sz="1600" dirty="0" err="1"/>
              <a:t>không</a:t>
            </a:r>
            <a:r>
              <a:rPr lang="en-GB" sz="1600" dirty="0"/>
              <a:t> </a:t>
            </a:r>
            <a:r>
              <a:rPr lang="en-GB" sz="1600" dirty="0" err="1"/>
              <a:t>cần</a:t>
            </a:r>
            <a:r>
              <a:rPr lang="en-GB" sz="1600" dirty="0"/>
              <a:t> qua </a:t>
            </a:r>
            <a:r>
              <a:rPr lang="en-GB" sz="1600" dirty="0" err="1"/>
              <a:t>bước</a:t>
            </a:r>
            <a:r>
              <a:rPr lang="en-GB" sz="1600" dirty="0"/>
              <a:t> converter, </a:t>
            </a:r>
            <a:r>
              <a:rPr lang="en-GB" sz="1600" dirty="0" err="1"/>
              <a:t>phù</a:t>
            </a:r>
            <a:r>
              <a:rPr lang="en-GB" sz="1600" dirty="0"/>
              <a:t> </a:t>
            </a:r>
            <a:r>
              <a:rPr lang="en-GB" sz="1600" dirty="0" err="1"/>
              <a:t>hợp</a:t>
            </a:r>
            <a:r>
              <a:rPr lang="en-GB" sz="1600" dirty="0"/>
              <a:t> </a:t>
            </a:r>
            <a:r>
              <a:rPr lang="en-GB" sz="1600" dirty="0" err="1"/>
              <a:t>cho</a:t>
            </a:r>
            <a:r>
              <a:rPr lang="en-GB" sz="1600" dirty="0"/>
              <a:t> </a:t>
            </a:r>
            <a:r>
              <a:rPr lang="en-GB" sz="1600" dirty="0" err="1"/>
              <a:t>trường</a:t>
            </a:r>
            <a:r>
              <a:rPr lang="en-GB" sz="1600" dirty="0"/>
              <a:t> </a:t>
            </a:r>
            <a:r>
              <a:rPr lang="en-GB" sz="1600" dirty="0" err="1"/>
              <a:t>hợp</a:t>
            </a:r>
            <a:r>
              <a:rPr lang="en-GB" sz="1600" dirty="0"/>
              <a:t> </a:t>
            </a:r>
            <a:r>
              <a:rPr lang="en-GB" sz="1600" dirty="0" err="1"/>
              <a:t>cơ</a:t>
            </a:r>
            <a:r>
              <a:rPr lang="en-GB" sz="1600" dirty="0"/>
              <a:t> </a:t>
            </a:r>
            <a:r>
              <a:rPr lang="en-GB" sz="1600" dirty="0" err="1"/>
              <a:t>bản</a:t>
            </a:r>
            <a:r>
              <a:rPr lang="en-GB" sz="1600" dirty="0"/>
              <a:t>.</a:t>
            </a:r>
            <a:endParaRPr lang="en-US" sz="1600"/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23F1331-14EC-4799-9965-B58544C6F1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5667" y="1739567"/>
            <a:ext cx="5172666" cy="3258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9730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1E6E3F59-2D4D-E8A2-317C-608B0AC4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BE2C153-B92C-47FB-4C1C-25A276A58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715807F-782E-0273-F6DF-1649397B3867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 err="1">
                <a:solidFill>
                  <a:srgbClr val="2073BE"/>
                </a:solidFill>
              </a:rPr>
              <a:t>StoreConnector</a:t>
            </a:r>
            <a:r>
              <a:rPr lang="en-GB" sz="2400" b="1" dirty="0">
                <a:solidFill>
                  <a:srgbClr val="2073BE"/>
                </a:solidFill>
              </a:rPr>
              <a:t> </a:t>
            </a:r>
            <a:r>
              <a:rPr lang="en-GB" sz="2400" b="1" dirty="0" err="1">
                <a:solidFill>
                  <a:srgbClr val="2073BE"/>
                </a:solidFill>
              </a:rPr>
              <a:t>và</a:t>
            </a:r>
            <a:r>
              <a:rPr lang="en-GB" sz="2400" b="1" dirty="0">
                <a:solidFill>
                  <a:srgbClr val="2073BE"/>
                </a:solidFill>
              </a:rPr>
              <a:t> </a:t>
            </a:r>
            <a:r>
              <a:rPr lang="en-GB" sz="2400" b="1" dirty="0" err="1">
                <a:solidFill>
                  <a:srgbClr val="2073BE"/>
                </a:solidFill>
              </a:rPr>
              <a:t>StoreBuilder</a:t>
            </a:r>
            <a:endParaRPr lang="en-US" sz="2400" b="1" dirty="0">
              <a:solidFill>
                <a:srgbClr val="2073BE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83ECB8A-AE09-0E20-2B66-D72B17BA04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262023"/>
              </p:ext>
            </p:extLst>
          </p:nvPr>
        </p:nvGraphicFramePr>
        <p:xfrm>
          <a:off x="434221" y="966035"/>
          <a:ext cx="8404376" cy="3509304"/>
        </p:xfrm>
        <a:graphic>
          <a:graphicData uri="http://schemas.openxmlformats.org/drawingml/2006/table">
            <a:tbl>
              <a:tblPr firstRow="1" firstCol="1" bandRow="1">
                <a:tableStyleId>{5EA0A50E-D806-47F9-8622-6DD71D228117}</a:tableStyleId>
              </a:tblPr>
              <a:tblGrid>
                <a:gridCol w="1754205">
                  <a:extLst>
                    <a:ext uri="{9D8B030D-6E8A-4147-A177-3AD203B41FA5}">
                      <a16:colId xmlns:a16="http://schemas.microsoft.com/office/drawing/2014/main" val="3167425811"/>
                    </a:ext>
                  </a:extLst>
                </a:gridCol>
                <a:gridCol w="3632651">
                  <a:extLst>
                    <a:ext uri="{9D8B030D-6E8A-4147-A177-3AD203B41FA5}">
                      <a16:colId xmlns:a16="http://schemas.microsoft.com/office/drawing/2014/main" val="2748050666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881124343"/>
                    </a:ext>
                  </a:extLst>
                </a:gridCol>
              </a:tblGrid>
              <a:tr h="26452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 dirty="0" err="1">
                          <a:effectLst/>
                        </a:rPr>
                        <a:t>Tiêu</a:t>
                      </a:r>
                      <a:r>
                        <a:rPr lang="en-US" sz="1300" b="1" kern="0" dirty="0">
                          <a:effectLst/>
                        </a:rPr>
                        <a:t> </a:t>
                      </a:r>
                      <a:r>
                        <a:rPr lang="en-US" sz="1300" b="1" kern="0" dirty="0" err="1">
                          <a:effectLst/>
                        </a:rPr>
                        <a:t>chí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1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 dirty="0" err="1">
                          <a:effectLst/>
                        </a:rPr>
                        <a:t>StoreConnector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1F3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 dirty="0" err="1">
                          <a:effectLst/>
                        </a:rPr>
                        <a:t>StoreBuilder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D1F3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838539"/>
                  </a:ext>
                </a:extLst>
              </a:tr>
              <a:tr h="540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>
                          <a:effectLst/>
                        </a:rPr>
                        <a:t>Mục đích</a:t>
                      </a:r>
                      <a:endParaRPr lang="en-US" sz="11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Tách biệt logic và UI, dùng ViewModel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Truy cập trực tiếp store, đơn giản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016916"/>
                  </a:ext>
                </a:extLst>
              </a:tr>
              <a:tr h="540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 dirty="0">
                          <a:effectLst/>
                        </a:rPr>
                        <a:t>Converter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Có converter, chuyển state thành ViewModel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Không cần converter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6624456"/>
                  </a:ext>
                </a:extLst>
              </a:tr>
              <a:tr h="540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>
                          <a:effectLst/>
                        </a:rPr>
                        <a:t>ViewModel</a:t>
                      </a:r>
                      <a:endParaRPr lang="en-US" sz="11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Có, giúp tách UI khỏi logic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Không, dùng store trực tiếp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65290865"/>
                  </a:ext>
                </a:extLst>
              </a:tr>
              <a:tr h="540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>
                          <a:effectLst/>
                        </a:rPr>
                        <a:t>Thích hợp cho</a:t>
                      </a:r>
                      <a:endParaRPr lang="en-US" sz="11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Ứng dụng phức tạp, nhiều state, nhiều tab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Ứng dụng nhỏ, UI đơn giản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96024912"/>
                  </a:ext>
                </a:extLst>
              </a:tr>
              <a:tr h="540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>
                          <a:effectLst/>
                        </a:rPr>
                        <a:t>Tái sử dụng code</a:t>
                      </a:r>
                      <a:endParaRPr lang="en-US" sz="1100" b="1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Cao, dễ maintain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Thấp, phù hợp cho component nhỏ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53995617"/>
                  </a:ext>
                </a:extLst>
              </a:tr>
              <a:tr h="5407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b="1" kern="0" dirty="0" err="1">
                          <a:effectLst/>
                        </a:rPr>
                        <a:t>Cách</a:t>
                      </a:r>
                      <a:r>
                        <a:rPr lang="en-US" sz="1300" b="1" kern="0" dirty="0">
                          <a:effectLst/>
                        </a:rPr>
                        <a:t> dispatch Action</a:t>
                      </a:r>
                      <a:endParaRPr lang="en-US" sz="11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>
                          <a:effectLst/>
                        </a:rPr>
                        <a:t>Thông qua ViewModel</a:t>
                      </a:r>
                      <a:endParaRPr lang="en-US" sz="11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300" kern="0" dirty="0" err="1">
                          <a:effectLst/>
                        </a:rPr>
                        <a:t>Trực</a:t>
                      </a:r>
                      <a:r>
                        <a:rPr lang="en-US" sz="1300" kern="0" dirty="0">
                          <a:effectLst/>
                        </a:rPr>
                        <a:t> </a:t>
                      </a:r>
                      <a:r>
                        <a:rPr lang="en-US" sz="1300" kern="0" dirty="0" err="1">
                          <a:effectLst/>
                        </a:rPr>
                        <a:t>tiếp</a:t>
                      </a:r>
                      <a:r>
                        <a:rPr lang="en-US" sz="1300" kern="0" dirty="0">
                          <a:effectLst/>
                        </a:rPr>
                        <a:t> </a:t>
                      </a:r>
                      <a:r>
                        <a:rPr lang="en-US" sz="1300" kern="0" dirty="0" err="1">
                          <a:effectLst/>
                        </a:rPr>
                        <a:t>trên</a:t>
                      </a:r>
                      <a:r>
                        <a:rPr lang="en-US" sz="1300" kern="0" dirty="0">
                          <a:effectLst/>
                        </a:rPr>
                        <a:t> store</a:t>
                      </a:r>
                      <a:endParaRPr lang="en-US" sz="11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17583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578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D3D0A94-9240-1B84-A1CB-14A963D0C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EE419D-FD86-01B0-54B6-F66E5141A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B028A99-A3E8-33AF-D4CF-45694D12FEA6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Middleware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20150-847A-663D-0961-EB8F8D653213}"/>
              </a:ext>
            </a:extLst>
          </p:cNvPr>
          <p:cNvSpPr txBox="1"/>
          <p:nvPr/>
        </p:nvSpPr>
        <p:spPr>
          <a:xfrm>
            <a:off x="826477" y="797279"/>
            <a:ext cx="7491046" cy="2818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GB" sz="1800" dirty="0">
                <a:latin typeface="+mn-lt"/>
              </a:rPr>
              <a:t>Middleware </a:t>
            </a:r>
            <a:r>
              <a:rPr lang="en-GB" sz="1800" dirty="0" err="1">
                <a:latin typeface="+mn-lt"/>
              </a:rPr>
              <a:t>là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lớp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trung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gian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cho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phép</a:t>
            </a:r>
            <a:r>
              <a:rPr lang="en-GB" sz="1800" dirty="0">
                <a:latin typeface="+mn-lt"/>
              </a:rPr>
              <a:t> can </a:t>
            </a:r>
            <a:r>
              <a:rPr lang="en-GB" sz="1800" dirty="0" err="1">
                <a:latin typeface="+mn-lt"/>
              </a:rPr>
              <a:t>thiệp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vào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quá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trình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xử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lý</a:t>
            </a:r>
            <a:r>
              <a:rPr lang="en-GB" sz="1800" dirty="0">
                <a:latin typeface="+mn-lt"/>
              </a:rPr>
              <a:t> Action </a:t>
            </a:r>
            <a:r>
              <a:rPr lang="en-GB" sz="1800" dirty="0" err="1">
                <a:latin typeface="+mn-lt"/>
              </a:rPr>
              <a:t>trước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khi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đến</a:t>
            </a:r>
            <a:r>
              <a:rPr lang="en-GB" sz="1800" dirty="0">
                <a:latin typeface="+mn-lt"/>
              </a:rPr>
              <a:t> Reducer.</a:t>
            </a:r>
            <a:endParaRPr lang="en-US" sz="1800" dirty="0">
              <a:latin typeface="+mn-lt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Middleware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thể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sử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dụng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bất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cứ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khi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nào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có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action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được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dispatch: 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Ghi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log (logging)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Báo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cáo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lỗi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(crash reporting)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Giao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tiếp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API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bất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đồng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bộ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(asynchronous API)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Điều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hướng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(routing)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Xử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lý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Side effect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2942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A1581572-2EA1-1C1A-15A4-381311C4C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622494-0BF2-40E0-24A9-374A41EEE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8A76D2-E815-5893-DD59-2355F7716060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Middleware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A3A80E-8D5D-C4D4-ED2A-7B98617EDECC}"/>
              </a:ext>
            </a:extLst>
          </p:cNvPr>
          <p:cNvSpPr txBox="1"/>
          <p:nvPr/>
        </p:nvSpPr>
        <p:spPr>
          <a:xfrm>
            <a:off x="5661161" y="740780"/>
            <a:ext cx="3140967" cy="29495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800" dirty="0" err="1"/>
              <a:t>Cấu</a:t>
            </a:r>
            <a:r>
              <a:rPr lang="en-US" sz="1800" dirty="0"/>
              <a:t> </a:t>
            </a:r>
            <a:r>
              <a:rPr lang="en-US" sz="1800" dirty="0" err="1"/>
              <a:t>trúc</a:t>
            </a:r>
            <a:r>
              <a:rPr lang="en-US" sz="1800" dirty="0"/>
              <a:t> </a:t>
            </a:r>
            <a:r>
              <a:rPr lang="en-US" sz="1800" dirty="0" err="1"/>
              <a:t>của</a:t>
            </a:r>
            <a:r>
              <a:rPr lang="en-US" sz="1800" dirty="0"/>
              <a:t> </a:t>
            </a:r>
            <a:r>
              <a:rPr lang="en-US" sz="1800" dirty="0" err="1"/>
              <a:t>một</a:t>
            </a:r>
            <a:r>
              <a:rPr lang="en-US" sz="1800" dirty="0"/>
              <a:t> </a:t>
            </a:r>
            <a:r>
              <a:rPr lang="en-US" sz="1800" dirty="0" err="1"/>
              <a:t>hàm</a:t>
            </a:r>
            <a:r>
              <a:rPr lang="en-US" sz="1800" dirty="0"/>
              <a:t> middleware </a:t>
            </a:r>
            <a:r>
              <a:rPr lang="en-US" sz="1800" dirty="0" err="1"/>
              <a:t>gồm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</a:t>
            </a:r>
            <a:r>
              <a:rPr lang="en-US" sz="1800" dirty="0" err="1"/>
              <a:t>đối</a:t>
            </a:r>
            <a:r>
              <a:rPr lang="en-US" sz="1800" dirty="0"/>
              <a:t> </a:t>
            </a:r>
            <a:r>
              <a:rPr lang="en-US" sz="1800" dirty="0" err="1"/>
              <a:t>số</a:t>
            </a:r>
            <a:r>
              <a:rPr lang="en-US" sz="1800" dirty="0"/>
              <a:t>:</a:t>
            </a:r>
            <a:endParaRPr lang="vi-VN" sz="18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Store&lt;</a:t>
            </a:r>
            <a:r>
              <a:rPr lang="en-US" sz="1800" dirty="0" err="1"/>
              <a:t>AppState</a:t>
            </a:r>
            <a:r>
              <a:rPr lang="en-US" sz="1800" dirty="0"/>
              <a:t>&gt; store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dynamic action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/>
              <a:t>NextDispatcher</a:t>
            </a:r>
            <a:r>
              <a:rPr lang="en-US" sz="1800" dirty="0"/>
              <a:t> next</a:t>
            </a:r>
          </a:p>
          <a:p>
            <a:pPr>
              <a:lnSpc>
                <a:spcPct val="150000"/>
              </a:lnSpc>
            </a:pPr>
            <a:r>
              <a:rPr lang="en-US" sz="1800" dirty="0" err="1"/>
              <a:t>Ví</a:t>
            </a:r>
            <a:r>
              <a:rPr lang="en-US" sz="1800" dirty="0"/>
              <a:t> </a:t>
            </a:r>
            <a:r>
              <a:rPr lang="en-US" sz="1800" dirty="0" err="1"/>
              <a:t>dụ</a:t>
            </a:r>
            <a:r>
              <a:rPr lang="en-US" sz="1800" dirty="0"/>
              <a:t> </a:t>
            </a:r>
            <a:r>
              <a:rPr lang="en-US" sz="1800" dirty="0" err="1"/>
              <a:t>trong</a:t>
            </a:r>
            <a:r>
              <a:rPr lang="en-US" sz="1800" dirty="0"/>
              <a:t> code </a:t>
            </a:r>
            <a:r>
              <a:rPr lang="en-US" sz="1800" dirty="0" err="1"/>
              <a:t>bên</a:t>
            </a:r>
            <a:r>
              <a:rPr lang="en-US" sz="1800" dirty="0"/>
              <a:t> </a:t>
            </a:r>
            <a:r>
              <a:rPr lang="en-US" sz="1800" dirty="0" err="1"/>
              <a:t>sử</a:t>
            </a:r>
            <a:r>
              <a:rPr lang="en-US" sz="1800" dirty="0"/>
              <a:t> </a:t>
            </a:r>
            <a:r>
              <a:rPr lang="en-US" sz="1800" dirty="0" err="1"/>
              <a:t>dụng</a:t>
            </a:r>
            <a:r>
              <a:rPr lang="en-US" sz="1800" dirty="0"/>
              <a:t> middleware </a:t>
            </a:r>
            <a:r>
              <a:rPr lang="en-US" sz="1800" dirty="0" err="1"/>
              <a:t>để</a:t>
            </a:r>
            <a:r>
              <a:rPr lang="en-US" sz="1800" dirty="0"/>
              <a:t> </a:t>
            </a:r>
            <a:r>
              <a:rPr lang="en-US" sz="1800" dirty="0" err="1"/>
              <a:t>ghi</a:t>
            </a:r>
            <a:r>
              <a:rPr lang="en-US" sz="1800" dirty="0"/>
              <a:t> log.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379156-F34A-770D-35D5-03FEA5904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143" y="760534"/>
            <a:ext cx="5453018" cy="3622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598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2C96C36F-5919-BF53-07CC-8032F023B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5631CD-26BA-4C74-2A15-ADD7B5C735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E074712-CDE2-7488-CA81-DAAE59501BE2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Side effects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6C70E9-3A46-895C-3361-D67D7FF15609}"/>
              </a:ext>
            </a:extLst>
          </p:cNvPr>
          <p:cNvSpPr txBox="1"/>
          <p:nvPr/>
        </p:nvSpPr>
        <p:spPr>
          <a:xfrm>
            <a:off x="1159656" y="805377"/>
            <a:ext cx="6956474" cy="3423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GB" sz="1800" dirty="0">
                <a:latin typeface="+mn-lt"/>
              </a:rPr>
              <a:t>Side effect </a:t>
            </a:r>
            <a:r>
              <a:rPr lang="en-GB" sz="1800" dirty="0" err="1">
                <a:latin typeface="+mn-lt"/>
              </a:rPr>
              <a:t>là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bất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cứ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những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gì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thay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đổi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về</a:t>
            </a:r>
            <a:r>
              <a:rPr lang="en-GB" sz="1800" dirty="0">
                <a:latin typeface="+mn-lt"/>
              </a:rPr>
              <a:t> state hay </a:t>
            </a:r>
            <a:r>
              <a:rPr lang="en-GB" sz="1800" dirty="0" err="1">
                <a:latin typeface="+mn-lt"/>
              </a:rPr>
              <a:t>hành</a:t>
            </a:r>
            <a:r>
              <a:rPr lang="en-GB" sz="1800" dirty="0">
                <a:latin typeface="+mn-lt"/>
              </a:rPr>
              <a:t> vi </a:t>
            </a:r>
            <a:r>
              <a:rPr lang="en-GB" sz="1800" dirty="0" err="1">
                <a:latin typeface="+mn-lt"/>
              </a:rPr>
              <a:t>có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thể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được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thấy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bên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ngoài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việc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trả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về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giá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trị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từ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một</a:t>
            </a:r>
            <a:r>
              <a:rPr lang="en-GB" sz="1800" dirty="0">
                <a:latin typeface="+mn-lt"/>
              </a:rPr>
              <a:t> </a:t>
            </a:r>
            <a:r>
              <a:rPr lang="en-GB" sz="1800" dirty="0" err="1">
                <a:latin typeface="+mn-lt"/>
              </a:rPr>
              <a:t>hàm</a:t>
            </a:r>
            <a:r>
              <a:rPr lang="en-GB" sz="1800" dirty="0">
                <a:latin typeface="+mn-lt"/>
              </a:rPr>
              <a:t>. </a:t>
            </a:r>
            <a:endParaRPr lang="en-US" sz="1800" dirty="0">
              <a:latin typeface="+mn-lt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loại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side effect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phổ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biến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Ghi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log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Lưu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tập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tin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Thiết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lập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async timer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Thực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hiện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HTTP request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buFont typeface="Symbol" panose="05050102010706020507" pitchFamily="18" charset="2"/>
              <a:buChar char=""/>
            </a:pP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Thay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đổi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state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bên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ngoài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hàm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hoặc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thay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đổi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trị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của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tham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truyền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vào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hàm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Tạo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ngẫu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nhiên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hoặc</a:t>
            </a:r>
            <a:r>
              <a:rPr lang="en-GB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ID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62933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2D4D500E-EABF-D0BA-B9BA-CB0333DE7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CF17918-732B-D192-29D1-B3CF9E367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A07EB9D-B47E-21C6-84B3-75C056C622FD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Side effects</a:t>
            </a:r>
            <a:endParaRPr lang="en-US" sz="2400" b="1" dirty="0">
              <a:solidFill>
                <a:srgbClr val="2073BE"/>
              </a:solidFill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956511C-DBD1-8007-4A5C-310DC5BBFB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9171" y="934391"/>
            <a:ext cx="6594042" cy="27540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D71346-FF0E-175A-3923-9F1334B8D5A8}"/>
              </a:ext>
            </a:extLst>
          </p:cNvPr>
          <p:cNvSpPr txBox="1"/>
          <p:nvPr/>
        </p:nvSpPr>
        <p:spPr>
          <a:xfrm>
            <a:off x="353828" y="3980350"/>
            <a:ext cx="8644866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GB" sz="1800" err="1"/>
              <a:t>Sử</a:t>
            </a:r>
            <a:r>
              <a:rPr lang="en-GB" sz="1800" dirty="0"/>
              <a:t> </a:t>
            </a:r>
            <a:r>
              <a:rPr lang="en-GB" sz="1800" err="1"/>
              <a:t>dụng</a:t>
            </a:r>
            <a:r>
              <a:rPr lang="en-GB" sz="1800" dirty="0"/>
              <a:t> middleware </a:t>
            </a:r>
            <a:r>
              <a:rPr lang="en-GB" sz="1800" err="1"/>
              <a:t>có</a:t>
            </a:r>
            <a:r>
              <a:rPr lang="en-GB" sz="1800" dirty="0"/>
              <a:t> </a:t>
            </a:r>
            <a:r>
              <a:rPr lang="en-GB" sz="1800" err="1"/>
              <a:t>sẵn</a:t>
            </a:r>
            <a:r>
              <a:rPr lang="en-GB" sz="1800" dirty="0"/>
              <a:t> </a:t>
            </a:r>
            <a:r>
              <a:rPr lang="en-GB" sz="1800" err="1"/>
              <a:t>là</a:t>
            </a:r>
            <a:r>
              <a:rPr lang="en-GB" sz="1800" dirty="0"/>
              <a:t> </a:t>
            </a:r>
            <a:r>
              <a:rPr lang="en-GB" sz="1800" err="1"/>
              <a:t>redux_thunk</a:t>
            </a:r>
            <a:r>
              <a:rPr lang="en-GB" sz="1800" dirty="0"/>
              <a:t> </a:t>
            </a:r>
            <a:r>
              <a:rPr lang="en-GB" sz="1800" err="1"/>
              <a:t>để</a:t>
            </a:r>
            <a:r>
              <a:rPr lang="en-GB" sz="1800" dirty="0"/>
              <a:t> </a:t>
            </a:r>
            <a:r>
              <a:rPr lang="en-GB" sz="1800" err="1"/>
              <a:t>xử</a:t>
            </a:r>
            <a:r>
              <a:rPr lang="en-GB" sz="1800" dirty="0"/>
              <a:t> </a:t>
            </a:r>
            <a:r>
              <a:rPr lang="en-GB" sz="1800" err="1"/>
              <a:t>lý</a:t>
            </a:r>
            <a:r>
              <a:rPr lang="en-GB" sz="1800" dirty="0"/>
              <a:t> side effect.</a:t>
            </a:r>
          </a:p>
        </p:txBody>
      </p:sp>
    </p:spTree>
    <p:extLst>
      <p:ext uri="{BB962C8B-B14F-4D97-AF65-F5344CB8AC3E}">
        <p14:creationId xmlns:p14="http://schemas.microsoft.com/office/powerpoint/2010/main" val="2861799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944182C1-0227-4521-B918-C3177455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1ED28A-B9A9-03E9-52E1-FE4695D92B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1AC8A1C-F714-1008-5DC1-02FDAB6B8D06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Side effects</a:t>
            </a:r>
            <a:endParaRPr lang="en-US" sz="2400" b="1" dirty="0">
              <a:solidFill>
                <a:srgbClr val="2073BE"/>
              </a:solidFill>
            </a:endParaRPr>
          </a:p>
        </p:txBody>
      </p:sp>
      <p:pic>
        <p:nvPicPr>
          <p:cNvPr id="2" name="Picture 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5117029-290E-B60B-8751-60B4788193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896" y="522514"/>
            <a:ext cx="7232207" cy="37819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E63CF03-D626-F327-AA05-0F21BECCCF64}"/>
              </a:ext>
            </a:extLst>
          </p:cNvPr>
          <p:cNvSpPr txBox="1"/>
          <p:nvPr/>
        </p:nvSpPr>
        <p:spPr>
          <a:xfrm>
            <a:off x="2284099" y="4304428"/>
            <a:ext cx="457200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GB" sz="1800" err="1"/>
              <a:t>Xử</a:t>
            </a:r>
            <a:r>
              <a:rPr lang="en-GB" sz="1800" dirty="0"/>
              <a:t> </a:t>
            </a:r>
            <a:r>
              <a:rPr lang="en-GB" sz="1800" err="1"/>
              <a:t>lý</a:t>
            </a:r>
            <a:r>
              <a:rPr lang="en-GB" sz="1800" dirty="0"/>
              <a:t> side effect </a:t>
            </a:r>
            <a:r>
              <a:rPr lang="en-GB" sz="1800" err="1"/>
              <a:t>khi</a:t>
            </a:r>
            <a:r>
              <a:rPr lang="en-GB" sz="1800" dirty="0"/>
              <a:t> </a:t>
            </a:r>
            <a:r>
              <a:rPr lang="en-GB" sz="1800" err="1"/>
              <a:t>truy</a:t>
            </a:r>
            <a:r>
              <a:rPr lang="en-GB" sz="1800" dirty="0"/>
              <a:t> </a:t>
            </a:r>
            <a:r>
              <a:rPr lang="en-GB" sz="1800" err="1"/>
              <a:t>cập</a:t>
            </a:r>
            <a:r>
              <a:rPr lang="en-GB" sz="1800" dirty="0"/>
              <a:t> </a:t>
            </a:r>
            <a:r>
              <a:rPr lang="en-GB" sz="1800" err="1"/>
              <a:t>liên</a:t>
            </a:r>
            <a:r>
              <a:rPr lang="en-GB" sz="1800" dirty="0"/>
              <a:t> </a:t>
            </a:r>
            <a:r>
              <a:rPr lang="en-GB" sz="1800" err="1"/>
              <a:t>kết</a:t>
            </a:r>
            <a:r>
              <a:rPr lang="en-GB" sz="1800" dirty="0"/>
              <a:t> https</a:t>
            </a:r>
          </a:p>
        </p:txBody>
      </p:sp>
    </p:spTree>
    <p:extLst>
      <p:ext uri="{BB962C8B-B14F-4D97-AF65-F5344CB8AC3E}">
        <p14:creationId xmlns:p14="http://schemas.microsoft.com/office/powerpoint/2010/main" val="23399682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185C444A-93CE-E7D8-3CEC-2F98D4CDA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EBA1AF-439D-440C-7B1C-3D5E6F624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95FA20-76C8-82D9-FF53-8F0445703189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Side effects</a:t>
            </a:r>
            <a:endParaRPr lang="en-US" sz="2400" b="1" dirty="0">
              <a:solidFill>
                <a:srgbClr val="2073BE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F3A412-F5B5-71ED-A2A8-A215703B78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54" y="650157"/>
            <a:ext cx="7782348" cy="26229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 descr="A white rectangular object with text&#10;&#10;AI-generated content may be incorrect.">
            <a:extLst>
              <a:ext uri="{FF2B5EF4-FFF2-40B4-BE49-F238E27FC236}">
                <a16:creationId xmlns:a16="http://schemas.microsoft.com/office/drawing/2014/main" id="{293F4D9F-F42F-66B4-E47A-A79C6653B0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838" y="3427516"/>
            <a:ext cx="7365180" cy="151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6072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23A0824E-763C-CBA5-4AD8-CFC153A4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701D76-CCFB-04EB-C1A9-C4D6670F6B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2620849-9696-233D-1437-B07418FCA029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Side effects</a:t>
            </a:r>
            <a:endParaRPr lang="en-US" sz="2400" b="1" dirty="0">
              <a:solidFill>
                <a:srgbClr val="2073BE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6CF894-0309-846A-E824-705114A3A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74" y="650157"/>
            <a:ext cx="7533052" cy="376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4504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AE020C08-6D4E-F9E4-433E-C3826EC7E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E9C4A9-5D28-0931-D26E-C3D17FEA8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AE5B86-99C1-58CA-96C9-FAA04CFEA895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Side effects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1A140-99CE-B1A4-1F07-56376B6EEE05}"/>
              </a:ext>
            </a:extLst>
          </p:cNvPr>
          <p:cNvSpPr txBox="1"/>
          <p:nvPr/>
        </p:nvSpPr>
        <p:spPr>
          <a:xfrm>
            <a:off x="801858" y="1854600"/>
            <a:ext cx="3924887" cy="1303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Nếu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truy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cập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thành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công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sẽ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trả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về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value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của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key "title"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chứa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trong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dữ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liệu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json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Nếu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lỗi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sẽ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hiển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thị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lỗi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trên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terminal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trên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màn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GB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app.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3592F3-9229-C8A1-4D6C-AA144ED9E3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4327" y="151870"/>
            <a:ext cx="3267941" cy="483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9486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76AD262E-0C93-D54E-EFEE-B63E8F8D2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55026E-15D9-9849-5B79-645A7EAE9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51749A4-B888-4CEC-98FA-796F9C3849B5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Time travel debugging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72F10C-1026-F391-0830-0891B9B1FB7B}"/>
              </a:ext>
            </a:extLst>
          </p:cNvPr>
          <p:cNvSpPr txBox="1"/>
          <p:nvPr/>
        </p:nvSpPr>
        <p:spPr>
          <a:xfrm>
            <a:off x="1262575" y="1156004"/>
            <a:ext cx="6618849" cy="208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200000"/>
              </a:lnSpc>
              <a:spcAft>
                <a:spcPts val="800"/>
              </a:spcAft>
              <a:buNone/>
            </a:pP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Time Travel Debugging (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gỡ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lỗi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du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hành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thời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gian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là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kỹ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thuật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phép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buFont typeface="Symbol" panose="05050102010706020507" pitchFamily="18" charset="2"/>
              <a:buChar char=""/>
            </a:pP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Theo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dõi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lại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mọi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hành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(action)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đã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xảy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ra.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buFont typeface="Symbol" panose="05050102010706020507" pitchFamily="18" charset="2"/>
              <a:buChar char=""/>
            </a:pP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Xem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lại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trạng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thái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(state)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của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ứng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dụng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tại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từng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thời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lnSpc>
                <a:spcPct val="20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“Quay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lại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” (undo)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hoặc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“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phát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lại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” (replay)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các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bước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thay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6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đổi</a:t>
            </a:r>
            <a:r>
              <a:rPr lang="en-US" sz="16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state</a:t>
            </a: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41477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5634E5B3-3EC5-DFBB-BBC6-414BC1797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330D4C-875D-9488-8EF0-543D221487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3A99B8-1DE4-E4A1-69F6-6330E3CE69E1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Time travel debugging</a:t>
            </a:r>
            <a:endParaRPr lang="en-US" sz="2400" b="1" dirty="0">
              <a:solidFill>
                <a:srgbClr val="2073BE"/>
              </a:solidFill>
            </a:endParaRP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3691752-09E6-79E7-B673-0C3941EFD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555" y="650157"/>
            <a:ext cx="6238889" cy="425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5575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8558D910-B915-DC00-409A-65B596D50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3626B2-AC74-9396-ECB5-30242EF3E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FCAC254-FE56-CBA0-A62D-1BBF732C7435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Time travel debugging</a:t>
            </a:r>
            <a:endParaRPr lang="en-US" sz="2400" b="1" dirty="0">
              <a:solidFill>
                <a:srgbClr val="2073BE"/>
              </a:solidFill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23E568F-C019-4D86-07B8-7848EB5A6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1031" y="522514"/>
            <a:ext cx="6621937" cy="4552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7286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EC793FB1-9606-E469-26F3-632CF95B1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684502-83FC-723D-4834-F08B413A5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F5B963B-AB0C-C65C-54F8-30BD5E6A0623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Time travel debugging</a:t>
            </a:r>
            <a:endParaRPr lang="en-US" sz="2400" b="1" dirty="0">
              <a:solidFill>
                <a:srgbClr val="2073BE"/>
              </a:solidFill>
            </a:endParaRPr>
          </a:p>
        </p:txBody>
      </p:sp>
      <p:pic>
        <p:nvPicPr>
          <p:cNvPr id="2" name="Picture 1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9F3F08F-6A83-22D7-FE45-2D4A7C4BF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560" y="770035"/>
            <a:ext cx="6994879" cy="24233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841841-25F5-2307-8576-807B14864268}"/>
              </a:ext>
            </a:extLst>
          </p:cNvPr>
          <p:cNvSpPr txBox="1"/>
          <p:nvPr/>
        </p:nvSpPr>
        <p:spPr>
          <a:xfrm>
            <a:off x="2025748" y="3313244"/>
            <a:ext cx="4572000" cy="1419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currentIndex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"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là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biến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lưu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vị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trí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trong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history.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mỗi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trị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của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currentIndex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sẽ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đại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diện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state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trong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thời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Chỉ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lấy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chuỗi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từ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đầu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đến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currentIndex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hiển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thị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đúng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chuỗi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tại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thời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điểm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đó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để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hiển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thị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lên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màn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hình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245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43BBC436-FA50-91B9-4031-D101873F8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A70D61-41D2-7822-EC6B-2C6008D58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EE623D-09F1-47A0-409D-BCCF5D8F2B41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Time travel debugging</a:t>
            </a:r>
            <a:endParaRPr lang="en-US" sz="2400" b="1" dirty="0">
              <a:solidFill>
                <a:srgbClr val="2073BE"/>
              </a:solidFill>
            </a:endParaRPr>
          </a:p>
        </p:txBody>
      </p:sp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682E6B6-0EF5-194A-E0BB-60AEC261F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087" y="522514"/>
            <a:ext cx="6575826" cy="456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3061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9A230D18-551A-F5D8-A84B-F49CD3CD7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5BB8482-925E-3476-1953-BA923E55D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C6C634F-05BD-54E6-03A2-A515F738FC3F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Time travel debugging</a:t>
            </a:r>
            <a:endParaRPr lang="en-US" sz="2400" b="1" dirty="0">
              <a:solidFill>
                <a:srgbClr val="2073BE"/>
              </a:solidFill>
            </a:endParaRPr>
          </a:p>
        </p:txBody>
      </p:sp>
      <p:pic>
        <p:nvPicPr>
          <p:cNvPr id="2" name="Picture 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8FEBF95-3334-AE3E-5F53-DC4431E35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667" y="650157"/>
            <a:ext cx="7118119" cy="25614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8ED140-0E6A-CFEB-F3B1-74A3BD9F8FB9}"/>
              </a:ext>
            </a:extLst>
          </p:cNvPr>
          <p:cNvSpPr txBox="1"/>
          <p:nvPr/>
        </p:nvSpPr>
        <p:spPr>
          <a:xfrm>
            <a:off x="2011680" y="3399618"/>
            <a:ext cx="4572000" cy="9242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Ta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khai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báo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final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isCurrent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= index ==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vm.currentIndex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85750" marR="0" indent="-28575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Mỗi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khi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ấn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vào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state </a:t>
            </a: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bất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kì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trong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lịch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sử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thì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sẽ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thực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hiện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hàm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travelTo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(index) </a:t>
            </a: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tới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currentIndex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mong </a:t>
            </a:r>
            <a:r>
              <a:rPr lang="en-GB" sz="1400" kern="100" dirty="0" err="1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muốn</a:t>
            </a:r>
            <a:r>
              <a:rPr lang="en-GB" sz="14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1608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CE05121D-E1E7-DB78-A849-87B81EFD4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A6A9DA-A0B9-7906-91AE-0CA8F66432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395C6DD-5CCB-CEBD-BF4A-61F9E7BF032B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Time travel debugging</a:t>
            </a:r>
            <a:endParaRPr lang="en-US" sz="2400" b="1" dirty="0">
              <a:solidFill>
                <a:srgbClr val="2073BE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63E87B-6C2F-CA8F-7AEA-95DE086A3E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7811" y="164779"/>
            <a:ext cx="3076653" cy="48139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3B35B4-7A04-C407-2277-1C68656321F7}"/>
              </a:ext>
            </a:extLst>
          </p:cNvPr>
          <p:cNvSpPr txBox="1"/>
          <p:nvPr/>
        </p:nvSpPr>
        <p:spPr>
          <a:xfrm>
            <a:off x="499536" y="1556087"/>
            <a:ext cx="462123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  <a:cs typeface="Times New Roman" panose="02020603050405020304" pitchFamily="18" charset="0"/>
              </a:rPr>
              <a:t>Khi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thực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hiện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action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sẽ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được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lưu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lại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trong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list.</a:t>
            </a:r>
          </a:p>
          <a:p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Truy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cập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state 2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trong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quá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khứ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Hiển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thị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chuỗi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trong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quá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khứ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là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‘10’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Các state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khác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không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thay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đổi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cho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đến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khi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thực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hiện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action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làm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thay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đổi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state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hiện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tại</a:t>
            </a:r>
            <a:endParaRPr lang="en-US" sz="18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9550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AD3252DF-DFAE-AD95-19F3-F83D4E151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67D2C7-0873-5DD3-0C62-B66B9F13C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BF55B2F-5CBF-7C78-2154-10076D925185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Time travel debugging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AB5FFD-B1CD-F39D-D502-7D33F9EF524A}"/>
              </a:ext>
            </a:extLst>
          </p:cNvPr>
          <p:cNvSpPr txBox="1"/>
          <p:nvPr/>
        </p:nvSpPr>
        <p:spPr>
          <a:xfrm>
            <a:off x="499536" y="1667021"/>
            <a:ext cx="46212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  <a:cs typeface="Times New Roman" panose="02020603050405020304" pitchFamily="18" charset="0"/>
              </a:rPr>
              <a:t>Khi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đang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truy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cập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state 2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trong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quá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khứ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Thực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hiện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action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bấm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nút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0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để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thay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đổi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chuỗi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Các state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cũ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sau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state 2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bị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xóa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thay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bằng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những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state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mới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tiếp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theo</a:t>
            </a:r>
            <a:endParaRPr lang="en-US" sz="1800" dirty="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3190BE-2F5D-4116-DBDB-F4493B255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078" y="58503"/>
            <a:ext cx="3144386" cy="49199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9495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99198AB4-25D1-47E0-FDC5-2BF0F717B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0A3ECE-A00A-3284-B88D-E397450F34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ACF089-52F9-88B6-C49C-7F30E44BB244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Time travel debugging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27A8C0-008B-FD9E-9AC5-C9AA43449A1D}"/>
              </a:ext>
            </a:extLst>
          </p:cNvPr>
          <p:cNvSpPr txBox="1"/>
          <p:nvPr/>
        </p:nvSpPr>
        <p:spPr>
          <a:xfrm>
            <a:off x="499536" y="1758462"/>
            <a:ext cx="46212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  <a:cs typeface="Times New Roman" panose="02020603050405020304" pitchFamily="18" charset="0"/>
              </a:rPr>
              <a:t>Khi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đang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truy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cập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state 2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trong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quá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khứ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Thực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hiện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action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bấm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nút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0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để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thay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đổi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chuỗi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Các state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cũ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sau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state 2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bị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xóa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và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thay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bằng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những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state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mới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tiếp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theo</a:t>
            </a:r>
            <a:endParaRPr lang="en-US" sz="1800" dirty="0">
              <a:latin typeface="+mn-lt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1FE3A3-1D2E-624D-2AA7-F96DA3806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923" y="167995"/>
            <a:ext cx="3072541" cy="48075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032651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E3A8D12E-8432-402E-D5D5-705DB6673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0710DA-A658-0DB2-BB3E-1B0FB926A5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058BA4-5ADD-56CB-6BEB-E2ED5C02D77A}"/>
              </a:ext>
            </a:extLst>
          </p:cNvPr>
          <p:cNvSpPr/>
          <p:nvPr/>
        </p:nvSpPr>
        <p:spPr>
          <a:xfrm>
            <a:off x="434221" y="0"/>
            <a:ext cx="6685770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400" b="1" dirty="0">
                <a:solidFill>
                  <a:srgbClr val="2073BE"/>
                </a:solidFill>
              </a:rPr>
              <a:t>Time travel debugging</a:t>
            </a:r>
            <a:endParaRPr lang="en-US" sz="2400" b="1" dirty="0">
              <a:solidFill>
                <a:srgbClr val="2073BE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38EE5-65CB-8ED0-BEA6-F3E928D8B0F5}"/>
              </a:ext>
            </a:extLst>
          </p:cNvPr>
          <p:cNvSpPr txBox="1"/>
          <p:nvPr/>
        </p:nvSpPr>
        <p:spPr>
          <a:xfrm>
            <a:off x="896113" y="954833"/>
            <a:ext cx="7120128" cy="35019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Trong file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reducers.dart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 marL="285750" marR="0" lvl="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Khi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thực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hiện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action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bấm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số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mới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thì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hàm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UpdateStateAction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sẽ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thêm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vào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lịch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sử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trị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int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vào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List&lt;int&gt; history.</a:t>
            </a:r>
          </a:p>
          <a:p>
            <a:pPr marL="285750" marR="0" lvl="0" indent="-2857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Hàm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TravelToStateAction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cho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phép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qua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về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một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state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trong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quá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khứ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bằng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cách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truy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cập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tới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trị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currentIndex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mong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kern="1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muốn</a:t>
            </a:r>
            <a:r>
              <a:rPr lang="en-US" sz="18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+mn-lt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cs typeface="Times New Roman" panose="02020603050405020304" pitchFamily="18" charset="0"/>
              </a:rPr>
              <a:t>history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là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mảng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chứa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các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actions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theo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thời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gian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currentIndex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là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biến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lưu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vị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trí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cho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biết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đang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ở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đâu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trong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chuỗi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thời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gian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Hàm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copyWith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sẽ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tạo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bản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sao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mới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của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state,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không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làm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thay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đổi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state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cũ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để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đảm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bảo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tính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bất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biến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+mn-lt"/>
                <a:cs typeface="Times New Roman" panose="02020603050405020304" pitchFamily="18" charset="0"/>
              </a:rPr>
              <a:t>của</a:t>
            </a:r>
            <a:r>
              <a:rPr lang="en-US" sz="1800" dirty="0">
                <a:latin typeface="+mn-lt"/>
                <a:cs typeface="Times New Roman" panose="02020603050405020304" pitchFamily="18" charset="0"/>
              </a:rPr>
              <a:t> Redux.</a:t>
            </a:r>
          </a:p>
          <a:p>
            <a:pPr marL="342900" marR="0" lvl="0" indent="-342900" algn="just">
              <a:lnSpc>
                <a:spcPct val="115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endParaRPr lang="en-US" kern="100" dirty="0">
              <a:effectLst/>
              <a:latin typeface="+mn-lt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67666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C3556F24-08A6-A83C-1912-5693319F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6486CC9-DB8A-71FC-C187-B73B077558EF}"/>
              </a:ext>
            </a:extLst>
          </p:cNvPr>
          <p:cNvSpPr/>
          <p:nvPr/>
        </p:nvSpPr>
        <p:spPr>
          <a:xfrm>
            <a:off x="609836" y="-1155"/>
            <a:ext cx="5003074" cy="650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 dirty="0">
                <a:solidFill>
                  <a:srgbClr val="2073BE"/>
                </a:solidFill>
              </a:rPr>
              <a:t>Tài </a:t>
            </a:r>
            <a:r>
              <a:rPr lang="en-US" sz="2400" b="1" dirty="0" err="1">
                <a:solidFill>
                  <a:srgbClr val="2073BE"/>
                </a:solidFill>
              </a:rPr>
              <a:t>liệu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tham</a:t>
            </a:r>
            <a:r>
              <a:rPr lang="en-US" sz="2400" b="1" dirty="0">
                <a:solidFill>
                  <a:srgbClr val="2073BE"/>
                </a:solidFill>
              </a:rPr>
              <a:t> </a:t>
            </a:r>
            <a:r>
              <a:rPr lang="en-US" sz="2400" b="1" dirty="0" err="1">
                <a:solidFill>
                  <a:srgbClr val="2073BE"/>
                </a:solidFill>
              </a:rPr>
              <a:t>khảo</a:t>
            </a:r>
            <a:endParaRPr lang="en-US" sz="2400" b="1" dirty="0">
              <a:solidFill>
                <a:srgbClr val="2073BE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7B8498-CBE5-B971-07A5-BD2F15955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499536" cy="5097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8C839C-5E7D-2E32-38E3-74FB9BB467AC}"/>
              </a:ext>
            </a:extLst>
          </p:cNvPr>
          <p:cNvSpPr txBox="1"/>
          <p:nvPr/>
        </p:nvSpPr>
        <p:spPr>
          <a:xfrm>
            <a:off x="102742" y="827974"/>
            <a:ext cx="9041258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en-US" sz="1600" dirty="0"/>
              <a:t>[1] </a:t>
            </a:r>
            <a:r>
              <a:rPr lang="en-GB" sz="1600" dirty="0"/>
              <a:t>“Redux and Side Effects – Side Effects Approaches,” Redux,</a:t>
            </a:r>
            <a:endParaRPr lang="en-US" sz="1600" dirty="0"/>
          </a:p>
          <a:p>
            <a:pPr algn="just"/>
            <a:r>
              <a:rPr lang="en-US" sz="1600" dirty="0"/>
              <a:t>Link: </a:t>
            </a:r>
            <a:r>
              <a:rPr lang="en-US" sz="1600" u="sng" dirty="0">
                <a:hlinkClick r:id="rId4"/>
              </a:rPr>
              <a:t>https://redux.js.org/usage/side-effects-approaches#redux-and-side-effects</a:t>
            </a:r>
            <a:endParaRPr lang="en-US" sz="1600" u="sng" dirty="0"/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[2] </a:t>
            </a:r>
            <a:r>
              <a:rPr lang="en-GB" sz="1600" dirty="0"/>
              <a:t>“Understanding Middleware,” Redux,</a:t>
            </a:r>
            <a:endParaRPr lang="en-US" sz="1600" dirty="0"/>
          </a:p>
          <a:p>
            <a:pPr algn="just"/>
            <a:r>
              <a:rPr lang="en-US" sz="1600" dirty="0"/>
              <a:t>Link </a:t>
            </a:r>
            <a:r>
              <a:rPr lang="en-US" sz="1600" u="sng" dirty="0">
                <a:hlinkClick r:id="rId5"/>
              </a:rPr>
              <a:t>https://redux.js.org/understanding/history-and-design/middleware#understanding-middleware</a:t>
            </a:r>
            <a:endParaRPr lang="en-US" sz="1600" u="sng" dirty="0"/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[3] </a:t>
            </a:r>
            <a:r>
              <a:rPr lang="en-GB" sz="1600" dirty="0"/>
              <a:t>T. M. “Flutter Redux – Complete tutorial with examples,” </a:t>
            </a:r>
            <a:r>
              <a:rPr lang="en-GB" sz="1600" dirty="0" err="1"/>
              <a:t>LogRocket</a:t>
            </a:r>
            <a:r>
              <a:rPr lang="en-GB" sz="1600" dirty="0"/>
              <a:t> Blog,</a:t>
            </a:r>
            <a:endParaRPr lang="en-US" sz="1600" dirty="0"/>
          </a:p>
          <a:p>
            <a:pPr algn="just"/>
            <a:r>
              <a:rPr lang="en-US" sz="1600" dirty="0"/>
              <a:t>Link: </a:t>
            </a:r>
            <a:r>
              <a:rPr lang="en-US" sz="1600" u="sng" dirty="0">
                <a:hlinkClick r:id="rId6"/>
              </a:rPr>
              <a:t>https://blog.logrocket.com/flutter-redux-complete-tutorial-with-examples/</a:t>
            </a:r>
            <a:endParaRPr lang="en-US" sz="1600" u="sng" dirty="0"/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[4] </a:t>
            </a:r>
            <a:r>
              <a:rPr lang="en-GB" sz="1600" dirty="0"/>
              <a:t>“Flutter: How to use Redux,” </a:t>
            </a:r>
            <a:r>
              <a:rPr lang="en-GB" sz="1600" dirty="0" err="1"/>
              <a:t>Viblo</a:t>
            </a:r>
            <a:r>
              <a:rPr lang="en-GB" sz="1600" dirty="0"/>
              <a:t>,</a:t>
            </a:r>
            <a:endParaRPr lang="en-US" sz="1600" dirty="0"/>
          </a:p>
          <a:p>
            <a:pPr algn="just"/>
            <a:r>
              <a:rPr lang="en-US" sz="1600" dirty="0"/>
              <a:t>Link: </a:t>
            </a:r>
            <a:r>
              <a:rPr lang="en-US" sz="1600" u="sng" dirty="0">
                <a:hlinkClick r:id="rId7"/>
              </a:rPr>
              <a:t>https://viblo.asia/p/flutter-how-to-use-redux-1VgZvpgO5Aw</a:t>
            </a:r>
            <a:endParaRPr lang="en-US" sz="1600" u="sng" dirty="0"/>
          </a:p>
          <a:p>
            <a:pPr algn="just"/>
            <a:endParaRPr lang="en-US" sz="1600" dirty="0"/>
          </a:p>
          <a:p>
            <a:pPr algn="just"/>
            <a:r>
              <a:rPr lang="en-US" sz="1600" dirty="0"/>
              <a:t>[5] </a:t>
            </a:r>
            <a:r>
              <a:rPr lang="en-GB" sz="1600" dirty="0"/>
              <a:t>“Flutter Redux,” Hybrid Heroes Blog,</a:t>
            </a:r>
            <a:endParaRPr lang="en-US" sz="1600" dirty="0"/>
          </a:p>
          <a:p>
            <a:pPr algn="just"/>
            <a:r>
              <a:rPr lang="en-US" sz="1600" dirty="0"/>
              <a:t>Link: </a:t>
            </a:r>
            <a:r>
              <a:rPr lang="en-US" sz="1600" u="sng" dirty="0">
                <a:hlinkClick r:id="rId8"/>
              </a:rPr>
              <a:t>https://hybridheroes.de/blog/2019-06-03-flutter-redux/</a:t>
            </a:r>
            <a:endParaRPr lang="en-US" sz="1600" dirty="0"/>
          </a:p>
          <a:p>
            <a:pPr algn="just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830903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>
          <a:extLst>
            <a:ext uri="{FF2B5EF4-FFF2-40B4-BE49-F238E27FC236}">
              <a16:creationId xmlns:a16="http://schemas.microsoft.com/office/drawing/2014/main" id="{65CE7C65-06F6-B823-E891-34E2E6C97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17">
            <a:extLst>
              <a:ext uri="{FF2B5EF4-FFF2-40B4-BE49-F238E27FC236}">
                <a16:creationId xmlns:a16="http://schemas.microsoft.com/office/drawing/2014/main" id="{4FCC6982-90FF-6ADB-AE37-095E18B2B50D}"/>
              </a:ext>
            </a:extLst>
          </p:cNvPr>
          <p:cNvSpPr txBox="1"/>
          <p:nvPr/>
        </p:nvSpPr>
        <p:spPr>
          <a:xfrm>
            <a:off x="1217051" y="1634569"/>
            <a:ext cx="67098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Xin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cảm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ơn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Thầy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và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các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bạn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đã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chú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ý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lắng</a:t>
            </a:r>
            <a:r>
              <a:rPr lang="en-US" sz="4000" b="1" dirty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20000" endPos="45500" dir="5400000" sy="-100000" algn="bl" rotWithShape="0"/>
                </a:effectLst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nghe</a:t>
            </a:r>
            <a:endParaRPr lang="vi-VN" sz="4000" b="1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20000" endPos="45500" dir="5400000" sy="-100000" algn="bl" rotWithShape="0"/>
              </a:effectLst>
              <a:latin typeface="Cambria" panose="020405030504060302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oogle Shape;9222;p75">
            <a:extLst>
              <a:ext uri="{FF2B5EF4-FFF2-40B4-BE49-F238E27FC236}">
                <a16:creationId xmlns:a16="http://schemas.microsoft.com/office/drawing/2014/main" id="{50B7C044-C41A-B827-6BC4-73FFD843ADC6}"/>
              </a:ext>
            </a:extLst>
          </p:cNvPr>
          <p:cNvGrpSpPr/>
          <p:nvPr/>
        </p:nvGrpSpPr>
        <p:grpSpPr>
          <a:xfrm>
            <a:off x="8258622" y="11014"/>
            <a:ext cx="821640" cy="762631"/>
            <a:chOff x="6824010" y="3488164"/>
            <a:chExt cx="1899552" cy="1588766"/>
          </a:xfrm>
        </p:grpSpPr>
        <p:grpSp>
          <p:nvGrpSpPr>
            <p:cNvPr id="4" name="Google Shape;9223;p75">
              <a:extLst>
                <a:ext uri="{FF2B5EF4-FFF2-40B4-BE49-F238E27FC236}">
                  <a16:creationId xmlns:a16="http://schemas.microsoft.com/office/drawing/2014/main" id="{F3E25585-2BB1-A39C-DC3B-04416DE9AEDD}"/>
                </a:ext>
              </a:extLst>
            </p:cNvPr>
            <p:cNvGrpSpPr/>
            <p:nvPr/>
          </p:nvGrpSpPr>
          <p:grpSpPr>
            <a:xfrm>
              <a:off x="7549470" y="3488164"/>
              <a:ext cx="1174093" cy="1588766"/>
              <a:chOff x="2505443" y="8861307"/>
              <a:chExt cx="695264" cy="940766"/>
            </a:xfrm>
          </p:grpSpPr>
          <p:sp>
            <p:nvSpPr>
              <p:cNvPr id="9" name="Google Shape;9224;p75">
                <a:extLst>
                  <a:ext uri="{FF2B5EF4-FFF2-40B4-BE49-F238E27FC236}">
                    <a16:creationId xmlns:a16="http://schemas.microsoft.com/office/drawing/2014/main" id="{3F3623ED-19EA-22A3-A652-FF25BDB60486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9225;p75">
                <a:extLst>
                  <a:ext uri="{FF2B5EF4-FFF2-40B4-BE49-F238E27FC236}">
                    <a16:creationId xmlns:a16="http://schemas.microsoft.com/office/drawing/2014/main" id="{B0D1E382-6ED1-68C8-B333-5561F40F22A9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378436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7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59" y="611"/>
                    </a:lnTo>
                    <a:lnTo>
                      <a:pt x="138" y="654"/>
                    </a:lnTo>
                    <a:lnTo>
                      <a:pt x="1165" y="1251"/>
                    </a:lnTo>
                    <a:lnTo>
                      <a:pt x="1224" y="1281"/>
                    </a:lnTo>
                    <a:lnTo>
                      <a:pt x="1303" y="1324"/>
                    </a:lnTo>
                    <a:lnTo>
                      <a:pt x="1891" y="1669"/>
                    </a:lnTo>
                    <a:lnTo>
                      <a:pt x="3164" y="2402"/>
                    </a:lnTo>
                    <a:lnTo>
                      <a:pt x="3164" y="4974"/>
                    </a:lnTo>
                    <a:lnTo>
                      <a:pt x="3164" y="5687"/>
                    </a:lnTo>
                    <a:lnTo>
                      <a:pt x="3164" y="7030"/>
                    </a:lnTo>
                    <a:lnTo>
                      <a:pt x="3623" y="7296"/>
                    </a:lnTo>
                    <a:lnTo>
                      <a:pt x="3623" y="5242"/>
                    </a:lnTo>
                    <a:lnTo>
                      <a:pt x="3623" y="3135"/>
                    </a:lnTo>
                    <a:lnTo>
                      <a:pt x="3623" y="2136"/>
                    </a:lnTo>
                    <a:lnTo>
                      <a:pt x="1898" y="1144"/>
                    </a:lnTo>
                    <a:lnTo>
                      <a:pt x="1303" y="799"/>
                    </a:lnTo>
                    <a:lnTo>
                      <a:pt x="1224" y="756"/>
                    </a:lnTo>
                    <a:lnTo>
                      <a:pt x="1165" y="720"/>
                    </a:lnTo>
                    <a:lnTo>
                      <a:pt x="239" y="187"/>
                    </a:lnTo>
                    <a:lnTo>
                      <a:pt x="189" y="159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23" y="58"/>
                      <a:pt x="0" y="30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9226;p75">
                <a:extLst>
                  <a:ext uri="{FF2B5EF4-FFF2-40B4-BE49-F238E27FC236}">
                    <a16:creationId xmlns:a16="http://schemas.microsoft.com/office/drawing/2014/main" id="{9A67456F-13C0-5173-9A6C-312FD66E5EA2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9227;p75">
                <a:extLst>
                  <a:ext uri="{FF2B5EF4-FFF2-40B4-BE49-F238E27FC236}">
                    <a16:creationId xmlns:a16="http://schemas.microsoft.com/office/drawing/2014/main" id="{3069FDE5-BB76-0B01-1FA7-EBFADCF60199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9228;p75">
                <a:extLst>
                  <a:ext uri="{FF2B5EF4-FFF2-40B4-BE49-F238E27FC236}">
                    <a16:creationId xmlns:a16="http://schemas.microsoft.com/office/drawing/2014/main" id="{2F7699BA-F411-96D6-6120-AD31FFBAB82B}"/>
                  </a:ext>
                </a:extLst>
              </p:cNvPr>
              <p:cNvSpPr/>
              <p:nvPr/>
            </p:nvSpPr>
            <p:spPr>
              <a:xfrm>
                <a:off x="2762956" y="8869348"/>
                <a:ext cx="428038" cy="754679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7227" extrusionOk="0">
                    <a:moveTo>
                      <a:pt x="489" y="1"/>
                    </a:moveTo>
                    <a:cubicBezTo>
                      <a:pt x="472" y="1"/>
                      <a:pt x="456" y="4"/>
                      <a:pt x="446" y="11"/>
                    </a:cubicBezTo>
                    <a:lnTo>
                      <a:pt x="15" y="263"/>
                    </a:lnTo>
                    <a:cubicBezTo>
                      <a:pt x="15" y="263"/>
                      <a:pt x="8" y="263"/>
                      <a:pt x="8" y="270"/>
                    </a:cubicBezTo>
                    <a:cubicBezTo>
                      <a:pt x="1" y="277"/>
                      <a:pt x="1" y="277"/>
                      <a:pt x="1" y="283"/>
                    </a:cubicBezTo>
                    <a:cubicBezTo>
                      <a:pt x="1" y="299"/>
                      <a:pt x="8" y="306"/>
                      <a:pt x="15" y="313"/>
                    </a:cubicBezTo>
                    <a:lnTo>
                      <a:pt x="144" y="385"/>
                    </a:lnTo>
                    <a:lnTo>
                      <a:pt x="532" y="163"/>
                    </a:lnTo>
                    <a:lnTo>
                      <a:pt x="3969" y="2147"/>
                    </a:lnTo>
                    <a:lnTo>
                      <a:pt x="3969" y="7084"/>
                    </a:lnTo>
                    <a:lnTo>
                      <a:pt x="3910" y="7120"/>
                    </a:lnTo>
                    <a:lnTo>
                      <a:pt x="4098" y="7227"/>
                    </a:lnTo>
                    <a:lnTo>
                      <a:pt x="4098" y="2067"/>
                    </a:lnTo>
                    <a:lnTo>
                      <a:pt x="532" y="11"/>
                    </a:lnTo>
                    <a:cubicBezTo>
                      <a:pt x="521" y="4"/>
                      <a:pt x="505" y="1"/>
                      <a:pt x="4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229;p75">
                <a:extLst>
                  <a:ext uri="{FF2B5EF4-FFF2-40B4-BE49-F238E27FC236}">
                    <a16:creationId xmlns:a16="http://schemas.microsoft.com/office/drawing/2014/main" id="{9BF3DFAB-0F93-BFB7-DB1E-96CABE659E17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104" cy="60253"/>
              </a:xfrm>
              <a:custGeom>
                <a:avLst/>
                <a:gdLst/>
                <a:ahLst/>
                <a:cxnLst/>
                <a:rect l="l" t="t" r="r" b="b"/>
                <a:pathLst>
                  <a:path w="1" h="577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1" y="57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230;p75">
                <a:extLst>
                  <a:ext uri="{FF2B5EF4-FFF2-40B4-BE49-F238E27FC236}">
                    <a16:creationId xmlns:a16="http://schemas.microsoft.com/office/drawing/2014/main" id="{7B360586-979B-CBAE-9FF2-C96D36C4DC2C}"/>
                  </a:ext>
                </a:extLst>
              </p:cNvPr>
              <p:cNvSpPr/>
              <p:nvPr/>
            </p:nvSpPr>
            <p:spPr>
              <a:xfrm>
                <a:off x="3190891" y="9079974"/>
                <a:ext cx="9816" cy="544054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0" extrusionOk="0">
                    <a:moveTo>
                      <a:pt x="93" y="0"/>
                    </a:moveTo>
                    <a:lnTo>
                      <a:pt x="0" y="50"/>
                    </a:lnTo>
                    <a:lnTo>
                      <a:pt x="0" y="5210"/>
                    </a:lnTo>
                    <a:lnTo>
                      <a:pt x="93" y="5153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231;p75">
                <a:extLst>
                  <a:ext uri="{FF2B5EF4-FFF2-40B4-BE49-F238E27FC236}">
                    <a16:creationId xmlns:a16="http://schemas.microsoft.com/office/drawing/2014/main" id="{AE54DC45-76AE-16FA-E2D6-5C4CD11B5C10}"/>
                  </a:ext>
                </a:extLst>
              </p:cNvPr>
              <p:cNvSpPr/>
              <p:nvPr/>
            </p:nvSpPr>
            <p:spPr>
              <a:xfrm>
                <a:off x="2777993" y="8886265"/>
                <a:ext cx="399426" cy="230570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8" extrusionOk="0">
                    <a:moveTo>
                      <a:pt x="388" y="1"/>
                    </a:moveTo>
                    <a:lnTo>
                      <a:pt x="0" y="223"/>
                    </a:lnTo>
                    <a:lnTo>
                      <a:pt x="3437" y="2207"/>
                    </a:lnTo>
                    <a:lnTo>
                      <a:pt x="3825" y="1985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232;p75">
                <a:extLst>
                  <a:ext uri="{FF2B5EF4-FFF2-40B4-BE49-F238E27FC236}">
                    <a16:creationId xmlns:a16="http://schemas.microsoft.com/office/drawing/2014/main" id="{E4CDD67A-4F46-969B-7FC2-21236855D3FE}"/>
                  </a:ext>
                </a:extLst>
              </p:cNvPr>
              <p:cNvSpPr/>
              <p:nvPr/>
            </p:nvSpPr>
            <p:spPr>
              <a:xfrm>
                <a:off x="3136799" y="9093445"/>
                <a:ext cx="40621" cy="539668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8" extrusionOk="0">
                    <a:moveTo>
                      <a:pt x="389" y="1"/>
                    </a:moveTo>
                    <a:lnTo>
                      <a:pt x="1" y="223"/>
                    </a:lnTo>
                    <a:lnTo>
                      <a:pt x="1" y="4779"/>
                    </a:lnTo>
                    <a:lnTo>
                      <a:pt x="1" y="5167"/>
                    </a:lnTo>
                    <a:lnTo>
                      <a:pt x="330" y="4974"/>
                    </a:lnTo>
                    <a:lnTo>
                      <a:pt x="389" y="4938"/>
                    </a:lnTo>
                    <a:lnTo>
                      <a:pt x="389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233;p75">
                <a:extLst>
                  <a:ext uri="{FF2B5EF4-FFF2-40B4-BE49-F238E27FC236}">
                    <a16:creationId xmlns:a16="http://schemas.microsoft.com/office/drawing/2014/main" id="{AEA53ABD-9DA4-910D-2470-2882F141047D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234;p75">
                <a:extLst>
                  <a:ext uri="{FF2B5EF4-FFF2-40B4-BE49-F238E27FC236}">
                    <a16:creationId xmlns:a16="http://schemas.microsoft.com/office/drawing/2014/main" id="{5E78AD70-1043-BACB-C536-E05355A7C18F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235;p75">
                <a:extLst>
                  <a:ext uri="{FF2B5EF4-FFF2-40B4-BE49-F238E27FC236}">
                    <a16:creationId xmlns:a16="http://schemas.microsoft.com/office/drawing/2014/main" id="{E8896F64-82D8-8530-B06C-02B38347308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236;p75">
                <a:extLst>
                  <a:ext uri="{FF2B5EF4-FFF2-40B4-BE49-F238E27FC236}">
                    <a16:creationId xmlns:a16="http://schemas.microsoft.com/office/drawing/2014/main" id="{B88A19DB-93C0-8BA1-8B6F-E2B4796A0644}"/>
                  </a:ext>
                </a:extLst>
              </p:cNvPr>
              <p:cNvSpPr/>
              <p:nvPr/>
            </p:nvSpPr>
            <p:spPr>
              <a:xfrm>
                <a:off x="2748545" y="8898900"/>
                <a:ext cx="378436" cy="762094"/>
              </a:xfrm>
              <a:custGeom>
                <a:avLst/>
                <a:gdLst/>
                <a:ahLst/>
                <a:cxnLst/>
                <a:rect l="l" t="t" r="r" b="b"/>
                <a:pathLst>
                  <a:path w="3624" h="7298" extrusionOk="0">
                    <a:moveTo>
                      <a:pt x="1" y="0"/>
                    </a:moveTo>
                    <a:lnTo>
                      <a:pt x="1" y="577"/>
                    </a:lnTo>
                    <a:lnTo>
                      <a:pt x="60" y="613"/>
                    </a:lnTo>
                    <a:lnTo>
                      <a:pt x="139" y="656"/>
                    </a:lnTo>
                    <a:lnTo>
                      <a:pt x="3165" y="2402"/>
                    </a:lnTo>
                    <a:lnTo>
                      <a:pt x="3165" y="6326"/>
                    </a:lnTo>
                    <a:lnTo>
                      <a:pt x="3165" y="7030"/>
                    </a:lnTo>
                    <a:lnTo>
                      <a:pt x="3624" y="7298"/>
                    </a:lnTo>
                    <a:lnTo>
                      <a:pt x="3624" y="6592"/>
                    </a:lnTo>
                    <a:lnTo>
                      <a:pt x="3624" y="2143"/>
                    </a:lnTo>
                    <a:lnTo>
                      <a:pt x="189" y="159"/>
                    </a:lnTo>
                    <a:lnTo>
                      <a:pt x="139" y="130"/>
                    </a:lnTo>
                    <a:lnTo>
                      <a:pt x="60" y="87"/>
                    </a:lnTo>
                    <a:cubicBezTo>
                      <a:pt x="53" y="80"/>
                      <a:pt x="53" y="80"/>
                      <a:pt x="44" y="73"/>
                    </a:cubicBezTo>
                    <a:cubicBezTo>
                      <a:pt x="37" y="73"/>
                      <a:pt x="30" y="66"/>
                      <a:pt x="23" y="59"/>
                    </a:cubicBezTo>
                    <a:cubicBezTo>
                      <a:pt x="10" y="37"/>
                      <a:pt x="1" y="23"/>
                      <a:pt x="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237;p75">
                <a:extLst>
                  <a:ext uri="{FF2B5EF4-FFF2-40B4-BE49-F238E27FC236}">
                    <a16:creationId xmlns:a16="http://schemas.microsoft.com/office/drawing/2014/main" id="{BF5C1714-7CCC-5EB3-2D08-91A4072609D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238;p75">
                <a:extLst>
                  <a:ext uri="{FF2B5EF4-FFF2-40B4-BE49-F238E27FC236}">
                    <a16:creationId xmlns:a16="http://schemas.microsoft.com/office/drawing/2014/main" id="{6B89834E-C90E-63CE-E4FD-1CE128870703}"/>
                  </a:ext>
                </a:extLst>
              </p:cNvPr>
              <p:cNvSpPr/>
              <p:nvPr/>
            </p:nvSpPr>
            <p:spPr>
              <a:xfrm>
                <a:off x="2748545" y="8861307"/>
                <a:ext cx="452160" cy="261480"/>
              </a:xfrm>
              <a:custGeom>
                <a:avLst/>
                <a:gdLst/>
                <a:ahLst/>
                <a:cxnLst/>
                <a:rect l="l" t="t" r="r" b="b"/>
                <a:pathLst>
                  <a:path w="4330" h="2504" extrusionOk="0">
                    <a:moveTo>
                      <a:pt x="627" y="0"/>
                    </a:moveTo>
                    <a:cubicBezTo>
                      <a:pt x="576" y="0"/>
                      <a:pt x="526" y="13"/>
                      <a:pt x="491" y="38"/>
                    </a:cubicBezTo>
                    <a:lnTo>
                      <a:pt x="60" y="283"/>
                    </a:lnTo>
                    <a:cubicBezTo>
                      <a:pt x="23" y="304"/>
                      <a:pt x="1" y="333"/>
                      <a:pt x="1" y="360"/>
                    </a:cubicBezTo>
                    <a:cubicBezTo>
                      <a:pt x="1" y="383"/>
                      <a:pt x="10" y="397"/>
                      <a:pt x="23" y="419"/>
                    </a:cubicBezTo>
                    <a:cubicBezTo>
                      <a:pt x="30" y="426"/>
                      <a:pt x="37" y="433"/>
                      <a:pt x="44" y="433"/>
                    </a:cubicBezTo>
                    <a:cubicBezTo>
                      <a:pt x="53" y="440"/>
                      <a:pt x="53" y="440"/>
                      <a:pt x="60" y="447"/>
                    </a:cubicBezTo>
                    <a:lnTo>
                      <a:pt x="139" y="490"/>
                    </a:lnTo>
                    <a:lnTo>
                      <a:pt x="189" y="519"/>
                    </a:lnTo>
                    <a:lnTo>
                      <a:pt x="3624" y="2503"/>
                    </a:lnTo>
                    <a:lnTo>
                      <a:pt x="3719" y="2446"/>
                    </a:lnTo>
                    <a:lnTo>
                      <a:pt x="282" y="462"/>
                    </a:lnTo>
                    <a:lnTo>
                      <a:pt x="153" y="390"/>
                    </a:lnTo>
                    <a:cubicBezTo>
                      <a:pt x="146" y="383"/>
                      <a:pt x="139" y="376"/>
                      <a:pt x="139" y="360"/>
                    </a:cubicBezTo>
                    <a:cubicBezTo>
                      <a:pt x="139" y="354"/>
                      <a:pt x="139" y="354"/>
                      <a:pt x="146" y="347"/>
                    </a:cubicBezTo>
                    <a:cubicBezTo>
                      <a:pt x="146" y="340"/>
                      <a:pt x="153" y="340"/>
                      <a:pt x="153" y="340"/>
                    </a:cubicBezTo>
                    <a:lnTo>
                      <a:pt x="584" y="88"/>
                    </a:lnTo>
                    <a:cubicBezTo>
                      <a:pt x="594" y="81"/>
                      <a:pt x="610" y="78"/>
                      <a:pt x="627" y="78"/>
                    </a:cubicBezTo>
                    <a:cubicBezTo>
                      <a:pt x="643" y="78"/>
                      <a:pt x="659" y="81"/>
                      <a:pt x="670" y="88"/>
                    </a:cubicBezTo>
                    <a:lnTo>
                      <a:pt x="4236" y="2144"/>
                    </a:lnTo>
                    <a:lnTo>
                      <a:pt x="4329" y="2094"/>
                    </a:lnTo>
                    <a:lnTo>
                      <a:pt x="763" y="38"/>
                    </a:lnTo>
                    <a:cubicBezTo>
                      <a:pt x="727" y="13"/>
                      <a:pt x="677" y="0"/>
                      <a:pt x="62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239;p75">
                <a:extLst>
                  <a:ext uri="{FF2B5EF4-FFF2-40B4-BE49-F238E27FC236}">
                    <a16:creationId xmlns:a16="http://schemas.microsoft.com/office/drawing/2014/main" id="{DE88222D-1DE9-2EA2-2D43-B6B4302614B8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57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240;p75">
                <a:extLst>
                  <a:ext uri="{FF2B5EF4-FFF2-40B4-BE49-F238E27FC236}">
                    <a16:creationId xmlns:a16="http://schemas.microsoft.com/office/drawing/2014/main" id="{B112BC88-4869-B618-1461-E8FA0380A3FB}"/>
                  </a:ext>
                </a:extLst>
              </p:cNvPr>
              <p:cNvSpPr/>
              <p:nvPr/>
            </p:nvSpPr>
            <p:spPr>
              <a:xfrm>
                <a:off x="3126878" y="9116731"/>
                <a:ext cx="10025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2" extrusionOk="0">
                    <a:moveTo>
                      <a:pt x="96" y="0"/>
                    </a:moveTo>
                    <a:lnTo>
                      <a:pt x="1" y="57"/>
                    </a:lnTo>
                    <a:lnTo>
                      <a:pt x="1" y="4506"/>
                    </a:lnTo>
                    <a:lnTo>
                      <a:pt x="1" y="5212"/>
                    </a:lnTo>
                    <a:lnTo>
                      <a:pt x="96" y="5160"/>
                    </a:lnTo>
                    <a:lnTo>
                      <a:pt x="96" y="4556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241;p75">
                <a:extLst>
                  <a:ext uri="{FF2B5EF4-FFF2-40B4-BE49-F238E27FC236}">
                    <a16:creationId xmlns:a16="http://schemas.microsoft.com/office/drawing/2014/main" id="{1E61F861-5A5B-2DF3-6538-0BE541EA3C88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242;p75">
                <a:extLst>
                  <a:ext uri="{FF2B5EF4-FFF2-40B4-BE49-F238E27FC236}">
                    <a16:creationId xmlns:a16="http://schemas.microsoft.com/office/drawing/2014/main" id="{7D05971D-A700-EF8E-2EA7-1BCA97A3FC6E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243;p75">
                <a:extLst>
                  <a:ext uri="{FF2B5EF4-FFF2-40B4-BE49-F238E27FC236}">
                    <a16:creationId xmlns:a16="http://schemas.microsoft.com/office/drawing/2014/main" id="{47AB2778-973A-505D-E2AE-9502AEDCCB5F}"/>
                  </a:ext>
                </a:extLst>
              </p:cNvPr>
              <p:cNvSpPr/>
              <p:nvPr/>
            </p:nvSpPr>
            <p:spPr>
              <a:xfrm>
                <a:off x="2641405" y="8939835"/>
                <a:ext cx="427934" cy="754888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9" extrusionOk="0">
                    <a:moveTo>
                      <a:pt x="488" y="0"/>
                    </a:moveTo>
                    <a:cubicBezTo>
                      <a:pt x="472" y="0"/>
                      <a:pt x="456" y="4"/>
                      <a:pt x="446" y="12"/>
                    </a:cubicBezTo>
                    <a:lnTo>
                      <a:pt x="14" y="264"/>
                    </a:lnTo>
                    <a:cubicBezTo>
                      <a:pt x="7" y="264"/>
                      <a:pt x="7" y="271"/>
                      <a:pt x="0" y="271"/>
                    </a:cubicBezTo>
                    <a:lnTo>
                      <a:pt x="0" y="278"/>
                    </a:lnTo>
                    <a:lnTo>
                      <a:pt x="0" y="285"/>
                    </a:lnTo>
                    <a:cubicBezTo>
                      <a:pt x="0" y="292"/>
                      <a:pt x="0" y="307"/>
                      <a:pt x="14" y="314"/>
                    </a:cubicBezTo>
                    <a:lnTo>
                      <a:pt x="144" y="385"/>
                    </a:lnTo>
                    <a:lnTo>
                      <a:pt x="532" y="162"/>
                    </a:lnTo>
                    <a:lnTo>
                      <a:pt x="1027" y="450"/>
                    </a:lnTo>
                    <a:lnTo>
                      <a:pt x="1086" y="480"/>
                    </a:lnTo>
                    <a:lnTo>
                      <a:pt x="1165" y="523"/>
                    </a:lnTo>
                    <a:lnTo>
                      <a:pt x="3968" y="2146"/>
                    </a:lnTo>
                    <a:lnTo>
                      <a:pt x="3968" y="7085"/>
                    </a:lnTo>
                    <a:lnTo>
                      <a:pt x="3910" y="7121"/>
                    </a:lnTo>
                    <a:lnTo>
                      <a:pt x="4098" y="7228"/>
                    </a:lnTo>
                    <a:lnTo>
                      <a:pt x="4098" y="5877"/>
                    </a:lnTo>
                    <a:lnTo>
                      <a:pt x="4098" y="2067"/>
                    </a:lnTo>
                    <a:lnTo>
                      <a:pt x="1165" y="371"/>
                    </a:lnTo>
                    <a:lnTo>
                      <a:pt x="1086" y="328"/>
                    </a:lnTo>
                    <a:lnTo>
                      <a:pt x="1027" y="298"/>
                    </a:lnTo>
                    <a:lnTo>
                      <a:pt x="532" y="12"/>
                    </a:lnTo>
                    <a:cubicBezTo>
                      <a:pt x="521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244;p75">
                <a:extLst>
                  <a:ext uri="{FF2B5EF4-FFF2-40B4-BE49-F238E27FC236}">
                    <a16:creationId xmlns:a16="http://schemas.microsoft.com/office/drawing/2014/main" id="{75CCBD08-08F9-637E-6995-990BBC7D58BB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245;p75">
                <a:extLst>
                  <a:ext uri="{FF2B5EF4-FFF2-40B4-BE49-F238E27FC236}">
                    <a16:creationId xmlns:a16="http://schemas.microsoft.com/office/drawing/2014/main" id="{CEF2C177-6940-E97C-6931-4FA96D4063AA}"/>
                  </a:ext>
                </a:extLst>
              </p:cNvPr>
              <p:cNvSpPr/>
              <p:nvPr/>
            </p:nvSpPr>
            <p:spPr>
              <a:xfrm>
                <a:off x="2626994" y="8969492"/>
                <a:ext cx="104" cy="60149"/>
              </a:xfrm>
              <a:custGeom>
                <a:avLst/>
                <a:gdLst/>
                <a:ahLst/>
                <a:cxnLst/>
                <a:rect l="l" t="t" r="r" b="b"/>
                <a:pathLst>
                  <a:path w="1" h="576" extrusionOk="0">
                    <a:moveTo>
                      <a:pt x="0" y="1"/>
                    </a:moveTo>
                    <a:lnTo>
                      <a:pt x="0" y="575"/>
                    </a:lnTo>
                    <a:lnTo>
                      <a:pt x="0" y="575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flat" cmpd="sng">
                <a:solidFill>
                  <a:schemeClr val="dk1"/>
                </a:solidFill>
                <a:prstDash val="solid"/>
                <a:miter lim="172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246;p75">
                <a:extLst>
                  <a:ext uri="{FF2B5EF4-FFF2-40B4-BE49-F238E27FC236}">
                    <a16:creationId xmlns:a16="http://schemas.microsoft.com/office/drawing/2014/main" id="{7D5C5171-AE36-9E99-8463-2F7D88B81BE9}"/>
                  </a:ext>
                </a:extLst>
              </p:cNvPr>
              <p:cNvSpPr/>
              <p:nvPr/>
            </p:nvSpPr>
            <p:spPr>
              <a:xfrm>
                <a:off x="3069235" y="9149625"/>
                <a:ext cx="9816" cy="545099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20" extrusionOk="0">
                    <a:moveTo>
                      <a:pt x="94" y="1"/>
                    </a:moveTo>
                    <a:lnTo>
                      <a:pt x="1" y="58"/>
                    </a:lnTo>
                    <a:lnTo>
                      <a:pt x="1" y="3868"/>
                    </a:lnTo>
                    <a:lnTo>
                      <a:pt x="1" y="5219"/>
                    </a:lnTo>
                    <a:lnTo>
                      <a:pt x="94" y="5162"/>
                    </a:lnTo>
                    <a:lnTo>
                      <a:pt x="94" y="3925"/>
                    </a:lnTo>
                    <a:lnTo>
                      <a:pt x="94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247;p75">
                <a:extLst>
                  <a:ext uri="{FF2B5EF4-FFF2-40B4-BE49-F238E27FC236}">
                    <a16:creationId xmlns:a16="http://schemas.microsoft.com/office/drawing/2014/main" id="{A351B008-893C-5C82-A997-8A5F70775D3C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248;p75">
                <a:extLst>
                  <a:ext uri="{FF2B5EF4-FFF2-40B4-BE49-F238E27FC236}">
                    <a16:creationId xmlns:a16="http://schemas.microsoft.com/office/drawing/2014/main" id="{0A548714-B2CC-BC78-9917-0468A19CA9A4}"/>
                  </a:ext>
                </a:extLst>
              </p:cNvPr>
              <p:cNvSpPr/>
              <p:nvPr/>
            </p:nvSpPr>
            <p:spPr>
              <a:xfrm>
                <a:off x="2656337" y="8956752"/>
                <a:ext cx="399530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6" h="2207" extrusionOk="0">
                    <a:moveTo>
                      <a:pt x="389" y="0"/>
                    </a:moveTo>
                    <a:lnTo>
                      <a:pt x="1" y="223"/>
                    </a:lnTo>
                    <a:lnTo>
                      <a:pt x="884" y="733"/>
                    </a:lnTo>
                    <a:lnTo>
                      <a:pt x="943" y="763"/>
                    </a:lnTo>
                    <a:lnTo>
                      <a:pt x="1022" y="813"/>
                    </a:lnTo>
                    <a:lnTo>
                      <a:pt x="1617" y="1151"/>
                    </a:lnTo>
                    <a:lnTo>
                      <a:pt x="3437" y="2207"/>
                    </a:lnTo>
                    <a:lnTo>
                      <a:pt x="3601" y="2107"/>
                    </a:lnTo>
                    <a:lnTo>
                      <a:pt x="3825" y="1984"/>
                    </a:lnTo>
                    <a:lnTo>
                      <a:pt x="1022" y="361"/>
                    </a:lnTo>
                    <a:lnTo>
                      <a:pt x="943" y="318"/>
                    </a:lnTo>
                    <a:lnTo>
                      <a:pt x="884" y="288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249;p75">
                <a:extLst>
                  <a:ext uri="{FF2B5EF4-FFF2-40B4-BE49-F238E27FC236}">
                    <a16:creationId xmlns:a16="http://schemas.microsoft.com/office/drawing/2014/main" id="{96F5F521-04F5-4E64-5AEC-80D2B595CA49}"/>
                  </a:ext>
                </a:extLst>
              </p:cNvPr>
              <p:cNvSpPr/>
              <p:nvPr/>
            </p:nvSpPr>
            <p:spPr>
              <a:xfrm>
                <a:off x="3015248" y="9163932"/>
                <a:ext cx="40621" cy="539042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2" extrusionOk="0">
                    <a:moveTo>
                      <a:pt x="388" y="0"/>
                    </a:moveTo>
                    <a:lnTo>
                      <a:pt x="164" y="123"/>
                    </a:lnTo>
                    <a:lnTo>
                      <a:pt x="0" y="223"/>
                    </a:lnTo>
                    <a:lnTo>
                      <a:pt x="0" y="1330"/>
                    </a:lnTo>
                    <a:lnTo>
                      <a:pt x="0" y="3436"/>
                    </a:lnTo>
                    <a:lnTo>
                      <a:pt x="0" y="5162"/>
                    </a:lnTo>
                    <a:lnTo>
                      <a:pt x="330" y="4975"/>
                    </a:lnTo>
                    <a:lnTo>
                      <a:pt x="388" y="4939"/>
                    </a:lnTo>
                    <a:lnTo>
                      <a:pt x="388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250;p75">
                <a:extLst>
                  <a:ext uri="{FF2B5EF4-FFF2-40B4-BE49-F238E27FC236}">
                    <a16:creationId xmlns:a16="http://schemas.microsoft.com/office/drawing/2014/main" id="{E8F967A2-6E2C-8486-9BE4-230E20610AF7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9251;p75">
                <a:extLst>
                  <a:ext uri="{FF2B5EF4-FFF2-40B4-BE49-F238E27FC236}">
                    <a16:creationId xmlns:a16="http://schemas.microsoft.com/office/drawing/2014/main" id="{74195B9D-85BA-BA41-0ABC-C0A049422768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9252;p75">
                <a:extLst>
                  <a:ext uri="{FF2B5EF4-FFF2-40B4-BE49-F238E27FC236}">
                    <a16:creationId xmlns:a16="http://schemas.microsoft.com/office/drawing/2014/main" id="{F98D2D1C-895F-2555-256C-2B2B9A6390B4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9253;p75">
                <a:extLst>
                  <a:ext uri="{FF2B5EF4-FFF2-40B4-BE49-F238E27FC236}">
                    <a16:creationId xmlns:a16="http://schemas.microsoft.com/office/drawing/2014/main" id="{52E2A40D-4333-F86D-BB61-4E906980095D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9254;p75">
                <a:extLst>
                  <a:ext uri="{FF2B5EF4-FFF2-40B4-BE49-F238E27FC236}">
                    <a16:creationId xmlns:a16="http://schemas.microsoft.com/office/drawing/2014/main" id="{3E48B3B4-F99C-6883-30E5-EAD2E11A9996}"/>
                  </a:ext>
                </a:extLst>
              </p:cNvPr>
              <p:cNvSpPr/>
              <p:nvPr/>
            </p:nvSpPr>
            <p:spPr>
              <a:xfrm>
                <a:off x="2626994" y="8931585"/>
                <a:ext cx="452056" cy="261063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500" extrusionOk="0">
                    <a:moveTo>
                      <a:pt x="626" y="0"/>
                    </a:moveTo>
                    <a:cubicBezTo>
                      <a:pt x="576" y="0"/>
                      <a:pt x="526" y="11"/>
                      <a:pt x="490" y="32"/>
                    </a:cubicBezTo>
                    <a:lnTo>
                      <a:pt x="59" y="284"/>
                    </a:lnTo>
                    <a:cubicBezTo>
                      <a:pt x="23" y="307"/>
                      <a:pt x="0" y="334"/>
                      <a:pt x="0" y="364"/>
                    </a:cubicBezTo>
                    <a:cubicBezTo>
                      <a:pt x="0" y="393"/>
                      <a:pt x="23" y="421"/>
                      <a:pt x="59" y="443"/>
                    </a:cubicBezTo>
                    <a:lnTo>
                      <a:pt x="138" y="486"/>
                    </a:lnTo>
                    <a:lnTo>
                      <a:pt x="189" y="522"/>
                    </a:lnTo>
                    <a:lnTo>
                      <a:pt x="239" y="550"/>
                    </a:lnTo>
                    <a:lnTo>
                      <a:pt x="1165" y="1083"/>
                    </a:lnTo>
                    <a:lnTo>
                      <a:pt x="1224" y="1119"/>
                    </a:lnTo>
                    <a:lnTo>
                      <a:pt x="1303" y="1162"/>
                    </a:lnTo>
                    <a:lnTo>
                      <a:pt x="1898" y="1507"/>
                    </a:lnTo>
                    <a:lnTo>
                      <a:pt x="3623" y="2499"/>
                    </a:lnTo>
                    <a:lnTo>
                      <a:pt x="3718" y="2448"/>
                    </a:lnTo>
                    <a:lnTo>
                      <a:pt x="1898" y="1392"/>
                    </a:lnTo>
                    <a:lnTo>
                      <a:pt x="1303" y="1054"/>
                    </a:lnTo>
                    <a:lnTo>
                      <a:pt x="1224" y="1004"/>
                    </a:lnTo>
                    <a:lnTo>
                      <a:pt x="1165" y="974"/>
                    </a:lnTo>
                    <a:lnTo>
                      <a:pt x="282" y="464"/>
                    </a:lnTo>
                    <a:lnTo>
                      <a:pt x="152" y="393"/>
                    </a:lnTo>
                    <a:cubicBezTo>
                      <a:pt x="138" y="386"/>
                      <a:pt x="138" y="371"/>
                      <a:pt x="138" y="364"/>
                    </a:cubicBezTo>
                    <a:lnTo>
                      <a:pt x="138" y="357"/>
                    </a:lnTo>
                    <a:lnTo>
                      <a:pt x="138" y="350"/>
                    </a:lnTo>
                    <a:cubicBezTo>
                      <a:pt x="145" y="350"/>
                      <a:pt x="145" y="343"/>
                      <a:pt x="152" y="343"/>
                    </a:cubicBezTo>
                    <a:lnTo>
                      <a:pt x="584" y="91"/>
                    </a:lnTo>
                    <a:cubicBezTo>
                      <a:pt x="594" y="83"/>
                      <a:pt x="610" y="79"/>
                      <a:pt x="626" y="79"/>
                    </a:cubicBezTo>
                    <a:cubicBezTo>
                      <a:pt x="642" y="79"/>
                      <a:pt x="659" y="83"/>
                      <a:pt x="670" y="91"/>
                    </a:cubicBezTo>
                    <a:lnTo>
                      <a:pt x="1165" y="377"/>
                    </a:lnTo>
                    <a:lnTo>
                      <a:pt x="1224" y="407"/>
                    </a:lnTo>
                    <a:lnTo>
                      <a:pt x="1303" y="450"/>
                    </a:lnTo>
                    <a:lnTo>
                      <a:pt x="4236" y="2146"/>
                    </a:lnTo>
                    <a:lnTo>
                      <a:pt x="4329" y="2089"/>
                    </a:lnTo>
                    <a:lnTo>
                      <a:pt x="1303" y="343"/>
                    </a:lnTo>
                    <a:lnTo>
                      <a:pt x="1224" y="300"/>
                    </a:lnTo>
                    <a:lnTo>
                      <a:pt x="1165" y="264"/>
                    </a:lnTo>
                    <a:lnTo>
                      <a:pt x="763" y="32"/>
                    </a:lnTo>
                    <a:cubicBezTo>
                      <a:pt x="727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9255;p75">
                <a:extLst>
                  <a:ext uri="{FF2B5EF4-FFF2-40B4-BE49-F238E27FC236}">
                    <a16:creationId xmlns:a16="http://schemas.microsoft.com/office/drawing/2014/main" id="{1C23891E-483E-DA90-9F16-658FFF293FFE}"/>
                  </a:ext>
                </a:extLst>
              </p:cNvPr>
              <p:cNvSpPr/>
              <p:nvPr/>
            </p:nvSpPr>
            <p:spPr>
              <a:xfrm>
                <a:off x="2651847" y="8988915"/>
                <a:ext cx="96802" cy="55867"/>
              </a:xfrm>
              <a:custGeom>
                <a:avLst/>
                <a:gdLst/>
                <a:ahLst/>
                <a:cxnLst/>
                <a:rect l="l" t="t" r="r" b="b"/>
                <a:pathLst>
                  <a:path w="927" h="535" extrusionOk="0">
                    <a:moveTo>
                      <a:pt x="927" y="534"/>
                    </a:moveTo>
                    <a:lnTo>
                      <a:pt x="927" y="534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9256;p75">
                <a:extLst>
                  <a:ext uri="{FF2B5EF4-FFF2-40B4-BE49-F238E27FC236}">
                    <a16:creationId xmlns:a16="http://schemas.microsoft.com/office/drawing/2014/main" id="{6C717C84-33E5-8A09-4BDD-8716694F2C33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535"/>
              </a:xfrm>
              <a:custGeom>
                <a:avLst/>
                <a:gdLst/>
                <a:ahLst/>
                <a:cxnLst/>
                <a:rect l="l" t="t" r="r" b="b"/>
                <a:pathLst>
                  <a:path w="96" h="5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9257;p75">
                <a:extLst>
                  <a:ext uri="{FF2B5EF4-FFF2-40B4-BE49-F238E27FC236}">
                    <a16:creationId xmlns:a16="http://schemas.microsoft.com/office/drawing/2014/main" id="{006300C7-704B-2757-B018-FEAC2540096C}"/>
                  </a:ext>
                </a:extLst>
              </p:cNvPr>
              <p:cNvSpPr/>
              <p:nvPr/>
            </p:nvSpPr>
            <p:spPr>
              <a:xfrm>
                <a:off x="3005327" y="9187114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5" y="1"/>
                    </a:moveTo>
                    <a:lnTo>
                      <a:pt x="0" y="52"/>
                    </a:lnTo>
                    <a:lnTo>
                      <a:pt x="0" y="1051"/>
                    </a:lnTo>
                    <a:lnTo>
                      <a:pt x="0" y="3158"/>
                    </a:lnTo>
                    <a:lnTo>
                      <a:pt x="0" y="5212"/>
                    </a:lnTo>
                    <a:lnTo>
                      <a:pt x="95" y="5155"/>
                    </a:lnTo>
                    <a:lnTo>
                      <a:pt x="95" y="3214"/>
                    </a:lnTo>
                    <a:lnTo>
                      <a:pt x="95" y="1108"/>
                    </a:lnTo>
                    <a:lnTo>
                      <a:pt x="95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9258;p75">
                <a:extLst>
                  <a:ext uri="{FF2B5EF4-FFF2-40B4-BE49-F238E27FC236}">
                    <a16:creationId xmlns:a16="http://schemas.microsoft.com/office/drawing/2014/main" id="{6893A054-3585-B94F-3815-15EF849E668E}"/>
                  </a:ext>
                </a:extLst>
              </p:cNvPr>
              <p:cNvSpPr/>
              <p:nvPr/>
            </p:nvSpPr>
            <p:spPr>
              <a:xfrm>
                <a:off x="2519854" y="9010426"/>
                <a:ext cx="427934" cy="754157"/>
              </a:xfrm>
              <a:custGeom>
                <a:avLst/>
                <a:gdLst/>
                <a:ahLst/>
                <a:cxnLst/>
                <a:rect l="l" t="t" r="r" b="b"/>
                <a:pathLst>
                  <a:path w="4098" h="7222" extrusionOk="0">
                    <a:moveTo>
                      <a:pt x="488" y="0"/>
                    </a:moveTo>
                    <a:cubicBezTo>
                      <a:pt x="471" y="0"/>
                      <a:pt x="455" y="4"/>
                      <a:pt x="445" y="11"/>
                    </a:cubicBezTo>
                    <a:lnTo>
                      <a:pt x="14" y="256"/>
                    </a:lnTo>
                    <a:cubicBezTo>
                      <a:pt x="7" y="262"/>
                      <a:pt x="0" y="269"/>
                      <a:pt x="0" y="285"/>
                    </a:cubicBezTo>
                    <a:cubicBezTo>
                      <a:pt x="0" y="292"/>
                      <a:pt x="7" y="299"/>
                      <a:pt x="14" y="306"/>
                    </a:cubicBezTo>
                    <a:lnTo>
                      <a:pt x="143" y="385"/>
                    </a:lnTo>
                    <a:lnTo>
                      <a:pt x="531" y="156"/>
                    </a:lnTo>
                    <a:lnTo>
                      <a:pt x="1026" y="442"/>
                    </a:lnTo>
                    <a:lnTo>
                      <a:pt x="1085" y="478"/>
                    </a:lnTo>
                    <a:lnTo>
                      <a:pt x="1164" y="521"/>
                    </a:lnTo>
                    <a:lnTo>
                      <a:pt x="2191" y="1118"/>
                    </a:lnTo>
                    <a:lnTo>
                      <a:pt x="2250" y="1147"/>
                    </a:lnTo>
                    <a:lnTo>
                      <a:pt x="2329" y="1191"/>
                    </a:lnTo>
                    <a:lnTo>
                      <a:pt x="2917" y="1536"/>
                    </a:lnTo>
                    <a:lnTo>
                      <a:pt x="3968" y="2139"/>
                    </a:lnTo>
                    <a:lnTo>
                      <a:pt x="3968" y="7084"/>
                    </a:lnTo>
                    <a:lnTo>
                      <a:pt x="3909" y="7113"/>
                    </a:lnTo>
                    <a:lnTo>
                      <a:pt x="4097" y="7222"/>
                    </a:lnTo>
                    <a:lnTo>
                      <a:pt x="4097" y="2067"/>
                    </a:lnTo>
                    <a:lnTo>
                      <a:pt x="2917" y="1384"/>
                    </a:lnTo>
                    <a:lnTo>
                      <a:pt x="2329" y="1039"/>
                    </a:lnTo>
                    <a:lnTo>
                      <a:pt x="2250" y="996"/>
                    </a:lnTo>
                    <a:lnTo>
                      <a:pt x="2191" y="968"/>
                    </a:lnTo>
                    <a:lnTo>
                      <a:pt x="1164" y="371"/>
                    </a:lnTo>
                    <a:lnTo>
                      <a:pt x="1085" y="328"/>
                    </a:lnTo>
                    <a:lnTo>
                      <a:pt x="1026" y="292"/>
                    </a:lnTo>
                    <a:lnTo>
                      <a:pt x="531" y="11"/>
                    </a:lnTo>
                    <a:cubicBezTo>
                      <a:pt x="520" y="4"/>
                      <a:pt x="504" y="0"/>
                      <a:pt x="48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9259;p75">
                <a:extLst>
                  <a:ext uri="{FF2B5EF4-FFF2-40B4-BE49-F238E27FC236}">
                    <a16:creationId xmlns:a16="http://schemas.microsoft.com/office/drawing/2014/main" id="{B3BB5BD2-78DF-89E6-21CC-4727A2FC3CAF}"/>
                  </a:ext>
                </a:extLst>
              </p:cNvPr>
              <p:cNvSpPr/>
              <p:nvPr/>
            </p:nvSpPr>
            <p:spPr>
              <a:xfrm>
                <a:off x="2534786" y="9026612"/>
                <a:ext cx="399426" cy="230466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2207" extrusionOk="0">
                    <a:moveTo>
                      <a:pt x="388" y="1"/>
                    </a:moveTo>
                    <a:lnTo>
                      <a:pt x="0" y="230"/>
                    </a:lnTo>
                    <a:lnTo>
                      <a:pt x="883" y="741"/>
                    </a:lnTo>
                    <a:lnTo>
                      <a:pt x="942" y="770"/>
                    </a:lnTo>
                    <a:lnTo>
                      <a:pt x="1021" y="813"/>
                    </a:lnTo>
                    <a:lnTo>
                      <a:pt x="1617" y="1158"/>
                    </a:lnTo>
                    <a:lnTo>
                      <a:pt x="2048" y="1408"/>
                    </a:lnTo>
                    <a:lnTo>
                      <a:pt x="2107" y="1444"/>
                    </a:lnTo>
                    <a:lnTo>
                      <a:pt x="2186" y="1488"/>
                    </a:lnTo>
                    <a:lnTo>
                      <a:pt x="3437" y="2207"/>
                    </a:lnTo>
                    <a:lnTo>
                      <a:pt x="3601" y="2114"/>
                    </a:lnTo>
                    <a:lnTo>
                      <a:pt x="3644" y="2091"/>
                    </a:lnTo>
                    <a:lnTo>
                      <a:pt x="3825" y="1984"/>
                    </a:lnTo>
                    <a:lnTo>
                      <a:pt x="2774" y="1381"/>
                    </a:lnTo>
                    <a:lnTo>
                      <a:pt x="2186" y="1036"/>
                    </a:lnTo>
                    <a:lnTo>
                      <a:pt x="2107" y="992"/>
                    </a:lnTo>
                    <a:lnTo>
                      <a:pt x="2048" y="963"/>
                    </a:lnTo>
                    <a:lnTo>
                      <a:pt x="1021" y="366"/>
                    </a:lnTo>
                    <a:lnTo>
                      <a:pt x="942" y="323"/>
                    </a:lnTo>
                    <a:lnTo>
                      <a:pt x="883" y="287"/>
                    </a:lnTo>
                    <a:lnTo>
                      <a:pt x="388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9260;p75">
                <a:extLst>
                  <a:ext uri="{FF2B5EF4-FFF2-40B4-BE49-F238E27FC236}">
                    <a16:creationId xmlns:a16="http://schemas.microsoft.com/office/drawing/2014/main" id="{C5EBD6CC-19B0-6BA0-490A-2FAE5C77D319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9261;p75">
                <a:extLst>
                  <a:ext uri="{FF2B5EF4-FFF2-40B4-BE49-F238E27FC236}">
                    <a16:creationId xmlns:a16="http://schemas.microsoft.com/office/drawing/2014/main" id="{0C14B67E-8987-F29A-230B-B99EA97E5FBE}"/>
                  </a:ext>
                </a:extLst>
              </p:cNvPr>
              <p:cNvSpPr/>
              <p:nvPr/>
            </p:nvSpPr>
            <p:spPr>
              <a:xfrm>
                <a:off x="2947684" y="9220321"/>
                <a:ext cx="9816" cy="544263"/>
              </a:xfrm>
              <a:custGeom>
                <a:avLst/>
                <a:gdLst/>
                <a:ahLst/>
                <a:cxnLst/>
                <a:rect l="l" t="t" r="r" b="b"/>
                <a:pathLst>
                  <a:path w="94" h="5212" extrusionOk="0">
                    <a:moveTo>
                      <a:pt x="93" y="0"/>
                    </a:moveTo>
                    <a:lnTo>
                      <a:pt x="0" y="57"/>
                    </a:lnTo>
                    <a:lnTo>
                      <a:pt x="0" y="5212"/>
                    </a:lnTo>
                    <a:lnTo>
                      <a:pt x="93" y="5160"/>
                    </a:lnTo>
                    <a:lnTo>
                      <a:pt x="93" y="3285"/>
                    </a:lnTo>
                    <a:lnTo>
                      <a:pt x="93" y="2572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9262;p75">
                <a:extLst>
                  <a:ext uri="{FF2B5EF4-FFF2-40B4-BE49-F238E27FC236}">
                    <a16:creationId xmlns:a16="http://schemas.microsoft.com/office/drawing/2014/main" id="{AD552FE9-060F-E56F-DADD-139D51E20AA2}"/>
                  </a:ext>
                </a:extLst>
              </p:cNvPr>
              <p:cNvSpPr/>
              <p:nvPr/>
            </p:nvSpPr>
            <p:spPr>
              <a:xfrm>
                <a:off x="2893592" y="9233792"/>
                <a:ext cx="40621" cy="539773"/>
              </a:xfrm>
              <a:custGeom>
                <a:avLst/>
                <a:gdLst/>
                <a:ahLst/>
                <a:cxnLst/>
                <a:rect l="l" t="t" r="r" b="b"/>
                <a:pathLst>
                  <a:path w="389" h="5169" extrusionOk="0">
                    <a:moveTo>
                      <a:pt x="389" y="0"/>
                    </a:moveTo>
                    <a:lnTo>
                      <a:pt x="208" y="107"/>
                    </a:lnTo>
                    <a:lnTo>
                      <a:pt x="165" y="130"/>
                    </a:lnTo>
                    <a:lnTo>
                      <a:pt x="1" y="223"/>
                    </a:lnTo>
                    <a:lnTo>
                      <a:pt x="1" y="230"/>
                    </a:lnTo>
                    <a:lnTo>
                      <a:pt x="1" y="2804"/>
                    </a:lnTo>
                    <a:lnTo>
                      <a:pt x="1" y="3444"/>
                    </a:lnTo>
                    <a:lnTo>
                      <a:pt x="1" y="5169"/>
                    </a:lnTo>
                    <a:lnTo>
                      <a:pt x="330" y="4974"/>
                    </a:lnTo>
                    <a:lnTo>
                      <a:pt x="389" y="4945"/>
                    </a:lnTo>
                    <a:lnTo>
                      <a:pt x="389" y="0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9263;p75">
                <a:extLst>
                  <a:ext uri="{FF2B5EF4-FFF2-40B4-BE49-F238E27FC236}">
                    <a16:creationId xmlns:a16="http://schemas.microsoft.com/office/drawing/2014/main" id="{57700A3E-F44F-0C79-F020-436F747C5597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9264;p75">
                <a:extLst>
                  <a:ext uri="{FF2B5EF4-FFF2-40B4-BE49-F238E27FC236}">
                    <a16:creationId xmlns:a16="http://schemas.microsoft.com/office/drawing/2014/main" id="{3C90C18E-553C-60F6-15B0-E8A6B9040B86}"/>
                  </a:ext>
                </a:extLst>
              </p:cNvPr>
              <p:cNvSpPr/>
              <p:nvPr/>
            </p:nvSpPr>
            <p:spPr>
              <a:xfrm>
                <a:off x="2505443" y="9040083"/>
                <a:ext cx="378332" cy="761989"/>
              </a:xfrm>
              <a:custGeom>
                <a:avLst/>
                <a:gdLst/>
                <a:ahLst/>
                <a:cxnLst/>
                <a:rect l="l" t="t" r="r" b="b"/>
                <a:pathLst>
                  <a:path w="3623" h="7297" extrusionOk="0">
                    <a:moveTo>
                      <a:pt x="771" y="1313"/>
                    </a:moveTo>
                    <a:cubicBezTo>
                      <a:pt x="781" y="1313"/>
                      <a:pt x="793" y="1316"/>
                      <a:pt x="806" y="1322"/>
                    </a:cubicBezTo>
                    <a:lnTo>
                      <a:pt x="1164" y="1531"/>
                    </a:lnTo>
                    <a:lnTo>
                      <a:pt x="1223" y="1560"/>
                    </a:lnTo>
                    <a:lnTo>
                      <a:pt x="1302" y="1610"/>
                    </a:lnTo>
                    <a:lnTo>
                      <a:pt x="1891" y="1949"/>
                    </a:lnTo>
                    <a:lnTo>
                      <a:pt x="2329" y="2200"/>
                    </a:lnTo>
                    <a:lnTo>
                      <a:pt x="2388" y="2237"/>
                    </a:lnTo>
                    <a:lnTo>
                      <a:pt x="2467" y="2280"/>
                    </a:lnTo>
                    <a:lnTo>
                      <a:pt x="2646" y="2387"/>
                    </a:lnTo>
                    <a:cubicBezTo>
                      <a:pt x="2689" y="2409"/>
                      <a:pt x="2717" y="2466"/>
                      <a:pt x="2717" y="2509"/>
                    </a:cubicBezTo>
                    <a:lnTo>
                      <a:pt x="2717" y="2609"/>
                    </a:lnTo>
                    <a:lnTo>
                      <a:pt x="2717" y="3644"/>
                    </a:lnTo>
                    <a:lnTo>
                      <a:pt x="2717" y="3876"/>
                    </a:lnTo>
                    <a:cubicBezTo>
                      <a:pt x="2717" y="3905"/>
                      <a:pt x="2701" y="3921"/>
                      <a:pt x="2679" y="3921"/>
                    </a:cubicBezTo>
                    <a:cubicBezTo>
                      <a:pt x="2669" y="3921"/>
                      <a:pt x="2658" y="3917"/>
                      <a:pt x="2646" y="3910"/>
                    </a:cubicBezTo>
                    <a:lnTo>
                      <a:pt x="2467" y="3810"/>
                    </a:lnTo>
                    <a:lnTo>
                      <a:pt x="2388" y="3767"/>
                    </a:lnTo>
                    <a:lnTo>
                      <a:pt x="2329" y="3731"/>
                    </a:lnTo>
                    <a:lnTo>
                      <a:pt x="1302" y="3134"/>
                    </a:lnTo>
                    <a:lnTo>
                      <a:pt x="1223" y="3091"/>
                    </a:lnTo>
                    <a:lnTo>
                      <a:pt x="1164" y="3063"/>
                    </a:lnTo>
                    <a:lnTo>
                      <a:pt x="799" y="2847"/>
                    </a:lnTo>
                    <a:cubicBezTo>
                      <a:pt x="763" y="2825"/>
                      <a:pt x="726" y="2768"/>
                      <a:pt x="726" y="2725"/>
                    </a:cubicBezTo>
                    <a:lnTo>
                      <a:pt x="733" y="1365"/>
                    </a:lnTo>
                    <a:cubicBezTo>
                      <a:pt x="733" y="1330"/>
                      <a:pt x="748" y="1313"/>
                      <a:pt x="771" y="1313"/>
                    </a:cubicBezTo>
                    <a:close/>
                    <a:moveTo>
                      <a:pt x="0" y="1"/>
                    </a:moveTo>
                    <a:lnTo>
                      <a:pt x="0" y="3229"/>
                    </a:lnTo>
                    <a:lnTo>
                      <a:pt x="0" y="3551"/>
                    </a:lnTo>
                    <a:lnTo>
                      <a:pt x="0" y="5154"/>
                    </a:lnTo>
                    <a:cubicBezTo>
                      <a:pt x="0" y="5183"/>
                      <a:pt x="22" y="5212"/>
                      <a:pt x="59" y="5233"/>
                    </a:cubicBezTo>
                    <a:lnTo>
                      <a:pt x="3623" y="7296"/>
                    </a:lnTo>
                    <a:lnTo>
                      <a:pt x="3623" y="5240"/>
                    </a:lnTo>
                    <a:lnTo>
                      <a:pt x="3623" y="4600"/>
                    </a:lnTo>
                    <a:lnTo>
                      <a:pt x="3623" y="2135"/>
                    </a:lnTo>
                    <a:lnTo>
                      <a:pt x="2467" y="1467"/>
                    </a:lnTo>
                    <a:lnTo>
                      <a:pt x="2388" y="1424"/>
                    </a:lnTo>
                    <a:lnTo>
                      <a:pt x="2329" y="1388"/>
                    </a:lnTo>
                    <a:lnTo>
                      <a:pt x="1898" y="1136"/>
                    </a:lnTo>
                    <a:lnTo>
                      <a:pt x="1302" y="791"/>
                    </a:lnTo>
                    <a:lnTo>
                      <a:pt x="1223" y="748"/>
                    </a:lnTo>
                    <a:lnTo>
                      <a:pt x="1164" y="719"/>
                    </a:lnTo>
                    <a:lnTo>
                      <a:pt x="188" y="151"/>
                    </a:lnTo>
                    <a:lnTo>
                      <a:pt x="138" y="123"/>
                    </a:lnTo>
                    <a:lnTo>
                      <a:pt x="59" y="80"/>
                    </a:lnTo>
                    <a:cubicBezTo>
                      <a:pt x="52" y="72"/>
                      <a:pt x="43" y="72"/>
                      <a:pt x="36" y="65"/>
                    </a:cubicBezTo>
                    <a:cubicBezTo>
                      <a:pt x="36" y="58"/>
                      <a:pt x="29" y="51"/>
                      <a:pt x="22" y="51"/>
                    </a:cubicBezTo>
                    <a:cubicBezTo>
                      <a:pt x="22" y="44"/>
                      <a:pt x="16" y="44"/>
                      <a:pt x="16" y="44"/>
                    </a:cubicBezTo>
                    <a:cubicBezTo>
                      <a:pt x="16" y="37"/>
                      <a:pt x="16" y="37"/>
                      <a:pt x="9" y="29"/>
                    </a:cubicBezTo>
                    <a:lnTo>
                      <a:pt x="9" y="22"/>
                    </a:lnTo>
                    <a:cubicBezTo>
                      <a:pt x="0" y="15"/>
                      <a:pt x="0" y="8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Google Shape;9265;p75">
                <a:extLst>
                  <a:ext uri="{FF2B5EF4-FFF2-40B4-BE49-F238E27FC236}">
                    <a16:creationId xmlns:a16="http://schemas.microsoft.com/office/drawing/2014/main" id="{25DD4AF1-1D87-9C8B-199D-685C7951ADED}"/>
                  </a:ext>
                </a:extLst>
              </p:cNvPr>
              <p:cNvSpPr/>
              <p:nvPr/>
            </p:nvSpPr>
            <p:spPr>
              <a:xfrm>
                <a:off x="2581256" y="9177194"/>
                <a:ext cx="208015" cy="272340"/>
              </a:xfrm>
              <a:custGeom>
                <a:avLst/>
                <a:gdLst/>
                <a:ahLst/>
                <a:cxnLst/>
                <a:rect l="l" t="t" r="r" b="b"/>
                <a:pathLst>
                  <a:path w="1992" h="2608" extrusionOk="0">
                    <a:moveTo>
                      <a:pt x="45" y="0"/>
                    </a:moveTo>
                    <a:cubicBezTo>
                      <a:pt x="22" y="0"/>
                      <a:pt x="7" y="17"/>
                      <a:pt x="7" y="52"/>
                    </a:cubicBezTo>
                    <a:lnTo>
                      <a:pt x="0" y="1412"/>
                    </a:lnTo>
                    <a:cubicBezTo>
                      <a:pt x="0" y="1455"/>
                      <a:pt x="37" y="1512"/>
                      <a:pt x="73" y="1534"/>
                    </a:cubicBezTo>
                    <a:lnTo>
                      <a:pt x="438" y="1750"/>
                    </a:lnTo>
                    <a:lnTo>
                      <a:pt x="497" y="1778"/>
                    </a:lnTo>
                    <a:lnTo>
                      <a:pt x="576" y="1821"/>
                    </a:lnTo>
                    <a:lnTo>
                      <a:pt x="1603" y="2418"/>
                    </a:lnTo>
                    <a:lnTo>
                      <a:pt x="1662" y="2454"/>
                    </a:lnTo>
                    <a:lnTo>
                      <a:pt x="1741" y="2497"/>
                    </a:lnTo>
                    <a:lnTo>
                      <a:pt x="1920" y="2597"/>
                    </a:lnTo>
                    <a:cubicBezTo>
                      <a:pt x="1932" y="2604"/>
                      <a:pt x="1943" y="2608"/>
                      <a:pt x="1953" y="2608"/>
                    </a:cubicBezTo>
                    <a:cubicBezTo>
                      <a:pt x="1975" y="2608"/>
                      <a:pt x="1991" y="2592"/>
                      <a:pt x="1991" y="2563"/>
                    </a:cubicBezTo>
                    <a:lnTo>
                      <a:pt x="1991" y="2331"/>
                    </a:lnTo>
                    <a:lnTo>
                      <a:pt x="1991" y="1296"/>
                    </a:lnTo>
                    <a:lnTo>
                      <a:pt x="1991" y="1196"/>
                    </a:lnTo>
                    <a:cubicBezTo>
                      <a:pt x="1991" y="1153"/>
                      <a:pt x="1963" y="1096"/>
                      <a:pt x="1920" y="1074"/>
                    </a:cubicBezTo>
                    <a:lnTo>
                      <a:pt x="1741" y="967"/>
                    </a:lnTo>
                    <a:lnTo>
                      <a:pt x="1662" y="924"/>
                    </a:lnTo>
                    <a:lnTo>
                      <a:pt x="1603" y="887"/>
                    </a:lnTo>
                    <a:lnTo>
                      <a:pt x="1165" y="636"/>
                    </a:lnTo>
                    <a:lnTo>
                      <a:pt x="576" y="297"/>
                    </a:lnTo>
                    <a:lnTo>
                      <a:pt x="497" y="247"/>
                    </a:lnTo>
                    <a:lnTo>
                      <a:pt x="438" y="218"/>
                    </a:lnTo>
                    <a:lnTo>
                      <a:pt x="80" y="9"/>
                    </a:lnTo>
                    <a:cubicBezTo>
                      <a:pt x="67" y="3"/>
                      <a:pt x="55" y="0"/>
                      <a:pt x="4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9266;p75">
                <a:extLst>
                  <a:ext uri="{FF2B5EF4-FFF2-40B4-BE49-F238E27FC236}">
                    <a16:creationId xmlns:a16="http://schemas.microsoft.com/office/drawing/2014/main" id="{A809D99B-E863-EFB2-2DDD-B1A20D1DB773}"/>
                  </a:ext>
                </a:extLst>
              </p:cNvPr>
              <p:cNvSpPr/>
              <p:nvPr/>
            </p:nvSpPr>
            <p:spPr>
              <a:xfrm>
                <a:off x="2883672" y="9256975"/>
                <a:ext cx="10025" cy="6057"/>
              </a:xfrm>
              <a:custGeom>
                <a:avLst/>
                <a:gdLst/>
                <a:ahLst/>
                <a:cxnLst/>
                <a:rect l="l" t="t" r="r" b="b"/>
                <a:pathLst>
                  <a:path w="96" h="58" extrusionOk="0">
                    <a:moveTo>
                      <a:pt x="96" y="1"/>
                    </a:moveTo>
                    <a:lnTo>
                      <a:pt x="1" y="58"/>
                    </a:lnTo>
                    <a:lnTo>
                      <a:pt x="96" y="8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9267;p75">
                <a:extLst>
                  <a:ext uri="{FF2B5EF4-FFF2-40B4-BE49-F238E27FC236}">
                    <a16:creationId xmlns:a16="http://schemas.microsoft.com/office/drawing/2014/main" id="{804B018B-856F-FF83-F0B9-E40DBBA8EB23}"/>
                  </a:ext>
                </a:extLst>
              </p:cNvPr>
              <p:cNvSpPr/>
              <p:nvPr/>
            </p:nvSpPr>
            <p:spPr>
              <a:xfrm>
                <a:off x="2505443" y="9002177"/>
                <a:ext cx="452056" cy="260854"/>
              </a:xfrm>
              <a:custGeom>
                <a:avLst/>
                <a:gdLst/>
                <a:ahLst/>
                <a:cxnLst/>
                <a:rect l="l" t="t" r="r" b="b"/>
                <a:pathLst>
                  <a:path w="4329" h="2498" extrusionOk="0">
                    <a:moveTo>
                      <a:pt x="626" y="0"/>
                    </a:moveTo>
                    <a:cubicBezTo>
                      <a:pt x="575" y="0"/>
                      <a:pt x="525" y="11"/>
                      <a:pt x="490" y="33"/>
                    </a:cubicBezTo>
                    <a:lnTo>
                      <a:pt x="59" y="285"/>
                    </a:lnTo>
                    <a:cubicBezTo>
                      <a:pt x="22" y="305"/>
                      <a:pt x="0" y="335"/>
                      <a:pt x="0" y="364"/>
                    </a:cubicBezTo>
                    <a:cubicBezTo>
                      <a:pt x="0" y="371"/>
                      <a:pt x="0" y="378"/>
                      <a:pt x="9" y="385"/>
                    </a:cubicBezTo>
                    <a:lnTo>
                      <a:pt x="9" y="392"/>
                    </a:lnTo>
                    <a:cubicBezTo>
                      <a:pt x="16" y="400"/>
                      <a:pt x="16" y="400"/>
                      <a:pt x="16" y="407"/>
                    </a:cubicBezTo>
                    <a:cubicBezTo>
                      <a:pt x="16" y="407"/>
                      <a:pt x="22" y="407"/>
                      <a:pt x="22" y="414"/>
                    </a:cubicBezTo>
                    <a:cubicBezTo>
                      <a:pt x="29" y="414"/>
                      <a:pt x="36" y="421"/>
                      <a:pt x="36" y="428"/>
                    </a:cubicBezTo>
                    <a:cubicBezTo>
                      <a:pt x="43" y="435"/>
                      <a:pt x="52" y="435"/>
                      <a:pt x="59" y="443"/>
                    </a:cubicBezTo>
                    <a:lnTo>
                      <a:pt x="138" y="486"/>
                    </a:lnTo>
                    <a:lnTo>
                      <a:pt x="188" y="514"/>
                    </a:lnTo>
                    <a:lnTo>
                      <a:pt x="1164" y="1082"/>
                    </a:lnTo>
                    <a:lnTo>
                      <a:pt x="1223" y="1111"/>
                    </a:lnTo>
                    <a:lnTo>
                      <a:pt x="1302" y="1154"/>
                    </a:lnTo>
                    <a:lnTo>
                      <a:pt x="1898" y="1499"/>
                    </a:lnTo>
                    <a:lnTo>
                      <a:pt x="2329" y="1751"/>
                    </a:lnTo>
                    <a:lnTo>
                      <a:pt x="2388" y="1787"/>
                    </a:lnTo>
                    <a:lnTo>
                      <a:pt x="2467" y="1830"/>
                    </a:lnTo>
                    <a:lnTo>
                      <a:pt x="3623" y="2498"/>
                    </a:lnTo>
                    <a:lnTo>
                      <a:pt x="3718" y="2441"/>
                    </a:lnTo>
                    <a:lnTo>
                      <a:pt x="2467" y="1722"/>
                    </a:lnTo>
                    <a:lnTo>
                      <a:pt x="2388" y="1678"/>
                    </a:lnTo>
                    <a:lnTo>
                      <a:pt x="2329" y="1642"/>
                    </a:lnTo>
                    <a:lnTo>
                      <a:pt x="1898" y="1392"/>
                    </a:lnTo>
                    <a:lnTo>
                      <a:pt x="1302" y="1047"/>
                    </a:lnTo>
                    <a:lnTo>
                      <a:pt x="1223" y="1004"/>
                    </a:lnTo>
                    <a:lnTo>
                      <a:pt x="1164" y="975"/>
                    </a:lnTo>
                    <a:lnTo>
                      <a:pt x="281" y="464"/>
                    </a:lnTo>
                    <a:lnTo>
                      <a:pt x="152" y="385"/>
                    </a:lnTo>
                    <a:cubicBezTo>
                      <a:pt x="145" y="378"/>
                      <a:pt x="138" y="371"/>
                      <a:pt x="138" y="364"/>
                    </a:cubicBezTo>
                    <a:cubicBezTo>
                      <a:pt x="138" y="348"/>
                      <a:pt x="145" y="341"/>
                      <a:pt x="152" y="335"/>
                    </a:cubicBezTo>
                    <a:lnTo>
                      <a:pt x="583" y="90"/>
                    </a:lnTo>
                    <a:cubicBezTo>
                      <a:pt x="593" y="83"/>
                      <a:pt x="609" y="79"/>
                      <a:pt x="626" y="79"/>
                    </a:cubicBezTo>
                    <a:cubicBezTo>
                      <a:pt x="642" y="79"/>
                      <a:pt x="658" y="83"/>
                      <a:pt x="669" y="90"/>
                    </a:cubicBezTo>
                    <a:lnTo>
                      <a:pt x="1164" y="371"/>
                    </a:lnTo>
                    <a:lnTo>
                      <a:pt x="1223" y="407"/>
                    </a:lnTo>
                    <a:lnTo>
                      <a:pt x="1302" y="450"/>
                    </a:lnTo>
                    <a:lnTo>
                      <a:pt x="2329" y="1047"/>
                    </a:lnTo>
                    <a:lnTo>
                      <a:pt x="2388" y="1075"/>
                    </a:lnTo>
                    <a:lnTo>
                      <a:pt x="2467" y="1118"/>
                    </a:lnTo>
                    <a:lnTo>
                      <a:pt x="3055" y="1463"/>
                    </a:lnTo>
                    <a:lnTo>
                      <a:pt x="4235" y="2146"/>
                    </a:lnTo>
                    <a:lnTo>
                      <a:pt x="4328" y="2089"/>
                    </a:lnTo>
                    <a:lnTo>
                      <a:pt x="3055" y="1356"/>
                    </a:lnTo>
                    <a:lnTo>
                      <a:pt x="2467" y="1011"/>
                    </a:lnTo>
                    <a:lnTo>
                      <a:pt x="2388" y="968"/>
                    </a:lnTo>
                    <a:lnTo>
                      <a:pt x="2329" y="938"/>
                    </a:lnTo>
                    <a:lnTo>
                      <a:pt x="1302" y="341"/>
                    </a:lnTo>
                    <a:lnTo>
                      <a:pt x="1223" y="298"/>
                    </a:lnTo>
                    <a:lnTo>
                      <a:pt x="1164" y="262"/>
                    </a:lnTo>
                    <a:lnTo>
                      <a:pt x="763" y="33"/>
                    </a:lnTo>
                    <a:cubicBezTo>
                      <a:pt x="726" y="11"/>
                      <a:pt x="676" y="0"/>
                      <a:pt x="62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9268;p75">
                <a:extLst>
                  <a:ext uri="{FF2B5EF4-FFF2-40B4-BE49-F238E27FC236}">
                    <a16:creationId xmlns:a16="http://schemas.microsoft.com/office/drawing/2014/main" id="{79AB46EB-6BF0-A7C2-36B0-F8DA9ABA7680}"/>
                  </a:ext>
                </a:extLst>
              </p:cNvPr>
              <p:cNvSpPr/>
              <p:nvPr/>
            </p:nvSpPr>
            <p:spPr>
              <a:xfrm>
                <a:off x="2883672" y="9257706"/>
                <a:ext cx="10025" cy="544368"/>
              </a:xfrm>
              <a:custGeom>
                <a:avLst/>
                <a:gdLst/>
                <a:ahLst/>
                <a:cxnLst/>
                <a:rect l="l" t="t" r="r" b="b"/>
                <a:pathLst>
                  <a:path w="96" h="5213" extrusionOk="0">
                    <a:moveTo>
                      <a:pt x="96" y="1"/>
                    </a:moveTo>
                    <a:lnTo>
                      <a:pt x="1" y="51"/>
                    </a:lnTo>
                    <a:lnTo>
                      <a:pt x="1" y="2516"/>
                    </a:lnTo>
                    <a:lnTo>
                      <a:pt x="1" y="3156"/>
                    </a:lnTo>
                    <a:lnTo>
                      <a:pt x="1" y="5212"/>
                    </a:lnTo>
                    <a:lnTo>
                      <a:pt x="96" y="5155"/>
                    </a:lnTo>
                    <a:lnTo>
                      <a:pt x="96" y="3215"/>
                    </a:lnTo>
                    <a:lnTo>
                      <a:pt x="96" y="2575"/>
                    </a:lnTo>
                    <a:lnTo>
                      <a:pt x="96" y="1"/>
                    </a:lnTo>
                    <a:close/>
                  </a:path>
                </a:pathLst>
              </a:custGeom>
              <a:solidFill>
                <a:schemeClr val="lt1"/>
              </a:solidFill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" name="Google Shape;9269;p75">
              <a:extLst>
                <a:ext uri="{FF2B5EF4-FFF2-40B4-BE49-F238E27FC236}">
                  <a16:creationId xmlns:a16="http://schemas.microsoft.com/office/drawing/2014/main" id="{D410A9FA-33AD-F896-A049-1B6A3F3325C4}"/>
                </a:ext>
              </a:extLst>
            </p:cNvPr>
            <p:cNvSpPr/>
            <p:nvPr/>
          </p:nvSpPr>
          <p:spPr>
            <a:xfrm>
              <a:off x="6824010" y="4322800"/>
              <a:ext cx="156790" cy="128322"/>
            </a:xfrm>
            <a:custGeom>
              <a:avLst/>
              <a:gdLst/>
              <a:ahLst/>
              <a:cxnLst/>
              <a:rect l="l" t="t" r="r" b="b"/>
              <a:pathLst>
                <a:path w="705" h="577" fill="none" extrusionOk="0">
                  <a:moveTo>
                    <a:pt x="353" y="577"/>
                  </a:moveTo>
                  <a:lnTo>
                    <a:pt x="252" y="511"/>
                  </a:lnTo>
                  <a:cubicBezTo>
                    <a:pt x="8" y="354"/>
                    <a:pt x="8" y="239"/>
                    <a:pt x="1" y="196"/>
                  </a:cubicBezTo>
                  <a:cubicBezTo>
                    <a:pt x="1" y="87"/>
                    <a:pt x="87" y="1"/>
                    <a:pt x="194" y="1"/>
                  </a:cubicBezTo>
                  <a:cubicBezTo>
                    <a:pt x="259" y="1"/>
                    <a:pt x="316" y="37"/>
                    <a:pt x="353" y="87"/>
                  </a:cubicBezTo>
                  <a:cubicBezTo>
                    <a:pt x="389" y="37"/>
                    <a:pt x="446" y="1"/>
                    <a:pt x="511" y="1"/>
                  </a:cubicBezTo>
                  <a:cubicBezTo>
                    <a:pt x="611" y="1"/>
                    <a:pt x="698" y="87"/>
                    <a:pt x="698" y="196"/>
                  </a:cubicBezTo>
                  <a:cubicBezTo>
                    <a:pt x="698" y="239"/>
                    <a:pt x="704" y="354"/>
                    <a:pt x="453" y="511"/>
                  </a:cubicBezTo>
                  <a:close/>
                </a:path>
              </a:pathLst>
            </a:custGeom>
            <a:solidFill>
              <a:schemeClr val="lt1"/>
            </a:solidFill>
            <a:ln w="9525" cap="rnd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" name="Google Shape;9270;p75">
              <a:extLst>
                <a:ext uri="{FF2B5EF4-FFF2-40B4-BE49-F238E27FC236}">
                  <a16:creationId xmlns:a16="http://schemas.microsoft.com/office/drawing/2014/main" id="{757DE877-2A42-621E-6DF7-2CC76C2B6E3A}"/>
                </a:ext>
              </a:extLst>
            </p:cNvPr>
            <p:cNvGrpSpPr/>
            <p:nvPr/>
          </p:nvGrpSpPr>
          <p:grpSpPr>
            <a:xfrm>
              <a:off x="7197885" y="3880415"/>
              <a:ext cx="136552" cy="136552"/>
              <a:chOff x="12436354" y="4743612"/>
              <a:chExt cx="62846" cy="62846"/>
            </a:xfrm>
          </p:grpSpPr>
          <p:sp>
            <p:nvSpPr>
              <p:cNvPr id="7" name="Google Shape;9271;p75">
                <a:extLst>
                  <a:ext uri="{FF2B5EF4-FFF2-40B4-BE49-F238E27FC236}">
                    <a16:creationId xmlns:a16="http://schemas.microsoft.com/office/drawing/2014/main" id="{10E55A41-F4B0-3F49-26E0-5ED792A08EB1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1" y="0"/>
                    </a:moveTo>
                    <a:lnTo>
                      <a:pt x="396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9272;p75">
                <a:extLst>
                  <a:ext uri="{FF2B5EF4-FFF2-40B4-BE49-F238E27FC236}">
                    <a16:creationId xmlns:a16="http://schemas.microsoft.com/office/drawing/2014/main" id="{B955C0B5-7AF1-084B-CBED-9F7F4A4AFEE3}"/>
                  </a:ext>
                </a:extLst>
              </p:cNvPr>
              <p:cNvSpPr/>
              <p:nvPr/>
            </p:nvSpPr>
            <p:spPr>
              <a:xfrm>
                <a:off x="12436354" y="4743612"/>
                <a:ext cx="62846" cy="6284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fill="none" extrusionOk="0">
                    <a:moveTo>
                      <a:pt x="396" y="0"/>
                    </a:moveTo>
                    <a:lnTo>
                      <a:pt x="1" y="395"/>
                    </a:lnTo>
                  </a:path>
                </a:pathLst>
              </a:custGeom>
              <a:noFill/>
              <a:ln w="9525" cap="rnd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19" name="Picture 118">
            <a:extLst>
              <a:ext uri="{FF2B5EF4-FFF2-40B4-BE49-F238E27FC236}">
                <a16:creationId xmlns:a16="http://schemas.microsoft.com/office/drawing/2014/main" id="{FAD62FCC-DAD4-93A7-5ED8-30D3D84CE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83"/>
            <a:ext cx="689564" cy="70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367852"/>
      </p:ext>
    </p:extLst>
  </p:cSld>
  <p:clrMapOvr>
    <a:masterClrMapping/>
  </p:clrMapOvr>
</p:sld>
</file>

<file path=ppt/theme/theme1.xml><?xml version="1.0" encoding="utf-8"?>
<a:theme xmlns:a="http://schemas.openxmlformats.org/drawingml/2006/main" name="Digitization in the Classroom by Slidesgo">
  <a:themeElements>
    <a:clrScheme name="Simple Light">
      <a:dk1>
        <a:srgbClr val="191919"/>
      </a:dk1>
      <a:lt1>
        <a:srgbClr val="F3F3F3"/>
      </a:lt1>
      <a:dk2>
        <a:srgbClr val="4AAEBF"/>
      </a:dk2>
      <a:lt2>
        <a:srgbClr val="4F55AB"/>
      </a:lt2>
      <a:accent1>
        <a:srgbClr val="E8D24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F55A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7ded781-2f94-4d69-8848-7c5557f2fdc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BC42CFF30DAD49AD9447EB755AC427" ma:contentTypeVersion="12" ma:contentTypeDescription="Create a new document." ma:contentTypeScope="" ma:versionID="e843c953ffe22cdbf301191f226187b8">
  <xsd:schema xmlns:xsd="http://www.w3.org/2001/XMLSchema" xmlns:xs="http://www.w3.org/2001/XMLSchema" xmlns:p="http://schemas.microsoft.com/office/2006/metadata/properties" xmlns:ns3="87ded781-2f94-4d69-8848-7c5557f2fdca" targetNamespace="http://schemas.microsoft.com/office/2006/metadata/properties" ma:root="true" ma:fieldsID="5748912d64270683c24dc5dbfc2c7a3e" ns3:_="">
    <xsd:import namespace="87ded781-2f94-4d69-8848-7c5557f2fdc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DateTaken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ded781-2f94-4d69-8848-7c5557f2fd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6CE2DE-889C-460E-A7A1-527106FD505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577751D-C2AE-47AE-B730-2461DCDA2DB3}">
  <ds:schemaRefs>
    <ds:schemaRef ds:uri="http://purl.org/dc/elements/1.1/"/>
    <ds:schemaRef ds:uri="http://schemas.microsoft.com/office/2006/metadata/properties"/>
    <ds:schemaRef ds:uri="87ded781-2f94-4d69-8848-7c5557f2fdca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3470561-08CE-4B9A-954A-E242A116601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ded781-2f94-4d69-8848-7c5557f2fd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2562</TotalTime>
  <Words>2213</Words>
  <Application>Microsoft Office PowerPoint</Application>
  <PresentationFormat>On-screen Show (16:9)</PresentationFormat>
  <Paragraphs>268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Aptos</vt:lpstr>
      <vt:lpstr>DM Sans</vt:lpstr>
      <vt:lpstr>Albert Sans</vt:lpstr>
      <vt:lpstr>Times New Roman</vt:lpstr>
      <vt:lpstr>Arial</vt:lpstr>
      <vt:lpstr>Cambria</vt:lpstr>
      <vt:lpstr>Symbol</vt:lpstr>
      <vt:lpstr>Digitization in the Classroom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Tín Trần Đại</dc:creator>
  <cp:lastModifiedBy>Trần Đại Tín</cp:lastModifiedBy>
  <cp:revision>177</cp:revision>
  <dcterms:modified xsi:type="dcterms:W3CDTF">2025-11-10T13:30:46Z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0x01010043BC42CFF30DAD49AD9447EB755AC427</vt:lpwstr>
  </property>
</Properties>
</file>