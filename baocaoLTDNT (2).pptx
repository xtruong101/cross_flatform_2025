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312" r:id="rId3"/>
    <p:sldId id="341" r:id="rId5"/>
    <p:sldId id="391" r:id="rId6"/>
    <p:sldId id="334" r:id="rId7"/>
    <p:sldId id="339" r:id="rId8"/>
    <p:sldId id="346" r:id="rId9"/>
    <p:sldId id="372" r:id="rId10"/>
    <p:sldId id="343" r:id="rId11"/>
    <p:sldId id="397" r:id="rId12"/>
    <p:sldId id="401" r:id="rId13"/>
    <p:sldId id="355" r:id="rId14"/>
    <p:sldId id="347" r:id="rId15"/>
    <p:sldId id="356" r:id="rId16"/>
    <p:sldId id="358" r:id="rId17"/>
    <p:sldId id="359" r:id="rId18"/>
    <p:sldId id="360" r:id="rId19"/>
    <p:sldId id="368" r:id="rId20"/>
    <p:sldId id="361" r:id="rId21"/>
    <p:sldId id="363" r:id="rId22"/>
    <p:sldId id="364" r:id="rId23"/>
    <p:sldId id="369" r:id="rId24"/>
    <p:sldId id="365" r:id="rId25"/>
    <p:sldId id="379" r:id="rId26"/>
    <p:sldId id="380" r:id="rId27"/>
    <p:sldId id="381" r:id="rId28"/>
    <p:sldId id="393" r:id="rId29"/>
    <p:sldId id="382" r:id="rId30"/>
    <p:sldId id="383" r:id="rId31"/>
    <p:sldId id="370" r:id="rId32"/>
    <p:sldId id="384" r:id="rId33"/>
    <p:sldId id="378" r:id="rId34"/>
    <p:sldId id="385" r:id="rId35"/>
    <p:sldId id="373" r:id="rId36"/>
    <p:sldId id="374" r:id="rId37"/>
    <p:sldId id="386" r:id="rId38"/>
    <p:sldId id="375" r:id="rId39"/>
    <p:sldId id="394" r:id="rId40"/>
    <p:sldId id="387" r:id="rId41"/>
    <p:sldId id="371" r:id="rId42"/>
    <p:sldId id="376" r:id="rId43"/>
    <p:sldId id="395" r:id="rId44"/>
    <p:sldId id="389" r:id="rId45"/>
    <p:sldId id="396" r:id="rId46"/>
    <p:sldId id="392" r:id="rId47"/>
    <p:sldId id="398" r:id="rId48"/>
    <p:sldId id="390" r:id="rId49"/>
  </p:sldIdLst>
  <p:sldSz cx="9144000" cy="5143500" type="screen16x9"/>
  <p:notesSz cx="6858000" cy="9144000"/>
  <p:embeddedFontLst>
    <p:embeddedFont>
      <p:font typeface="Albert Sans"/>
      <p:regular r:id="rId53"/>
    </p:embeddedFont>
    <p:embeddedFont>
      <p:font typeface="DM Sans"/>
      <p:regular r:id="rId54"/>
    </p:embeddedFont>
    <p:embeddedFont>
      <p:font typeface="Cambria" panose="02040503050406030204" pitchFamily="18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91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EA0A50E-D806-47F9-8622-6DD71D228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79248" autoAdjust="0"/>
  </p:normalViewPr>
  <p:slideViewPr>
    <p:cSldViewPr snapToGrid="0" showGuides="1">
      <p:cViewPr varScale="1">
        <p:scale>
          <a:sx n="117" d="100"/>
          <a:sy n="117" d="100"/>
        </p:scale>
        <p:origin x="466" y="86"/>
      </p:cViewPr>
      <p:guideLst>
        <p:guide orient="horz" pos="1620"/>
        <p:guide pos="29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customXml" Target="../customXml/item3.xml"/><Relationship Id="rId60" Type="http://schemas.openxmlformats.org/officeDocument/2006/relationships/customXml" Target="../customXml/item2.xml"/><Relationship Id="rId6" Type="http://schemas.openxmlformats.org/officeDocument/2006/relationships/slide" Target="slides/slide3.xml"/><Relationship Id="rId59" Type="http://schemas.openxmlformats.org/officeDocument/2006/relationships/customXml" Target="../customXml/item1.xml"/><Relationship Id="rId58" Type="http://schemas.openxmlformats.org/officeDocument/2006/relationships/font" Target="fonts/font6.fntdata"/><Relationship Id="rId57" Type="http://schemas.openxmlformats.org/officeDocument/2006/relationships/font" Target="fonts/font5.fntdata"/><Relationship Id="rId56" Type="http://schemas.openxmlformats.org/officeDocument/2006/relationships/font" Target="fonts/font4.fntdata"/><Relationship Id="rId55" Type="http://schemas.openxmlformats.org/officeDocument/2006/relationships/font" Target="fonts/font3.fntdata"/><Relationship Id="rId54" Type="http://schemas.openxmlformats.org/officeDocument/2006/relationships/font" Target="fonts/font2.fntdata"/><Relationship Id="rId53" Type="http://schemas.openxmlformats.org/officeDocument/2006/relationships/font" Target="fonts/font1.fntdata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5" name="Google Shape;325;p23"/>
          <p:cNvSpPr txBox="1">
            <a:spLocks noGrp="1"/>
          </p:cNvSpPr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3"/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3"/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328" name="Google Shape;328;p23"/>
          <p:cNvSpPr txBox="1">
            <a:spLocks noGrp="1"/>
          </p:cNvSpPr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86" name="Google Shape;486;p31"/>
          <p:cNvSpPr txBox="1">
            <a:spLocks noGrp="1"/>
          </p:cNvSpPr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>
            <a:spLocks noGrp="1"/>
          </p:cNvSpPr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8" name="Google Shape;488;p31"/>
          <p:cNvSpPr txBox="1">
            <a:spLocks noGrp="1"/>
          </p:cNvSpPr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9" name="Google Shape;489;p31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31"/>
          <p:cNvSpPr txBox="1">
            <a:spLocks noGrp="1"/>
          </p:cNvSpPr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2" name="Google Shape;492;p31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4" name="Google Shape;494;p31"/>
          <p:cNvSpPr txBox="1">
            <a:spLocks noGrp="1"/>
          </p:cNvSpPr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5" name="Google Shape;495;p31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geeksforgeeks.org/flutter/flutter-tutorial/" TargetMode="External"/><Relationship Id="rId3" Type="http://schemas.openxmlformats.org/officeDocument/2006/relationships/hyperlink" Target="https://docs.flutter.dev/" TargetMode="External"/><Relationship Id="rId2" Type="http://schemas.openxmlformats.org/officeDocument/2006/relationships/hyperlink" Target="https://api.flutter.dev/" TargetMode="Externa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6184" y="3286466"/>
            <a:ext cx="50032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GVHD:	TS. Nguyễn Duy Nhật </a:t>
            </a:r>
            <a:r>
              <a:rPr lang="en-US" b="1" dirty="0" err="1">
                <a:latin typeface="+mj-lt"/>
              </a:rPr>
              <a:t>Viễn</a:t>
            </a:r>
            <a:endParaRPr lang="en-US" b="1" dirty="0">
              <a:latin typeface="+mj-lt"/>
            </a:endParaRP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SVTH:	Trần Đại Tín – 22KTMT2 – 106220272</a:t>
            </a:r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	Nguyễn Xuân Trường – 22KTMT2 - 106220275</a:t>
            </a:r>
            <a:endParaRPr lang="en-US" b="1" dirty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0562" cy="729253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 txBox="1"/>
          <p:nvPr/>
        </p:nvSpPr>
        <p:spPr>
          <a:xfrm>
            <a:off x="810281" y="1060137"/>
            <a:ext cx="7975100" cy="729253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cáo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Tuần</a:t>
            </a:r>
            <a:endParaRPr lang="en-US" sz="2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Môn: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đa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nền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tảng</a:t>
            </a:r>
            <a:endParaRPr lang="vi-VN" sz="2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209985" y="1966486"/>
            <a:ext cx="8914998" cy="86594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1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1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1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1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Buttons </a:t>
            </a:r>
            <a:r>
              <a:rPr lang="en-US" sz="41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1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Input Widgets</a:t>
            </a:r>
            <a:endParaRPr lang="vi-VN" sz="41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91759" y="247502"/>
            <a:ext cx="29514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TRƯỜNG ĐẠI HỌC BÁCH KHOA</a:t>
            </a:r>
            <a:endParaRPr lang="en-US" b="1" dirty="0"/>
          </a:p>
          <a:p>
            <a:r>
              <a:rPr lang="en-US" b="1" dirty="0"/>
              <a:t>KHOA ĐIỆN TỬ - VIỄN THÔNG</a:t>
            </a:r>
            <a:endParaRPr lang="en-US" b="1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77738" y="4694613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Đà</a:t>
            </a:r>
            <a:r>
              <a:rPr lang="en-US" sz="1200" dirty="0"/>
              <a:t> </a:t>
            </a:r>
            <a:r>
              <a:rPr lang="en-US" sz="1200" dirty="0" err="1"/>
              <a:t>Nẵng</a:t>
            </a:r>
            <a:r>
              <a:rPr lang="en-US" sz="1200" dirty="0"/>
              <a:t>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5376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76502" y="1038346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</a:t>
            </a:r>
            <a:r>
              <a:rPr lang="en-US" sz="2000" b="1" dirty="0"/>
              <a:t>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Phân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công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công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việc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840376" y="1367790"/>
          <a:ext cx="7463248" cy="2407920"/>
        </p:xfrm>
        <a:graphic>
          <a:graphicData uri="http://schemas.openxmlformats.org/drawingml/2006/table">
            <a:tbl>
              <a:tblPr firstRow="1" bandRow="1">
                <a:tableStyleId>{5EA0A50E-D806-47F9-8622-6DD71D228117}</a:tableStyleId>
              </a:tblPr>
              <a:tblGrid>
                <a:gridCol w="886099"/>
                <a:gridCol w="2266406"/>
                <a:gridCol w="3344091"/>
                <a:gridCol w="9666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STT</a:t>
                      </a:r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HỌ VÀ TÊN</a:t>
                      </a:r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NỘI DUNG</a:t>
                      </a:r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TỶ LỆ ĐÓNG GÓP</a:t>
                      </a:r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Trần Đại Tín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 </a:t>
                      </a: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chọn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nội</a:t>
                      </a:r>
                      <a:r>
                        <a:rPr lang="en-US" dirty="0"/>
                        <a:t> dung </a:t>
                      </a:r>
                      <a:r>
                        <a:rPr lang="en-US" dirty="0" err="1"/>
                        <a:t>tham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khảo</a:t>
                      </a:r>
                      <a:r>
                        <a:rPr lang="en-US" dirty="0"/>
                        <a:t>.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-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1, 2, 3;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4, 5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  <a:endParaRPr lang="en-US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Nguyễn Xuân Trường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chọn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nội</a:t>
                      </a:r>
                      <a:r>
                        <a:rPr lang="en-US" dirty="0"/>
                        <a:t> dung </a:t>
                      </a:r>
                      <a:r>
                        <a:rPr lang="en-US" dirty="0" err="1"/>
                        <a:t>tham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khảo</a:t>
                      </a:r>
                      <a:r>
                        <a:rPr lang="en-US" dirty="0"/>
                        <a:t>.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1, 2, 3;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4, 5.</a:t>
                      </a:r>
                      <a:endParaRPr lang="en-US" dirty="0"/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2" name="TextBox 4221"/>
          <p:cNvSpPr txBox="1"/>
          <p:nvPr/>
        </p:nvSpPr>
        <p:spPr>
          <a:xfrm>
            <a:off x="782430" y="1411698"/>
            <a:ext cx="5559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Flutter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framework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mã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nguồn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mở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Google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giúp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phát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triển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ứng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đa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nền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tảng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từ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codebase,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sử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ngôn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ngữ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Dart.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Ưu</a:t>
            </a:r>
            <a:r>
              <a:rPr lang="en-US" sz="1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điểm</a:t>
            </a:r>
            <a:r>
              <a:rPr lang="en-US" sz="1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nổi</a:t>
            </a:r>
            <a:r>
              <a:rPr lang="en-US" sz="1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bật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Đa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nền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tảng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toàn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diện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</a:t>
            </a:r>
            <a:r>
              <a:rPr lang="en-US" sz="1800" dirty="0" err="1">
                <a:cs typeface="Times New Roman" panose="02020603050405020304" pitchFamily="18" charset="0"/>
              </a:rPr>
              <a:t>hạy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trên</a:t>
            </a:r>
            <a:r>
              <a:rPr lang="en-US" sz="1800" dirty="0">
                <a:cs typeface="Times New Roman" panose="02020603050405020304" pitchFamily="18" charset="0"/>
              </a:rPr>
              <a:t> Android, iOS, Web, Desktop.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Hot Reload: </a:t>
            </a:r>
            <a:r>
              <a:rPr lang="vi-VN" sz="1800" dirty="0">
                <a:cs typeface="Times New Roman" panose="02020603050405020304" pitchFamily="18" charset="0"/>
              </a:rPr>
              <a:t>Xem </a:t>
            </a:r>
            <a:r>
              <a:rPr lang="en-US" sz="1800" dirty="0" err="1">
                <a:cs typeface="Times New Roman" panose="02020603050405020304" pitchFamily="18" charset="0"/>
              </a:rPr>
              <a:t>cập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nhật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thay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đổi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vi-VN" sz="1800" dirty="0">
                <a:cs typeface="Times New Roman" panose="02020603050405020304" pitchFamily="18" charset="0"/>
              </a:rPr>
              <a:t>tức thì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Widget-based: </a:t>
            </a:r>
            <a:r>
              <a:rPr lang="vi-VN" sz="1800" dirty="0">
                <a:cs typeface="Times New Roman" panose="02020603050405020304" pitchFamily="18" charset="0"/>
              </a:rPr>
              <a:t>Giao diện tùy biến cao</a:t>
            </a:r>
            <a:r>
              <a:rPr lang="en-US" sz="1800" dirty="0"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cs typeface="Times New Roman" panose="02020603050405020304" pitchFamily="18" charset="0"/>
              </a:rPr>
              <a:t>linh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hoạt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lvl="1" algn="just"/>
            <a:r>
              <a:rPr lang="en-US" sz="1800" dirty="0">
                <a:latin typeface="+mj-lt"/>
                <a:cs typeface="Times New Roman" panose="02020603050405020304" pitchFamily="18" charset="0"/>
              </a:rPr>
              <a:t>  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232" name="Picture 42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5408" y="0"/>
            <a:ext cx="2488592" cy="5143500"/>
          </a:xfrm>
          <a:prstGeom prst="rect">
            <a:avLst/>
          </a:prstGeom>
        </p:spPr>
      </p:pic>
      <p:pic>
        <p:nvPicPr>
          <p:cNvPr id="4234" name="Picture 42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76"/>
            <a:ext cx="2638697" cy="683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2223" y="1366780"/>
            <a:ext cx="59799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2000" b="1" dirty="0"/>
              <a:t>Widget</a:t>
            </a:r>
            <a:r>
              <a:rPr lang="en-US" sz="2000" b="1" dirty="0"/>
              <a:t>s</a:t>
            </a:r>
            <a:r>
              <a:rPr lang="vi-VN" sz="2000" dirty="0"/>
              <a:t> là những thành phần xây dựng nên giao diện người dùng của ứng dụng</a:t>
            </a:r>
            <a:r>
              <a:rPr lang="en-US" sz="2000" dirty="0"/>
              <a:t> </a:t>
            </a:r>
            <a:r>
              <a:rPr lang="vi-VN" sz="2000" dirty="0"/>
              <a:t>Flutter</a:t>
            </a:r>
            <a:r>
              <a:rPr lang="en-US" sz="2000" dirty="0"/>
              <a:t>.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err="1"/>
              <a:t>Mọi</a:t>
            </a:r>
            <a:r>
              <a:rPr lang="en-US" sz="2000" dirty="0"/>
              <a:t> </a:t>
            </a:r>
            <a:r>
              <a:rPr lang="en-US" sz="2000" dirty="0" err="1"/>
              <a:t>thứ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Flutter </a:t>
            </a:r>
            <a:r>
              <a:rPr lang="en-US" sz="2000" dirty="0" err="1"/>
              <a:t>đều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Widget.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2000" dirty="0"/>
              <a:t>Widgets được dùng để mô tả tất cả các khía cạnh của giao diện</a:t>
            </a:r>
            <a:r>
              <a:rPr lang="en-US" sz="2000" dirty="0"/>
              <a:t>, c</a:t>
            </a:r>
            <a:r>
              <a:rPr lang="vi-VN" sz="2000" dirty="0"/>
              <a:t>ác thành phần cơ bản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vi-VN" sz="2000" dirty="0"/>
              <a:t>nút, văn bản, hình ảnh, bố cục...</a:t>
            </a:r>
            <a:endParaRPr lang="en-US" sz="2000" dirty="0"/>
          </a:p>
          <a:p>
            <a:pPr algn="just"/>
            <a:r>
              <a:rPr lang="en-US" sz="2000" dirty="0"/>
              <a:t> 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609836" y="12783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Widget </a:t>
            </a:r>
            <a:r>
              <a:rPr lang="en-US" sz="2800" b="1" dirty="0" err="1">
                <a:solidFill>
                  <a:schemeClr val="tx1"/>
                </a:solidFill>
              </a:rPr>
              <a:t>trong</a:t>
            </a:r>
            <a:r>
              <a:rPr lang="en-US" sz="2800" b="1" dirty="0">
                <a:solidFill>
                  <a:schemeClr val="tx1"/>
                </a:solidFill>
              </a:rPr>
              <a:t> Flutter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0959" y="1223085"/>
            <a:ext cx="62544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 err="1"/>
              <a:t>Một</a:t>
            </a:r>
            <a:r>
              <a:rPr lang="en-US" sz="1800" dirty="0"/>
              <a:t> widget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stateful (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) </a:t>
            </a:r>
            <a:r>
              <a:rPr lang="en-US" sz="1800" dirty="0" err="1"/>
              <a:t>hoặc</a:t>
            </a:r>
            <a:r>
              <a:rPr lang="en-US" sz="1800" dirty="0"/>
              <a:t> stateless (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).</a:t>
            </a: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/>
              <a:t>Stateless widgets </a:t>
            </a:r>
            <a:r>
              <a:rPr lang="en-US" sz="1800" dirty="0" err="1"/>
              <a:t>không</a:t>
            </a:r>
            <a:r>
              <a:rPr lang="en-US" sz="1800" dirty="0"/>
              <a:t> bao </a:t>
            </a:r>
            <a:r>
              <a:rPr lang="en-US" sz="1800" dirty="0" err="1"/>
              <a:t>giờ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(</a:t>
            </a: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Icon, Text). Các stateless widgets </a:t>
            </a:r>
            <a:r>
              <a:rPr lang="en-US" sz="1800" dirty="0" err="1"/>
              <a:t>kế</a:t>
            </a:r>
            <a:r>
              <a:rPr lang="en-US" sz="1800" dirty="0"/>
              <a:t> </a:t>
            </a:r>
            <a:r>
              <a:rPr lang="en-US" sz="1800" dirty="0" err="1"/>
              <a:t>thừa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lớp</a:t>
            </a:r>
            <a:r>
              <a:rPr lang="en-US" sz="1800" dirty="0"/>
              <a:t> </a:t>
            </a:r>
            <a:r>
              <a:rPr lang="en-US" sz="1800" b="1" dirty="0" err="1"/>
              <a:t>StatelessWidget</a:t>
            </a:r>
            <a:r>
              <a:rPr lang="en-US" sz="1800" dirty="0"/>
              <a:t>. </a:t>
            </a: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/>
              <a:t>Stateful widgets </a:t>
            </a:r>
            <a:r>
              <a:rPr lang="vi-VN" sz="1800" dirty="0"/>
              <a:t>có thể thay đổi để phản hồi các sự kiện do người dùng kích hoạt hoặc khi nhận dữ liệu mới</a:t>
            </a:r>
            <a:r>
              <a:rPr lang="en-US" sz="1800" dirty="0"/>
              <a:t> (</a:t>
            </a: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 </a:t>
            </a:r>
            <a:r>
              <a:rPr lang="vi-VN" sz="1800" dirty="0"/>
              <a:t>Checkbox, Slider, Form</a:t>
            </a:r>
            <a:r>
              <a:rPr lang="en-US" sz="1800" dirty="0"/>
              <a:t>,</a:t>
            </a:r>
            <a:r>
              <a:rPr lang="vi-VN" sz="1800" dirty="0"/>
              <a:t> TextField</a:t>
            </a:r>
            <a:r>
              <a:rPr lang="en-US" sz="1800" dirty="0"/>
              <a:t>)</a:t>
            </a:r>
            <a:r>
              <a:rPr lang="vi-VN" sz="1800" dirty="0"/>
              <a:t>. Các stateful widget</a:t>
            </a:r>
            <a:r>
              <a:rPr lang="en-US" sz="1800" dirty="0"/>
              <a:t>s</a:t>
            </a:r>
            <a:r>
              <a:rPr lang="vi-VN" sz="1800" dirty="0"/>
              <a:t> kế thừa từ lớp </a:t>
            </a:r>
            <a:r>
              <a:rPr lang="vi-VN" sz="1800" b="1" dirty="0"/>
              <a:t>StatefulWidget</a:t>
            </a:r>
            <a:r>
              <a:rPr lang="vi-VN" sz="1800" dirty="0"/>
              <a:t>.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609836" y="12783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Widget </a:t>
            </a:r>
            <a:r>
              <a:rPr lang="en-US" sz="2800" b="1" dirty="0" err="1">
                <a:solidFill>
                  <a:schemeClr val="tx1"/>
                </a:solidFill>
              </a:rPr>
              <a:t>trong</a:t>
            </a:r>
            <a:r>
              <a:rPr lang="en-US" sz="2800" b="1" dirty="0">
                <a:solidFill>
                  <a:schemeClr val="tx1"/>
                </a:solidFill>
              </a:rPr>
              <a:t> Flutter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Widgets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3791" y="1555938"/>
            <a:ext cx="73482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 dirty="0">
                <a:latin typeface="+mn-lt"/>
              </a:rPr>
              <a:t>Nút (Button) là </a:t>
            </a:r>
            <a:r>
              <a:rPr lang="en-US" sz="2000" dirty="0">
                <a:latin typeface="+mn-lt"/>
              </a:rPr>
              <a:t>widget </a:t>
            </a:r>
            <a:r>
              <a:rPr lang="vi-VN" sz="2000" dirty="0">
                <a:latin typeface="+mn-lt"/>
              </a:rPr>
              <a:t>cung cấp cho người dùng khả năng </a:t>
            </a:r>
            <a:r>
              <a:rPr lang="vi-VN" sz="2000" b="1" dirty="0">
                <a:latin typeface="+mn-lt"/>
              </a:rPr>
              <a:t>chạm</a:t>
            </a:r>
            <a:r>
              <a:rPr lang="vi-VN" sz="2000" dirty="0">
                <a:latin typeface="+mn-lt"/>
              </a:rPr>
              <a:t> để thực hiện hành động, đưa ra lựa chọn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nhấn</a:t>
            </a:r>
            <a:r>
              <a:rPr lang="vi-VN" sz="2000" dirty="0">
                <a:latin typeface="+mn-lt"/>
              </a:rPr>
              <a:t> gửi form, lưu dữ liệu, mở trang mới, v.v. </a:t>
            </a:r>
            <a:r>
              <a:rPr lang="en-US" sz="2000" dirty="0">
                <a:latin typeface="+mn-lt"/>
              </a:rPr>
              <a:t>)</a:t>
            </a:r>
            <a:endParaRPr lang="en-US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Buttons </a:t>
            </a:r>
            <a:r>
              <a:rPr lang="en-US" sz="2000" dirty="0" err="1">
                <a:latin typeface="+mn-lt"/>
              </a:rPr>
              <a:t>là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tính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năng</a:t>
            </a:r>
            <a:r>
              <a:rPr lang="en-US" sz="2000" dirty="0">
                <a:latin typeface="+mn-lt"/>
              </a:rPr>
              <a:t> </a:t>
            </a:r>
            <a:r>
              <a:rPr lang="vi-VN" sz="2000" dirty="0">
                <a:latin typeface="+mn-lt"/>
              </a:rPr>
              <a:t>được sử dụng phổ biến</a:t>
            </a:r>
            <a:r>
              <a:rPr lang="en-US" sz="2000" dirty="0">
                <a:latin typeface="+mn-lt"/>
              </a:rPr>
              <a:t> </a:t>
            </a:r>
            <a:r>
              <a:rPr lang="vi-VN" sz="2000" dirty="0">
                <a:latin typeface="+mn-lt"/>
              </a:rPr>
              <a:t>trong hầu hết các ứng dụng Flutter</a:t>
            </a:r>
            <a:r>
              <a:rPr lang="en-US" sz="2000" dirty="0">
                <a:latin typeface="+mn-lt"/>
              </a:rPr>
              <a:t>.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Widgets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836" y="1448365"/>
            <a:ext cx="77257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/>
              <a:t>Flutter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loại</a:t>
            </a:r>
            <a:r>
              <a:rPr lang="en-US" sz="2000" dirty="0"/>
              <a:t> Button </a:t>
            </a:r>
            <a:r>
              <a:rPr lang="en-US" sz="2000" dirty="0" err="1"/>
              <a:t>như</a:t>
            </a:r>
            <a:r>
              <a:rPr lang="en-US" sz="2000" dirty="0"/>
              <a:t>: Elevated Button, </a:t>
            </a:r>
            <a:r>
              <a:rPr lang="en-US" sz="2000" dirty="0">
                <a:latin typeface="+mn-lt"/>
              </a:rPr>
              <a:t>Text Button, Icon Button, </a:t>
            </a:r>
            <a:r>
              <a:rPr lang="en-US" sz="2000" dirty="0" err="1"/>
              <a:t>OutlinedButton</a:t>
            </a:r>
            <a:r>
              <a:rPr lang="en-US" sz="2000" dirty="0"/>
              <a:t>.</a:t>
            </a:r>
            <a:endParaRPr lang="en-US" sz="2000" dirty="0"/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vi-VN" sz="2000" dirty="0"/>
              <a:t>Button</a:t>
            </a:r>
            <a:r>
              <a:rPr lang="en-US" sz="2000" dirty="0"/>
              <a:t>s</a:t>
            </a:r>
            <a:r>
              <a:rPr lang="vi-VN" sz="2000" dirty="0"/>
              <a:t> có các thuộc tính như:</a:t>
            </a:r>
            <a:endParaRPr lang="en-US" sz="2000" dirty="0"/>
          </a:p>
          <a:p>
            <a:pPr algn="just" fontAlgn="base"/>
            <a:r>
              <a:rPr lang="en-US" sz="2000" dirty="0"/>
              <a:t>     - </a:t>
            </a:r>
            <a:r>
              <a:rPr lang="en-US" sz="2000" b="1" dirty="0" err="1"/>
              <a:t>onPressed</a:t>
            </a:r>
            <a:r>
              <a:rPr lang="vi-VN" sz="2000" dirty="0"/>
              <a:t>: Hàm callback được gọi khi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vi-VN" sz="2000" dirty="0"/>
              <a:t>nhấn</a:t>
            </a:r>
            <a:r>
              <a:rPr lang="en-US" sz="2000" dirty="0"/>
              <a:t> </a:t>
            </a:r>
            <a:r>
              <a:rPr lang="en-US" sz="2000" dirty="0" err="1"/>
              <a:t>nút</a:t>
            </a:r>
            <a:r>
              <a:rPr lang="en-US" sz="2000" dirty="0"/>
              <a:t>.</a:t>
            </a:r>
            <a:endParaRPr lang="en-US" sz="2000" dirty="0"/>
          </a:p>
          <a:p>
            <a:pPr lvl="1" algn="just" fontAlgn="base"/>
            <a:r>
              <a:rPr lang="en-US" sz="2000" dirty="0"/>
              <a:t>     - </a:t>
            </a:r>
            <a:r>
              <a:rPr lang="en-US" sz="2000" b="1" dirty="0"/>
              <a:t>child</a:t>
            </a:r>
            <a:r>
              <a:rPr lang="en-US" sz="2000" dirty="0"/>
              <a:t>: Widget con </a:t>
            </a:r>
            <a:r>
              <a:rPr lang="en-US" sz="2000" dirty="0" err="1"/>
              <a:t>bên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Button (</a:t>
            </a:r>
            <a:r>
              <a:rPr lang="en-US" sz="2000" dirty="0" err="1"/>
              <a:t>thường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Text, Icon).</a:t>
            </a:r>
            <a:endParaRPr lang="en-US" sz="2000" dirty="0"/>
          </a:p>
          <a:p>
            <a:pPr lvl="1" algn="just" fontAlgn="base"/>
            <a:r>
              <a:rPr lang="en-US" sz="2000" dirty="0"/>
              <a:t>     - </a:t>
            </a:r>
            <a:r>
              <a:rPr lang="vi-VN" sz="2000" b="1" dirty="0"/>
              <a:t>style</a:t>
            </a:r>
            <a:r>
              <a:rPr lang="vi-VN" sz="2000" dirty="0"/>
              <a:t>: Tùy chỉnh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</a:t>
            </a:r>
            <a:r>
              <a:rPr lang="en-US" sz="2000" dirty="0" err="1"/>
              <a:t>nút</a:t>
            </a:r>
            <a:r>
              <a:rPr lang="en-US" sz="2000" dirty="0"/>
              <a:t> (</a:t>
            </a:r>
            <a:r>
              <a:rPr lang="vi-VN" sz="2000" dirty="0"/>
              <a:t>màu sắc, kích thước, </a:t>
            </a:r>
            <a:r>
              <a:rPr lang="en-US" sz="2000" dirty="0" err="1"/>
              <a:t>viền</a:t>
            </a:r>
            <a:r>
              <a:rPr lang="en-US" sz="2000" dirty="0"/>
              <a:t>,…)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Input Widgets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14353" y="1240163"/>
            <a:ext cx="57069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b="1" dirty="0"/>
              <a:t>Input Widgets</a:t>
            </a:r>
            <a:r>
              <a:rPr lang="vi-VN" sz="2000" dirty="0"/>
              <a:t> là các widget cho phép người dùng nhập dữ liệu hoặc lựa chọn thông tin</a:t>
            </a:r>
            <a:r>
              <a:rPr lang="en-US" sz="2000" dirty="0"/>
              <a:t>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vi-VN" sz="2000" dirty="0"/>
              <a:t>ứng dụng Flutter có khả năng tương tác hai chiều với người dùng.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Đóng</a:t>
            </a:r>
            <a:r>
              <a:rPr lang="en-US" sz="2000" dirty="0"/>
              <a:t> </a:t>
            </a:r>
            <a:r>
              <a:rPr lang="en-US" sz="2000" dirty="0" err="1"/>
              <a:t>vai</a:t>
            </a:r>
            <a:r>
              <a:rPr lang="en-US" sz="2000" dirty="0"/>
              <a:t> </a:t>
            </a:r>
            <a:r>
              <a:rPr lang="en-US" sz="2000" dirty="0" err="1"/>
              <a:t>trò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thu</a:t>
            </a:r>
            <a:r>
              <a:rPr lang="en-US" sz="2000" dirty="0"/>
              <a:t> </a:t>
            </a:r>
            <a:r>
              <a:rPr lang="en-US" sz="2000" dirty="0" err="1"/>
              <a:t>thập</a:t>
            </a:r>
            <a:r>
              <a:rPr lang="en-US" sz="2000" dirty="0"/>
              <a:t>,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: </a:t>
            </a:r>
            <a:r>
              <a:rPr lang="en-US" sz="2000" b="1" dirty="0" err="1"/>
              <a:t>TextField</a:t>
            </a:r>
            <a:r>
              <a:rPr lang="en-US" sz="2000" b="1" dirty="0"/>
              <a:t>, Checkbox, Switch,</a:t>
            </a:r>
            <a:r>
              <a:rPr lang="en-US" sz="2000" dirty="0"/>
              <a:t> v.v.</a:t>
            </a:r>
            <a:endParaRPr lang="en-US" sz="2000" dirty="0"/>
          </a:p>
          <a:p>
            <a:endParaRPr lang="vi-V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5376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76502" y="1038346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</a:t>
            </a:r>
            <a:r>
              <a:rPr lang="en-US" sz="2000" b="1" dirty="0"/>
              <a:t> </a:t>
            </a:r>
            <a:r>
              <a:rPr lang="en-US" sz="2000" b="1" dirty="0" err="1"/>
              <a:t>ElevatedButton</a:t>
            </a:r>
            <a:r>
              <a:rPr lang="en-US" sz="2000" b="1" dirty="0"/>
              <a:t>, </a:t>
            </a:r>
            <a:r>
              <a:rPr lang="en-US" sz="2000" b="1" dirty="0" err="1"/>
              <a:t>TextButton</a:t>
            </a:r>
            <a:r>
              <a:rPr lang="en-US" sz="2000" b="1" dirty="0"/>
              <a:t>, </a:t>
            </a:r>
            <a:r>
              <a:rPr lang="en-US" sz="2000" b="1" dirty="0" err="1"/>
              <a:t>OutlinedButton</a:t>
            </a:r>
            <a:r>
              <a:rPr lang="en-US" sz="2000" b="1" dirty="0"/>
              <a:t>, </a:t>
            </a:r>
            <a:r>
              <a:rPr lang="en-US" sz="2000" b="1" dirty="0" err="1"/>
              <a:t>IconButton</a:t>
            </a: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ElevatedButton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367268" y="1604505"/>
            <a:ext cx="50485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/>
              <a:t>ElevatedButton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loại</a:t>
            </a:r>
            <a:r>
              <a:rPr lang="en-US" sz="1800" dirty="0"/>
              <a:t> </a:t>
            </a:r>
            <a:r>
              <a:rPr lang="en-US" sz="1800" dirty="0" err="1"/>
              <a:t>nút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nổi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bóng</a:t>
            </a:r>
            <a:r>
              <a:rPr lang="en-US" sz="1800" dirty="0"/>
              <a:t> </a:t>
            </a:r>
            <a:r>
              <a:rPr lang="en-US" sz="1800" dirty="0" err="1"/>
              <a:t>đổ</a:t>
            </a:r>
            <a:r>
              <a:rPr lang="en-US" sz="1800" dirty="0"/>
              <a:t>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Thường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, </a:t>
            </a:r>
            <a:r>
              <a:rPr lang="vi-VN" sz="1800" dirty="0"/>
              <a:t>tạo cảm giác </a:t>
            </a:r>
            <a:r>
              <a:rPr lang="vi-VN" sz="1800" b="1" dirty="0"/>
              <a:t>có chiều sâu</a:t>
            </a:r>
            <a:r>
              <a:rPr lang="vi-VN" sz="1800" dirty="0"/>
              <a:t> cho những bố cục chủ yếu phẳng</a:t>
            </a:r>
            <a:r>
              <a:rPr lang="en-US" sz="1800" dirty="0"/>
              <a:t> (</a:t>
            </a:r>
            <a:r>
              <a:rPr lang="vi-VN" sz="1800" dirty="0"/>
              <a:t>danh sách dài nhiều nội dung</a:t>
            </a:r>
            <a:r>
              <a:rPr lang="en-US" sz="1800" dirty="0"/>
              <a:t>, </a:t>
            </a:r>
            <a:r>
              <a:rPr lang="en-US" sz="1800" dirty="0" err="1"/>
              <a:t>vùng</a:t>
            </a:r>
            <a:r>
              <a:rPr lang="en-US" sz="1800" dirty="0"/>
              <a:t> </a:t>
            </a:r>
            <a:r>
              <a:rPr lang="vi-VN" sz="1800" dirty="0"/>
              <a:t>không gian rộng</a:t>
            </a:r>
            <a:r>
              <a:rPr lang="en-US" sz="1800" dirty="0"/>
              <a:t>).</a:t>
            </a:r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80" y="2115021"/>
            <a:ext cx="2604700" cy="913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ElevatedButton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4748984" y="2501744"/>
            <a:ext cx="4026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onPressed</a:t>
            </a:r>
            <a:r>
              <a:rPr lang="en-US" sz="1600" dirty="0"/>
              <a:t>: () {}: </a:t>
            </a:r>
            <a:r>
              <a:rPr lang="en-US" sz="1600" dirty="0" err="1"/>
              <a:t>hàm</a:t>
            </a:r>
            <a:r>
              <a:rPr lang="en-US" sz="1600" dirty="0"/>
              <a:t> callback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 </a:t>
            </a:r>
            <a:r>
              <a:rPr lang="en-US" sz="1600" dirty="0" err="1"/>
              <a:t>nhấn</a:t>
            </a:r>
            <a:r>
              <a:rPr lang="en-US" sz="1600" dirty="0"/>
              <a:t> </a:t>
            </a:r>
            <a:r>
              <a:rPr lang="en-US" sz="1600" dirty="0" err="1"/>
              <a:t>nút</a:t>
            </a:r>
            <a:r>
              <a:rPr lang="en-US" sz="1600" dirty="0"/>
              <a:t>.</a:t>
            </a:r>
            <a:endParaRPr lang="en-US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child: const Text("</a:t>
            </a:r>
            <a:r>
              <a:rPr lang="en-US" sz="1600" dirty="0" err="1"/>
              <a:t>MyElevatedButton</a:t>
            </a:r>
            <a:r>
              <a:rPr lang="en-US" sz="1600" dirty="0"/>
              <a:t>"): </a:t>
            </a:r>
            <a:r>
              <a:rPr lang="en-US" sz="1600" dirty="0" err="1"/>
              <a:t>nội</a:t>
            </a:r>
            <a:r>
              <a:rPr lang="en-US" sz="1600" dirty="0"/>
              <a:t> dung </a:t>
            </a:r>
            <a:r>
              <a:rPr lang="en-US" sz="1600" dirty="0" err="1"/>
              <a:t>hiển</a:t>
            </a:r>
            <a:r>
              <a:rPr lang="en-US" sz="1600" dirty="0"/>
              <a:t> </a:t>
            </a:r>
            <a:r>
              <a:rPr lang="en-US" sz="1600" dirty="0" err="1"/>
              <a:t>thị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nút</a:t>
            </a:r>
            <a:r>
              <a:rPr lang="en-US" sz="1600" dirty="0"/>
              <a:t>.</a:t>
            </a:r>
            <a:endParaRPr lang="en-US" sz="2800" dirty="0"/>
          </a:p>
          <a:p>
            <a:endParaRPr lang="en-US" sz="1600" dirty="0"/>
          </a:p>
        </p:txBody>
      </p:sp>
      <p:pic>
        <p:nvPicPr>
          <p:cNvPr id="123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303" y="834644"/>
            <a:ext cx="3289569" cy="1052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56" y="834644"/>
            <a:ext cx="4181854" cy="38746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91" y="834644"/>
            <a:ext cx="4181854" cy="3874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448549" y="1046742"/>
            <a:ext cx="48032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1"/>
                </a:solidFill>
              </a:rPr>
              <a:t>TextButton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loại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nút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nhấn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đơn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giản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nhất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trong</a:t>
            </a:r>
            <a:r>
              <a:rPr lang="en-US" sz="1800" dirty="0">
                <a:solidFill>
                  <a:schemeClr val="tx1"/>
                </a:solidFill>
              </a:rPr>
              <a:t> Flutter. </a:t>
            </a:r>
            <a:r>
              <a:rPr lang="en-US" sz="1800" dirty="0" err="1">
                <a:solidFill>
                  <a:schemeClr val="tx1"/>
                </a:solidFill>
              </a:rPr>
              <a:t>Chúng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các</a:t>
            </a:r>
            <a:r>
              <a:rPr lang="en-US" sz="1800" dirty="0">
                <a:solidFill>
                  <a:schemeClr val="tx1"/>
                </a:solidFill>
              </a:rPr>
              <a:t> Buttons ở </a:t>
            </a:r>
            <a:r>
              <a:rPr lang="en-US" sz="1800" dirty="0" err="1">
                <a:solidFill>
                  <a:schemeClr val="tx1"/>
                </a:solidFill>
              </a:rPr>
              <a:t>dạng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văn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đơn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giản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không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có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đường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viền</a:t>
            </a:r>
            <a:r>
              <a:rPr lang="en-US" sz="1800" dirty="0">
                <a:solidFill>
                  <a:schemeClr val="tx1"/>
                </a:solidFill>
              </a:rPr>
              <a:t> hay </a:t>
            </a:r>
            <a:r>
              <a:rPr lang="en-US" sz="1800" dirty="0" err="1">
                <a:solidFill>
                  <a:schemeClr val="tx1"/>
                </a:solidFill>
              </a:rPr>
              <a:t>khung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Thường s</a:t>
            </a:r>
            <a:r>
              <a:rPr lang="vi-VN" sz="1800" dirty="0"/>
              <a:t>ử dụng </a:t>
            </a:r>
            <a:r>
              <a:rPr lang="vi-VN" sz="1800" b="1" dirty="0"/>
              <a:t>TextButton</a:t>
            </a:r>
            <a:r>
              <a:rPr lang="vi-VN" sz="1800" dirty="0"/>
              <a:t> trên thanh công cụ (toolbar</a:t>
            </a:r>
            <a:r>
              <a:rPr lang="en-US" sz="1800" dirty="0"/>
              <a:t>)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vi-VN" sz="1800" dirty="0"/>
              <a:t>dialog</a:t>
            </a:r>
            <a:r>
              <a:rPr lang="en-US" sz="1800" dirty="0"/>
              <a:t>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Tránh sử dụng TextButton ở những vị trí mà chúng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vi-VN" sz="1800" dirty="0"/>
              <a:t> lẫn với nội dung khác, ví dụ như giữa các danh sách dài.</a:t>
            </a:r>
            <a:endParaRPr lang="vi-VN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119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505" y="1816705"/>
            <a:ext cx="2775975" cy="10440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095" y="1919755"/>
            <a:ext cx="2125421" cy="818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095" y="827251"/>
            <a:ext cx="2116184" cy="818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99" y="827251"/>
            <a:ext cx="3997450" cy="3725918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5260494" y="3003572"/>
            <a:ext cx="3065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hai</a:t>
            </a:r>
            <a:r>
              <a:rPr lang="en-US" sz="1600" dirty="0"/>
              <a:t> </a:t>
            </a:r>
            <a:r>
              <a:rPr lang="en-US" sz="1600" dirty="0" err="1"/>
              <a:t>thuộc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bắt</a:t>
            </a:r>
            <a:r>
              <a:rPr lang="en-US" sz="1600" dirty="0"/>
              <a:t> </a:t>
            </a:r>
            <a:r>
              <a:rPr lang="en-US" sz="1600" dirty="0" err="1"/>
              <a:t>buộc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child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onPressed</a:t>
            </a:r>
            <a:r>
              <a:rPr lang="en-US" sz="1600" dirty="0"/>
              <a:t>()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Mặc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TextButton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màu</a:t>
            </a:r>
            <a:r>
              <a:rPr lang="en-US" sz="1600" dirty="0"/>
              <a:t> </a:t>
            </a:r>
            <a:r>
              <a:rPr lang="en-US" sz="1600" dirty="0" err="1"/>
              <a:t>nền</a:t>
            </a:r>
            <a:r>
              <a:rPr lang="en-US" sz="1600" dirty="0"/>
              <a:t>, ta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thiết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</a:t>
            </a:r>
            <a:r>
              <a:rPr lang="en-US" sz="1600" dirty="0" err="1"/>
              <a:t>màu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qua style</a:t>
            </a:r>
            <a:endParaRPr lang="en-US" sz="1600" dirty="0"/>
          </a:p>
        </p:txBody>
      </p:sp>
      <p:pic>
        <p:nvPicPr>
          <p:cNvPr id="117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899" y="827251"/>
            <a:ext cx="4128078" cy="3725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OutlinedButton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304918" y="1350659"/>
            <a:ext cx="33082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OutlinedButton</a:t>
            </a:r>
            <a:r>
              <a:rPr lang="vi-VN" sz="1800" dirty="0"/>
              <a:t> tương tự như TextButton, nhưng có đường viền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ngoài</a:t>
            </a:r>
            <a:r>
              <a:rPr lang="en-US" sz="1800" dirty="0"/>
              <a:t>.</a:t>
            </a:r>
            <a:endParaRPr lang="en-US" sz="1800" dirty="0"/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Chúng chứa các hành động quan trọng, nhưng</a:t>
            </a:r>
            <a:r>
              <a:rPr lang="en-US" sz="1800" dirty="0"/>
              <a:t> </a:t>
            </a:r>
            <a:r>
              <a:rPr lang="en-US" sz="1800" dirty="0" err="1"/>
              <a:t>thường</a:t>
            </a:r>
            <a:r>
              <a:rPr lang="vi-VN" sz="1800" dirty="0"/>
              <a:t> không phải là hành động chính trong ứng dụng.</a:t>
            </a:r>
            <a:endParaRPr lang="en-US" sz="1800" dirty="0"/>
          </a:p>
          <a:p>
            <a:pPr algn="just"/>
            <a:endParaRPr lang="vi-VN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678" y="3628200"/>
            <a:ext cx="2655707" cy="9405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670" y="574765"/>
            <a:ext cx="4425724" cy="2540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IconButton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54545" y="929313"/>
            <a:ext cx="39178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b="1" dirty="0"/>
              <a:t>IconButton</a:t>
            </a:r>
            <a:r>
              <a:rPr lang="vi-VN" dirty="0"/>
              <a:t> là một button với một biểu tượng (Icon), người dùng có thể click vào nó để thực hiện một hành động.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Flutter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icon </a:t>
            </a:r>
            <a:r>
              <a:rPr lang="en-US" dirty="0" err="1"/>
              <a:t>đẹp</a:t>
            </a:r>
            <a:r>
              <a:rPr lang="en-US" dirty="0"/>
              <a:t>,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dirty="0"/>
              <a:t>IconButton sẽ không bao gồm nội dung văn bản,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vi-VN" dirty="0"/>
              <a:t>TextButton hoặc ElevatedButton</a:t>
            </a:r>
            <a:r>
              <a:rPr lang="en-US" dirty="0"/>
              <a:t> </a:t>
            </a:r>
            <a:r>
              <a:rPr lang="vi-VN" dirty="0"/>
              <a:t>nếu muốn có một button bao gồm biểu tượng và văn bản</a:t>
            </a:r>
            <a:r>
              <a:rPr lang="en-US" dirty="0"/>
              <a:t>.</a:t>
            </a:r>
            <a:endParaRPr lang="en-US" dirty="0"/>
          </a:p>
          <a:p>
            <a:pPr algn="just"/>
            <a:endParaRPr lang="en-US" dirty="0"/>
          </a:p>
        </p:txBody>
      </p:sp>
      <p:pic>
        <p:nvPicPr>
          <p:cNvPr id="125" name="Picture 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4" y="774764"/>
            <a:ext cx="4261244" cy="3934490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459" y="3485678"/>
            <a:ext cx="1194037" cy="999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1" name="Picture 1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913" y="3485678"/>
            <a:ext cx="1194037" cy="999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3" name="Picture 1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367" y="3485677"/>
            <a:ext cx="1194037" cy="9991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64" y="773645"/>
            <a:ext cx="4261244" cy="39344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 err="1"/>
              <a:t>FloatingActionButton</a:t>
            </a:r>
            <a:r>
              <a:rPr lang="en-US" sz="2000" b="1" dirty="0"/>
              <a:t> </a:t>
            </a:r>
            <a:r>
              <a:rPr lang="en-US" sz="2000" b="1" dirty="0" err="1"/>
              <a:t>và</a:t>
            </a:r>
            <a:r>
              <a:rPr lang="en-US" sz="2000" b="1" dirty="0"/>
              <a:t> </a:t>
            </a:r>
            <a:r>
              <a:rPr lang="en-US" sz="2000" b="1" dirty="0" err="1"/>
              <a:t>các</a:t>
            </a:r>
            <a:r>
              <a:rPr lang="en-US" sz="2000" b="1" dirty="0"/>
              <a:t> variants</a:t>
            </a: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836" y="1351662"/>
            <a:ext cx="50611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FloatingActionButton</a:t>
            </a:r>
            <a:r>
              <a:rPr lang="vi-VN" sz="1800" dirty="0"/>
              <a:t> là một nút biểu tượng hình tròn kích hoạt hành động chính trong ứng dụng.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Nên</a:t>
            </a:r>
            <a:r>
              <a:rPr lang="en-US" sz="1800" dirty="0"/>
              <a:t> s</a:t>
            </a:r>
            <a:r>
              <a:rPr lang="vi-VN" sz="1800" dirty="0"/>
              <a:t>ử dụng tối đa một FloatingActionButton trên mỗi màn hình</a:t>
            </a:r>
            <a:r>
              <a:rPr lang="en-US" sz="1800" dirty="0"/>
              <a:t>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FloatingActionButton nên được dùng cho các hành động tích cực, ví dụ như “tạo mới”, “chia sẻ” hoặc “điều hướng”.</a:t>
            </a:r>
            <a:endParaRPr lang="vi-VN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117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763" y="1820939"/>
            <a:ext cx="2214338" cy="17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2524" y="1065692"/>
            <a:ext cx="7139429" cy="3920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Các </a:t>
            </a:r>
            <a:r>
              <a:rPr lang="en-US" sz="1800" dirty="0" err="1"/>
              <a:t>biến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(variants)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FloatingActionButton</a:t>
            </a:r>
            <a:r>
              <a:rPr lang="en-US" sz="1800" dirty="0"/>
              <a:t>:</a:t>
            </a:r>
            <a:endParaRPr lang="en-US" sz="1800" dirty="0"/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FloatingActionButton.small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():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kích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/>
              <a:t> </a:t>
            </a:r>
            <a:r>
              <a:rPr lang="en-US" sz="1800" dirty="0" err="1"/>
              <a:t>Phù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tác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r>
              <a:rPr lang="en-US" sz="1800" dirty="0"/>
              <a:t> </a:t>
            </a:r>
            <a:r>
              <a:rPr lang="en-US" sz="1800" dirty="0" err="1"/>
              <a:t>phụ</a:t>
            </a:r>
            <a:r>
              <a:rPr lang="en-US" sz="1800" dirty="0"/>
              <a:t>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ít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1" dirty="0">
              <a:ea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FloatingActionButton.large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kích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/>
              <a:t>Phù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mạnh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FloatingActionButton.extended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văn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cùng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nhau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 err="1"/>
              <a:t>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tả</a:t>
            </a:r>
            <a:r>
              <a:rPr lang="en-US" sz="1800" dirty="0"/>
              <a:t> </a:t>
            </a:r>
            <a:r>
              <a:rPr lang="en-US" sz="1800" dirty="0" err="1"/>
              <a:t>rõ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.</a:t>
            </a:r>
            <a:endParaRPr lang="en-US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373" y="953589"/>
            <a:ext cx="2742814" cy="37806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912" y="567940"/>
            <a:ext cx="3040362" cy="44528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13" y="553938"/>
            <a:ext cx="4179390" cy="44678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 err="1"/>
              <a:t>TextField</a:t>
            </a:r>
            <a:r>
              <a:rPr lang="en-US" sz="2000" b="1" dirty="0"/>
              <a:t> </a:t>
            </a:r>
            <a:r>
              <a:rPr lang="en-US" sz="2000" b="1" dirty="0" err="1"/>
              <a:t>với</a:t>
            </a:r>
            <a:r>
              <a:rPr lang="en-US" sz="2000" b="1" dirty="0"/>
              <a:t> controller </a:t>
            </a:r>
            <a:r>
              <a:rPr lang="en-US" sz="2000" b="1" dirty="0" err="1"/>
              <a:t>và</a:t>
            </a:r>
            <a:r>
              <a:rPr lang="en-US" sz="2000" b="1" dirty="0"/>
              <a:t> validation</a:t>
            </a: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9836" y="1260554"/>
            <a:ext cx="6516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widget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văn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bàn</a:t>
            </a:r>
            <a:r>
              <a:rPr lang="en-US" sz="2000" dirty="0"/>
              <a:t> </a:t>
            </a:r>
            <a:r>
              <a:rPr lang="en-US" sz="2000" dirty="0" err="1"/>
              <a:t>phím</a:t>
            </a:r>
            <a:r>
              <a:rPr lang="en-US" sz="2000" dirty="0"/>
              <a:t>.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21481" y="2264328"/>
            <a:ext cx="7998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/>
              <a:t>Vài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b="1" dirty="0" err="1"/>
              <a:t>TextField</a:t>
            </a:r>
            <a:r>
              <a:rPr lang="en-US" sz="2000" dirty="0"/>
              <a:t>: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decoration: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trang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, </a:t>
            </a: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 label, hint, border.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labelText</a:t>
            </a:r>
            <a:r>
              <a:rPr lang="en-US" sz="2000" dirty="0"/>
              <a:t>: </a:t>
            </a:r>
            <a:r>
              <a:rPr lang="en-US" sz="2000" dirty="0" err="1"/>
              <a:t>nhãn</a:t>
            </a:r>
            <a:r>
              <a:rPr lang="en-US" sz="2000" dirty="0"/>
              <a:t> </a:t>
            </a:r>
            <a:r>
              <a:rPr lang="en-US" sz="2000" dirty="0" err="1"/>
              <a:t>hiển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</a:t>
            </a:r>
            <a:r>
              <a:rPr lang="en-US" sz="2000" dirty="0" err="1"/>
              <a:t>bên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hintText</a:t>
            </a:r>
            <a:r>
              <a:rPr lang="en-US" sz="2000" dirty="0"/>
              <a:t>: </a:t>
            </a:r>
            <a:r>
              <a:rPr lang="en-US" sz="2000" dirty="0" err="1"/>
              <a:t>gợi</a:t>
            </a:r>
            <a:r>
              <a:rPr lang="en-US" sz="2000" dirty="0"/>
              <a:t> ý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trống</a:t>
            </a:r>
            <a:r>
              <a:rPr lang="en-US" sz="2000" dirty="0"/>
              <a:t>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Border: </a:t>
            </a:r>
            <a:r>
              <a:rPr lang="en-US" sz="2000" dirty="0" err="1"/>
              <a:t>kiểu</a:t>
            </a:r>
            <a:r>
              <a:rPr lang="en-US" sz="2000" dirty="0"/>
              <a:t> </a:t>
            </a:r>
            <a:r>
              <a:rPr lang="en-US" sz="2000" dirty="0" err="1"/>
              <a:t>viền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 descr="A purple rectangle with white background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959" y="3423299"/>
            <a:ext cx="4555201" cy="812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purple rectangle with white background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959" y="4235957"/>
            <a:ext cx="4555201" cy="811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07" y="777458"/>
            <a:ext cx="4561705" cy="25173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07" y="773645"/>
            <a:ext cx="4554382" cy="25173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876789" y="2974471"/>
            <a:ext cx="583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1102724" y="1306838"/>
            <a:ext cx="66043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Trong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trường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,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thi</a:t>
            </a:r>
            <a:r>
              <a:rPr lang="en-US" sz="1800" dirty="0"/>
              <a:t> </a:t>
            </a:r>
            <a:r>
              <a:rPr lang="en-US" sz="1800" dirty="0" err="1"/>
              <a:t>hàm</a:t>
            </a:r>
            <a:r>
              <a:rPr lang="en-US" sz="1800" dirty="0"/>
              <a:t> callback </a:t>
            </a:r>
            <a:r>
              <a:rPr lang="en-US" sz="1800" dirty="0" err="1"/>
              <a:t>mỗi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văn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TextField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rất</a:t>
            </a:r>
            <a:r>
              <a:rPr lang="en-US" sz="1800" dirty="0"/>
              <a:t> </a:t>
            </a:r>
            <a:r>
              <a:rPr lang="en-US" sz="1800" dirty="0" err="1"/>
              <a:t>hữu</a:t>
            </a:r>
            <a:r>
              <a:rPr lang="en-US" sz="1800" dirty="0"/>
              <a:t> </a:t>
            </a:r>
            <a:r>
              <a:rPr lang="en-US" sz="1800" dirty="0" err="1"/>
              <a:t>ích</a:t>
            </a:r>
            <a:r>
              <a:rPr lang="en-US" sz="1800" dirty="0"/>
              <a:t>.</a:t>
            </a:r>
            <a:endParaRPr lang="en-US" sz="18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tìm</a:t>
            </a:r>
            <a:r>
              <a:rPr lang="en-US" sz="1800" dirty="0"/>
              <a:t> </a:t>
            </a:r>
            <a:r>
              <a:rPr lang="en-US" sz="1800" dirty="0" err="1"/>
              <a:t>kiếm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cập</a:t>
            </a:r>
            <a:r>
              <a:rPr lang="en-US" sz="1800" dirty="0"/>
              <a:t> </a:t>
            </a:r>
            <a:r>
              <a:rPr lang="en-US" sz="1800" dirty="0" err="1"/>
              <a:t>nhật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vào</a:t>
            </a:r>
            <a:r>
              <a:rPr lang="en-US" sz="1800" dirty="0"/>
              <a:t>.</a:t>
            </a:r>
            <a:endParaRPr lang="en-US" sz="18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 err="1"/>
              <a:t>Có</a:t>
            </a:r>
            <a:r>
              <a:rPr lang="en-US" sz="1800" dirty="0"/>
              <a:t> 2 </a:t>
            </a:r>
            <a:r>
              <a:rPr lang="en-US" sz="1800" dirty="0" err="1"/>
              <a:t>cách</a:t>
            </a:r>
            <a:r>
              <a:rPr lang="en-US" sz="1800" dirty="0"/>
              <a:t> </a:t>
            </a:r>
            <a:r>
              <a:rPr lang="en-US" sz="1800" dirty="0" err="1"/>
              <a:t>phổ</a:t>
            </a:r>
            <a:r>
              <a:rPr lang="en-US" sz="1800" dirty="0"/>
              <a:t> </a:t>
            </a:r>
            <a:r>
              <a:rPr lang="en-US" sz="1800" dirty="0" err="1"/>
              <a:t>biến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:</a:t>
            </a:r>
            <a:endParaRPr lang="en-US" sz="1800" dirty="0"/>
          </a:p>
          <a:p>
            <a:pPr marL="342900" lvl="1" indent="-342900">
              <a:buFont typeface="+mj-lt"/>
              <a:buAutoNum type="arabicPeriod"/>
            </a:pPr>
            <a:r>
              <a:rPr lang="en-US" sz="1800" dirty="0" err="1"/>
              <a:t>Hàm</a:t>
            </a:r>
            <a:r>
              <a:rPr lang="en-US" sz="1800" dirty="0"/>
              <a:t> </a:t>
            </a:r>
            <a:r>
              <a:rPr lang="en-US" sz="1800" dirty="0" err="1"/>
              <a:t>onChanged</a:t>
            </a:r>
            <a:r>
              <a:rPr lang="en-US" sz="1800" dirty="0"/>
              <a:t>()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r>
              <a:rPr lang="en-US" sz="1800" dirty="0"/>
              <a:t> </a:t>
            </a:r>
            <a:r>
              <a:rPr lang="en-US" sz="1800" dirty="0" err="1"/>
              <a:t>tới</a:t>
            </a:r>
            <a:r>
              <a:rPr lang="en-US" sz="1800" dirty="0"/>
              <a:t> </a:t>
            </a:r>
            <a:r>
              <a:rPr lang="en-US" sz="1800" dirty="0" err="1"/>
              <a:t>TextField</a:t>
            </a:r>
            <a:r>
              <a:rPr lang="en-US" sz="1800" dirty="0"/>
              <a:t>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en-US" sz="1800" dirty="0" err="1"/>
              <a:t>TextFormField</a:t>
            </a:r>
            <a:r>
              <a:rPr lang="en-US" sz="1800" dirty="0"/>
              <a:t>.</a:t>
            </a:r>
            <a:endParaRPr lang="en-US" sz="1800" dirty="0"/>
          </a:p>
          <a:p>
            <a:pPr marL="342900" lvl="1" indent="-342900">
              <a:buFont typeface="+mj-lt"/>
              <a:buAutoNum type="arabicPeriod"/>
            </a:pP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 </a:t>
            </a:r>
            <a:r>
              <a:rPr lang="en-US" sz="1800" b="1" dirty="0" err="1"/>
              <a:t>TextEditingController</a:t>
            </a:r>
            <a:r>
              <a:rPr lang="en-US" sz="1800" b="1" dirty="0"/>
              <a:t>()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theo</a:t>
            </a:r>
            <a:r>
              <a:rPr lang="en-US" sz="1800" dirty="0"/>
              <a:t> </a:t>
            </a:r>
            <a:r>
              <a:rPr lang="en-US" sz="1800" dirty="0" err="1"/>
              <a:t>dõi</a:t>
            </a:r>
            <a:r>
              <a:rPr lang="en-US" sz="1800" dirty="0"/>
              <a:t>,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khiển</a:t>
            </a:r>
            <a:r>
              <a:rPr lang="en-US" sz="1800" dirty="0"/>
              <a:t> </a:t>
            </a:r>
            <a:r>
              <a:rPr lang="en-US" sz="1800" dirty="0" err="1"/>
              <a:t>nội</a:t>
            </a:r>
            <a:r>
              <a:rPr lang="en-US" sz="1800" dirty="0"/>
              <a:t> dung </a:t>
            </a:r>
            <a:r>
              <a:rPr lang="en-US" sz="1800" dirty="0" err="1"/>
              <a:t>nhập</a:t>
            </a:r>
            <a:endParaRPr lang="en-US" sz="1800" dirty="0"/>
          </a:p>
          <a:p>
            <a:pPr algn="just"/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085498" y="1188974"/>
            <a:ext cx="66477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err="1"/>
              <a:t>TextEditingController</a:t>
            </a:r>
            <a:r>
              <a:rPr lang="en-US" sz="2000" b="1" dirty="0"/>
              <a:t>()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lớp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Flutter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dõi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 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Nó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ta </a:t>
            </a:r>
            <a:r>
              <a:rPr lang="en-US" sz="2000" dirty="0" err="1"/>
              <a:t>lấy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đang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, </a:t>
            </a:r>
            <a:r>
              <a:rPr lang="en-US" sz="2000" dirty="0" err="1"/>
              <a:t>gán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,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dõi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,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phóng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nhớ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còn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.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78" y="3670663"/>
            <a:ext cx="4442347" cy="1008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362" y="850593"/>
            <a:ext cx="3812326" cy="38289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0" name="Picture 1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78" y="1235948"/>
            <a:ext cx="4442348" cy="22844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8284" y="1375719"/>
            <a:ext cx="63608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Để đảm bảo ứng dụng an toàn và dễ sử dụng, </a:t>
            </a:r>
            <a:r>
              <a:rPr lang="en-US" sz="2000" dirty="0" err="1"/>
              <a:t>cần</a:t>
            </a:r>
            <a:r>
              <a:rPr lang="vi-VN" sz="2000" dirty="0"/>
              <a:t> kiểm tra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</a:t>
            </a:r>
            <a:r>
              <a:rPr lang="en-US" sz="2000" dirty="0" err="1"/>
              <a:t>lệ</a:t>
            </a:r>
            <a:r>
              <a:rPr lang="en-US" sz="2000" dirty="0"/>
              <a:t> </a:t>
            </a:r>
            <a:r>
              <a:rPr lang="en-US" sz="2000" b="1" dirty="0"/>
              <a:t>(Validation)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vi-VN" sz="2000" dirty="0"/>
              <a:t>thông tin người dùng 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Thường đ</a:t>
            </a:r>
            <a:r>
              <a:rPr lang="vi-VN" sz="2000" dirty="0"/>
              <a:t>ược sử dụng trong các form đăng ký, đăng nhập, nhập email, mật khẩu</a:t>
            </a:r>
            <a:r>
              <a:rPr lang="en-US" sz="2000" dirty="0"/>
              <a:t>, v.v.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en-US" sz="2000" dirty="0" err="1"/>
              <a:t>đảm</a:t>
            </a:r>
            <a:r>
              <a:rPr lang="en-US" sz="2000" dirty="0"/>
              <a:t>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, </a:t>
            </a:r>
            <a:r>
              <a:rPr lang="en-US" sz="2000" dirty="0" err="1"/>
              <a:t>tránh</a:t>
            </a:r>
            <a:r>
              <a:rPr lang="en-US" sz="2000" dirty="0"/>
              <a:t> </a:t>
            </a:r>
            <a:r>
              <a:rPr lang="en-US" sz="2000" dirty="0" err="1"/>
              <a:t>lỗi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199" y="1308951"/>
            <a:ext cx="3363155" cy="9346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199" y="3038802"/>
            <a:ext cx="3355528" cy="1625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5" name="Picture 1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37" y="686622"/>
            <a:ext cx="4025106" cy="43752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/>
              <a:t>Switch, Checkbox, Radio, Slider</a:t>
            </a: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Switch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91145" y="1574212"/>
            <a:ext cx="58889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Switch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widget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bật</a:t>
            </a:r>
            <a:r>
              <a:rPr lang="en-US" sz="2000" dirty="0"/>
              <a:t>/</a:t>
            </a:r>
            <a:r>
              <a:rPr lang="en-US" sz="2000" dirty="0" err="1"/>
              <a:t>tắt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cài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duy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Khi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switch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, widget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gọi</a:t>
            </a:r>
            <a:r>
              <a:rPr lang="en-US" sz="2000" dirty="0"/>
              <a:t> </a:t>
            </a:r>
            <a:r>
              <a:rPr lang="en-US" sz="2000" dirty="0" err="1"/>
              <a:t>hàm</a:t>
            </a:r>
            <a:r>
              <a:rPr lang="en-US" sz="2000" dirty="0"/>
              <a:t> callback </a:t>
            </a:r>
            <a:r>
              <a:rPr lang="en-US" sz="2000" dirty="0" err="1"/>
              <a:t>onChanged</a:t>
            </a:r>
            <a:r>
              <a:rPr lang="en-US" sz="2000" dirty="0"/>
              <a:t>()</a:t>
            </a:r>
            <a:endParaRPr lang="en-US" sz="2000" dirty="0"/>
          </a:p>
          <a:p>
            <a:endParaRPr lang="en-US" sz="2000" dirty="0"/>
          </a:p>
          <a:p>
            <a:pPr algn="just"/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Switch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6539" r="12025"/>
          <a:stretch>
            <a:fillRect/>
          </a:stretch>
        </p:blipFill>
        <p:spPr>
          <a:xfrm>
            <a:off x="6063682" y="1237319"/>
            <a:ext cx="1231924" cy="1012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682" y="2249386"/>
            <a:ext cx="1231924" cy="926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6605" r="6605"/>
          <a:stretch>
            <a:fillRect/>
          </a:stretch>
        </p:blipFill>
        <p:spPr>
          <a:xfrm>
            <a:off x="6063681" y="3175497"/>
            <a:ext cx="1231925" cy="981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163" y="743254"/>
            <a:ext cx="3831608" cy="4081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Checkbox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6616" y="1417588"/>
            <a:ext cx="63790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Checkbox</a:t>
            </a:r>
            <a:r>
              <a:rPr lang="vi-VN" sz="2000" dirty="0"/>
              <a:t> là một widget cho phép người dùng chọn</a:t>
            </a:r>
            <a:r>
              <a:rPr lang="en-US" sz="2000" dirty="0"/>
              <a:t> </a:t>
            </a:r>
            <a:r>
              <a:rPr lang="vi-VN" sz="2000" dirty="0"/>
              <a:t>hoặc bỏ chọn một tùy chọn</a:t>
            </a:r>
            <a:r>
              <a:rPr lang="en-US" sz="2000" dirty="0"/>
              <a:t>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Checkbox không tự duy trì trạng thái, mà khi </a:t>
            </a:r>
            <a:r>
              <a:rPr lang="en-US" sz="2000" dirty="0" err="1"/>
              <a:t>nó</a:t>
            </a:r>
            <a:r>
              <a:rPr lang="en-US" sz="2000" dirty="0"/>
              <a:t> </a:t>
            </a:r>
            <a:r>
              <a:rPr lang="vi-VN" sz="2000" dirty="0"/>
              <a:t>thay đổi sẽ gọi hàm onChanged() để cập nhật</a:t>
            </a:r>
            <a:r>
              <a:rPr lang="en-US" sz="2000" dirty="0"/>
              <a:t> </a:t>
            </a:r>
            <a:r>
              <a:rPr lang="vi-VN" sz="2000" dirty="0"/>
              <a:t>giá trị.</a:t>
            </a:r>
            <a:endParaRPr lang="en-US" sz="2000" dirty="0"/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Checkbox có thể hiển thị ba trạng thái </a:t>
            </a:r>
            <a:r>
              <a:rPr lang="en-US" sz="2000" dirty="0" err="1"/>
              <a:t>là</a:t>
            </a:r>
            <a:r>
              <a:rPr lang="vi-VN" sz="2000" dirty="0"/>
              <a:t> true, false, và null</a:t>
            </a:r>
            <a:r>
              <a:rPr lang="en-US" sz="2000" dirty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Checkbox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21" y="2980740"/>
            <a:ext cx="3116245" cy="1721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86" y="1126283"/>
            <a:ext cx="4476516" cy="1563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424" y="496388"/>
            <a:ext cx="3499410" cy="44919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Radio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1053" y="1435040"/>
            <a:ext cx="50333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Radio</a:t>
            </a:r>
            <a:r>
              <a:rPr lang="vi-VN" sz="2000" dirty="0"/>
              <a:t> là một nút chọn (radio button)</a:t>
            </a:r>
            <a:r>
              <a:rPr lang="en-US" sz="2000" dirty="0"/>
              <a:t> </a:t>
            </a:r>
            <a:r>
              <a:rPr lang="vi-VN" sz="2000" dirty="0"/>
              <a:t>dùng để chọn một giá trị duy nhất trong một nhóm các lựa chọn</a:t>
            </a:r>
            <a:r>
              <a:rPr lang="en-US" sz="2000" dirty="0"/>
              <a:t>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Khi một nút radio trong nhóm được chọn </a:t>
            </a:r>
            <a:r>
              <a:rPr lang="en-US" sz="2000" dirty="0" err="1"/>
              <a:t>thì</a:t>
            </a:r>
            <a:r>
              <a:rPr lang="vi-VN" sz="2000" dirty="0"/>
              <a:t> các nút khác tự động bỏ chọn.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/>
            <a:endParaRPr lang="vi-VN" sz="20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   </a:t>
            </a:r>
            <a:endParaRPr lang="en-US" sz="2000" dirty="0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097" y="1540734"/>
            <a:ext cx="1982210" cy="20620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Radio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732" y="1230644"/>
            <a:ext cx="1912749" cy="1393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70" y="2892227"/>
            <a:ext cx="1912011" cy="1393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806" y="65892"/>
            <a:ext cx="3657600" cy="50117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91134" y="1043355"/>
            <a:ext cx="65094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>
                <a:latin typeface="+mn-lt"/>
              </a:rPr>
              <a:t>Slider</a:t>
            </a:r>
            <a:r>
              <a:rPr lang="vi-VN" sz="2000" dirty="0">
                <a:latin typeface="+mn-lt"/>
              </a:rPr>
              <a:t> là một widget dùng để chọn một giá trị trong một khoảng cho trước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khoảng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liên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tục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hoặc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rời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rạc</a:t>
            </a:r>
            <a:r>
              <a:rPr lang="en-US" sz="2000" dirty="0">
                <a:latin typeface="+mn-lt"/>
              </a:rPr>
              <a:t>).</a:t>
            </a:r>
            <a:r>
              <a:rPr lang="vi-VN" sz="2000" dirty="0">
                <a:latin typeface="+mn-lt"/>
              </a:rPr>
              <a:t> </a:t>
            </a: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>
                <a:latin typeface="+mn-lt"/>
              </a:rPr>
              <a:t>Người dùng có thể trượt thanh trượt để chọn giá trị mong muốn.</a:t>
            </a: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Slider không lưu trạng thái của chính nó</a:t>
            </a:r>
            <a:r>
              <a:rPr lang="en-US" sz="2000" dirty="0"/>
              <a:t>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K</a:t>
            </a:r>
            <a:r>
              <a:rPr lang="vi-VN" sz="2000" dirty="0"/>
              <a:t>hi người dùng kéo thay đổi giá trị, nó gọi onChanged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vi-VN" sz="2000" dirty="0"/>
              <a:t>cập nhật giá trị.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51083" y="1233625"/>
            <a:ext cx="78418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Thumb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nút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tròn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người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kéo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Track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đường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nằm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ngang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di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chuyển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dọc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Active side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track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chọn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Inactive side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track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max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chưa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chọn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 indicator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kéo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282" y="3234307"/>
            <a:ext cx="4085436" cy="1351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428" y="716420"/>
            <a:ext cx="4017974" cy="1502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creenshot of a computer program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6" y="716420"/>
            <a:ext cx="3851593" cy="4252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428" y="2232350"/>
            <a:ext cx="4017975" cy="27367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 err="1"/>
              <a:t>GestureDetector</a:t>
            </a:r>
            <a:r>
              <a:rPr lang="en-US" sz="2000" b="1" dirty="0"/>
              <a:t> </a:t>
            </a:r>
            <a:r>
              <a:rPr lang="en-US" sz="2000" b="1" dirty="0" err="1"/>
              <a:t>và</a:t>
            </a:r>
            <a:r>
              <a:rPr lang="en-US" sz="2000" b="1" dirty="0"/>
              <a:t> </a:t>
            </a:r>
            <a:r>
              <a:rPr lang="en-US" sz="2000" b="1" dirty="0" err="1"/>
              <a:t>InkWell</a:t>
            </a: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53585" y="1674286"/>
            <a:ext cx="55677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GestureDetector </a:t>
            </a:r>
            <a:r>
              <a:rPr lang="vi-VN" sz="2000" dirty="0"/>
              <a:t>là widget dùng để phát hiện</a:t>
            </a:r>
            <a:r>
              <a:rPr lang="en-US" sz="2000" dirty="0"/>
              <a:t>,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vi-VN" sz="2000" dirty="0"/>
              <a:t> các cử chỉ (gestures) người dùng: nhấn, kéo, nhấn giữ, chạm đúp, v.v.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InkWell </a:t>
            </a:r>
            <a:r>
              <a:rPr lang="vi-VN" sz="2000" dirty="0"/>
              <a:t>là widget tương tác với hiệu ứng ripple (gợn sóng) khi người dùng chạm vào</a:t>
            </a:r>
            <a:r>
              <a:rPr lang="en-US" sz="2000" dirty="0"/>
              <a:t>.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42612" y="1417588"/>
            <a:ext cx="7383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800" dirty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 err="1"/>
              <a:t>Cả</a:t>
            </a:r>
            <a:r>
              <a:rPr lang="en-US" sz="1800" dirty="0"/>
              <a:t> </a:t>
            </a:r>
            <a:r>
              <a:rPr lang="en-US" sz="1800" dirty="0" err="1"/>
              <a:t>hai</a:t>
            </a:r>
            <a:r>
              <a:rPr lang="en-US" sz="1800" dirty="0"/>
              <a:t> widget </a:t>
            </a:r>
            <a:r>
              <a:rPr lang="en-US" sz="1800" dirty="0" err="1"/>
              <a:t>đều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thuộc</a:t>
            </a:r>
            <a:r>
              <a:rPr lang="en-US" sz="1800" dirty="0"/>
              <a:t> </a:t>
            </a:r>
            <a:r>
              <a:rPr lang="en-US" sz="1800" dirty="0" err="1"/>
              <a:t>tính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kiện</a:t>
            </a:r>
            <a:r>
              <a:rPr lang="en-US" sz="1800" dirty="0"/>
              <a:t>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tác</a:t>
            </a:r>
            <a:r>
              <a:rPr lang="en-US" sz="1800" dirty="0"/>
              <a:t>.</a:t>
            </a:r>
            <a:endParaRPr lang="en-US" sz="1800" dirty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Các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thuộc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tính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chính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như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vi-VN" sz="1800" b="1" dirty="0"/>
              <a:t>onTap</a:t>
            </a:r>
            <a:r>
              <a:rPr lang="vi-VN" sz="1800" dirty="0"/>
              <a:t>: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vi-VN" sz="1800" dirty="0"/>
              <a:t>khi người dùng chạm </a:t>
            </a:r>
            <a:r>
              <a:rPr lang="en-US" sz="1800" dirty="0" err="1"/>
              <a:t>vào</a:t>
            </a:r>
            <a:r>
              <a:rPr lang="vi-VN" sz="1800" dirty="0"/>
              <a:t>.</a:t>
            </a:r>
            <a:endParaRPr lang="en-US" sz="1800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vi-VN" sz="1800" b="1" dirty="0"/>
              <a:t>onDoubleTap</a:t>
            </a:r>
            <a:r>
              <a:rPr lang="vi-VN" sz="1800" dirty="0"/>
              <a:t>: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vi-VN" sz="1800" dirty="0"/>
              <a:t>khi người dùng chạm hai lần.</a:t>
            </a:r>
            <a:endParaRPr lang="en-US" sz="1800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vi-VN" sz="1800" b="1" dirty="0"/>
              <a:t>onLongPress</a:t>
            </a:r>
            <a:r>
              <a:rPr lang="vi-VN" sz="1800" dirty="0"/>
              <a:t>: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vi-VN" sz="1800" dirty="0"/>
              <a:t>khi người d</a:t>
            </a:r>
            <a:r>
              <a:rPr lang="en-US" sz="1800" dirty="0" err="1"/>
              <a:t>ùng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giữ</a:t>
            </a:r>
            <a:r>
              <a:rPr lang="en-US" sz="1800" dirty="0"/>
              <a:t>.</a:t>
            </a:r>
            <a:endParaRPr lang="en-US" sz="1800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en-US" sz="1800" b="1" dirty="0" err="1"/>
              <a:t>borderRadius</a:t>
            </a:r>
            <a:r>
              <a:rPr lang="en-US" sz="1800" dirty="0"/>
              <a:t>: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bo</a:t>
            </a:r>
            <a:r>
              <a:rPr lang="en-US" sz="1800" dirty="0"/>
              <a:t> </a:t>
            </a:r>
            <a:r>
              <a:rPr lang="en-US" sz="1800" dirty="0" err="1"/>
              <a:t>góc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hiệu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ripple (</a:t>
            </a:r>
            <a:r>
              <a:rPr lang="en-US" sz="1800" dirty="0" err="1"/>
              <a:t>chỉ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InkWell</a:t>
            </a:r>
            <a:r>
              <a:rPr lang="en-US" sz="1800" dirty="0"/>
              <a:t>).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028" y="933995"/>
            <a:ext cx="2604432" cy="16377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028" y="2804499"/>
            <a:ext cx="2604432" cy="1637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62" y="773645"/>
            <a:ext cx="3520149" cy="39243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028" y="933995"/>
            <a:ext cx="2604432" cy="16377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028" y="2804499"/>
            <a:ext cx="2604432" cy="1637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62" y="773645"/>
            <a:ext cx="3520149" cy="3924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62" y="773645"/>
            <a:ext cx="3520149" cy="3924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2029" y="933994"/>
            <a:ext cx="2604432" cy="1637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2028" y="2800531"/>
            <a:ext cx="2604432" cy="1637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Nhận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xét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836" y="1745145"/>
            <a:ext cx="57125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 dirty="0"/>
              <a:t>Các </a:t>
            </a:r>
            <a:r>
              <a:rPr lang="en-US" sz="2000" dirty="0"/>
              <a:t>Button Widget, Input Widget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vi-VN" sz="2000" dirty="0"/>
              <a:t>nền tảng của tương tác người dùng trong Flutter</a:t>
            </a:r>
            <a:r>
              <a:rPr lang="en-US" sz="2000" dirty="0"/>
              <a:t>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 dirty="0"/>
              <a:t>Việc hiểu và kết hợp linh hoạt giúp tạo nên giao diện thân thiện, trực quan và chuyên nghiệp cho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vi-VN" sz="2000" dirty="0"/>
              <a:t>ứng dụng đa nền tảng</a:t>
            </a:r>
            <a:r>
              <a:rPr lang="en-US" sz="2000" dirty="0"/>
              <a:t>.</a:t>
            </a:r>
            <a:endParaRPr lang="en-US" sz="2000" dirty="0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408" y="0"/>
            <a:ext cx="248859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Tài </a:t>
            </a:r>
            <a:r>
              <a:rPr lang="en-US" sz="2800" b="1" dirty="0" err="1">
                <a:solidFill>
                  <a:schemeClr val="tx1"/>
                </a:solidFill>
              </a:rPr>
              <a:t>liệu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tham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khảo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3383" y="1201041"/>
            <a:ext cx="73618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[1]. </a:t>
            </a:r>
            <a:r>
              <a:rPr lang="en-US" sz="1800" dirty="0"/>
              <a:t>Flutter API reference documentation. </a:t>
            </a:r>
            <a:endParaRPr lang="en-US" sz="1800" dirty="0"/>
          </a:p>
          <a:p>
            <a:pPr fontAlgn="base"/>
            <a:r>
              <a:rPr lang="en-US" sz="1800" dirty="0"/>
              <a:t>Link: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https://api.flutter.dev/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/>
            <a:endParaRPr lang="en-US" sz="1800" dirty="0"/>
          </a:p>
          <a:p>
            <a:pPr fontAlgn="base"/>
            <a:r>
              <a:rPr lang="en-US" sz="1800" b="1" dirty="0"/>
              <a:t>[2]. </a:t>
            </a:r>
            <a:r>
              <a:rPr lang="en-US" sz="1800" dirty="0"/>
              <a:t>Flutter Official Documentation.</a:t>
            </a:r>
            <a:endParaRPr lang="en-US" sz="1800" dirty="0"/>
          </a:p>
          <a:p>
            <a:pPr fontAlgn="base"/>
            <a:r>
              <a:rPr lang="en-US" sz="1800" dirty="0"/>
              <a:t>Link: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https://docs.flutter.dev/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/>
            <a:endParaRPr lang="en-US" sz="1800" dirty="0"/>
          </a:p>
          <a:p>
            <a:pPr fontAlgn="base"/>
            <a:r>
              <a:rPr lang="en-US" sz="1800" b="1" dirty="0"/>
              <a:t>[3]. </a:t>
            </a:r>
            <a:r>
              <a:rPr lang="en-US" sz="1800" dirty="0" err="1"/>
              <a:t>GeeksforGeeks</a:t>
            </a:r>
            <a:r>
              <a:rPr lang="en-US" sz="1800" dirty="0"/>
              <a:t> Flutter Tutorial. </a:t>
            </a:r>
            <a:endParaRPr lang="en-US" sz="1800" dirty="0"/>
          </a:p>
          <a:p>
            <a:pPr fontAlgn="base"/>
            <a:r>
              <a:rPr lang="en-US" sz="1800" dirty="0"/>
              <a:t>Link: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/>
              </a:rPr>
              <a:t>https://www.geeksforgeeks.org/flutter/flutter-tutorial/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/>
            <a:endParaRPr lang="en-US" sz="1800" dirty="0"/>
          </a:p>
          <a:p>
            <a:r>
              <a:rPr lang="en-US" sz="1800" b="1" dirty="0"/>
              <a:t>[4]. </a:t>
            </a:r>
            <a:r>
              <a:rPr lang="en-US" sz="1800" dirty="0" err="1"/>
              <a:t>TS.Nguyễn</a:t>
            </a:r>
            <a:r>
              <a:rPr lang="en-US" sz="1800" dirty="0"/>
              <a:t> Duy Nhật </a:t>
            </a:r>
            <a:r>
              <a:rPr lang="en-US" sz="1800" dirty="0" err="1"/>
              <a:t>Viễn</a:t>
            </a:r>
            <a:r>
              <a:rPr lang="en-US" sz="1800" dirty="0"/>
              <a:t>, Slide </a:t>
            </a:r>
            <a:r>
              <a:rPr lang="en-US" sz="1800" dirty="0" err="1"/>
              <a:t>bài</a:t>
            </a:r>
            <a:r>
              <a:rPr lang="en-US" sz="1800" dirty="0"/>
              <a:t> </a:t>
            </a:r>
            <a:r>
              <a:rPr lang="en-US" sz="1800" dirty="0" err="1"/>
              <a:t>giảng</a:t>
            </a:r>
            <a:r>
              <a:rPr lang="en-US" sz="1800" dirty="0"/>
              <a:t> </a:t>
            </a:r>
            <a:r>
              <a:rPr lang="en-US" sz="1800" dirty="0" err="1"/>
              <a:t>lập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đa</a:t>
            </a:r>
            <a:r>
              <a:rPr lang="en-US" sz="1800" dirty="0"/>
              <a:t> </a:t>
            </a:r>
            <a:r>
              <a:rPr lang="en-US" sz="1800" dirty="0" err="1"/>
              <a:t>nền</a:t>
            </a:r>
            <a:r>
              <a:rPr lang="en-US" sz="1800" dirty="0"/>
              <a:t> </a:t>
            </a:r>
            <a:r>
              <a:rPr lang="en-US" sz="1800" dirty="0" err="1"/>
              <a:t>tảng</a:t>
            </a:r>
            <a:r>
              <a:rPr lang="en-US" sz="1800" dirty="0"/>
              <a:t>, </a:t>
            </a:r>
            <a:endParaRPr lang="en-US" sz="1800" dirty="0"/>
          </a:p>
          <a:p>
            <a:r>
              <a:rPr lang="en-US" sz="1800" dirty="0"/>
              <a:t>Khoa ĐT-VT, Trường Đại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Bách</a:t>
            </a:r>
            <a:r>
              <a:rPr lang="en-US" sz="1800" dirty="0"/>
              <a:t> Khoa, Đại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Đà</a:t>
            </a:r>
            <a:r>
              <a:rPr lang="en-US" sz="1800" dirty="0"/>
              <a:t> </a:t>
            </a:r>
            <a:r>
              <a:rPr lang="en-US" sz="1800" dirty="0" err="1"/>
              <a:t>Nẵng</a:t>
            </a:r>
            <a:r>
              <a:rPr lang="en-US" sz="1800" dirty="0"/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/>
          <p:cNvSpPr txBox="1"/>
          <p:nvPr/>
        </p:nvSpPr>
        <p:spPr>
          <a:xfrm>
            <a:off x="1217051" y="1634569"/>
            <a:ext cx="6709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Thầy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các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chú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ý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lắng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nghe</a:t>
            </a:r>
            <a:endParaRPr lang="vi-VN" sz="4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pSp>
        <p:nvGrpSpPr>
          <p:cNvPr id="3" name="Google Shape;9222;p75"/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/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9" name="Google Shape;9224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" name="Google Shape;9225;p75"/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" name="Google Shape;9226;p75"/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" name="Google Shape;9227;p75"/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" name="Google Shape;9228;p75"/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" name="Google Shape;9229;p75"/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" name="Google Shape;9230;p75"/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" name="Google Shape;9231;p75"/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" name="Google Shape;9232;p75"/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" name="Google Shape;9233;p75"/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" name="Google Shape;9234;p75"/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" name="Google Shape;9235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" name="Google Shape;9236;p75"/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" name="Google Shape;9237;p75"/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" name="Google Shape;9238;p75"/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" name="Google Shape;9239;p75"/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" name="Google Shape;9240;p75"/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" name="Google Shape;9241;p75"/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" name="Google Shape;9242;p75"/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" name="Google Shape;9243;p75"/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" name="Google Shape;9244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" name="Google Shape;9245;p75"/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" name="Google Shape;9246;p75"/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247;p75"/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248;p75"/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249;p75"/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9250;p75"/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" name="Google Shape;9251;p75"/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9252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9253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" name="Google Shape;9254;p75"/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9255;p75"/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" name="Google Shape;9256;p75"/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9257;p75"/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9258;p75"/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9259;p75"/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" name="Google Shape;9260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" name="Google Shape;9261;p75"/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" name="Google Shape;9262;p75"/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" name="Google Shape;9263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" name="Google Shape;9264;p75"/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" name="Google Shape;9265;p75"/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" name="Google Shape;9266;p75"/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" name="Google Shape;9267;p75"/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7" name="Google Shape;9268;p75"/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" name="Google Shape;9269;p75"/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" name="Google Shape;9270;p75"/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7" name="Google Shape;9271;p75"/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" name="Google Shape;9272;p75"/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C42CFF30DAD49AD9447EB755AC427" ma:contentTypeVersion="9" ma:contentTypeDescription="Create a new document." ma:contentTypeScope="" ma:versionID="00fc81c611e2d985d29b8c67f95f5336">
  <xsd:schema xmlns:xsd="http://www.w3.org/2001/XMLSchema" xmlns:xs="http://www.w3.org/2001/XMLSchema" xmlns:p="http://schemas.microsoft.com/office/2006/metadata/properties" xmlns:ns3="87ded781-2f94-4d69-8848-7c5557f2fdca" targetNamespace="http://schemas.microsoft.com/office/2006/metadata/properties" ma:root="true" ma:fieldsID="8c32b20bd09e9b12c15c9e36a944054d" ns3:_="">
    <xsd:import namespace="87ded781-2f94-4d69-8848-7c5557f2f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d781-2f94-4d69-8848-7c5557f2f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ded781-2f94-4d69-8848-7c5557f2fdc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58934A-EA2E-4B90-9DA9-E37FDA28B5E0}">
  <ds:schemaRefs/>
</ds:datastoreItem>
</file>

<file path=customXml/itemProps2.xml><?xml version="1.0" encoding="utf-8"?>
<ds:datastoreItem xmlns:ds="http://schemas.openxmlformats.org/officeDocument/2006/customXml" ds:itemID="{B577751D-C2AE-47AE-B730-2461DCDA2DB3}">
  <ds:schemaRefs/>
</ds:datastoreItem>
</file>

<file path=customXml/itemProps3.xml><?xml version="1.0" encoding="utf-8"?>
<ds:datastoreItem xmlns:ds="http://schemas.openxmlformats.org/officeDocument/2006/customXml" ds:itemID="{2E6CE2DE-889C-460E-A7A1-527106FD505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9495</Words>
  <Application>WPS Presentation</Application>
  <PresentationFormat>On-screen Show (16:9)</PresentationFormat>
  <Paragraphs>395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Arial</vt:lpstr>
      <vt:lpstr>SimSun</vt:lpstr>
      <vt:lpstr>Wingdings</vt:lpstr>
      <vt:lpstr>Arial</vt:lpstr>
      <vt:lpstr>Albert Sans</vt:lpstr>
      <vt:lpstr>DM Sans</vt:lpstr>
      <vt:lpstr>Cambria</vt:lpstr>
      <vt:lpstr>Times New Roman</vt:lpstr>
      <vt:lpstr>Microsoft YaHei</vt:lpstr>
      <vt:lpstr>Arial Unicode MS</vt:lpstr>
      <vt:lpstr>Aptos</vt:lpstr>
      <vt:lpstr>Segoe UI</vt:lpstr>
      <vt:lpstr>Digitization in the Classroom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Tín Trần Đại</dc:creator>
  <cp:lastModifiedBy>Truong Nguyen</cp:lastModifiedBy>
  <cp:revision>27</cp:revision>
  <dcterms:created xsi:type="dcterms:W3CDTF">2025-10-20T19:07:22Z</dcterms:created>
  <dcterms:modified xsi:type="dcterms:W3CDTF">2025-10-20T19:45:30Z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0x01010043BC42CFF30DAD49AD9447EB755AC427</vt:lpwstr>
  </property>
  <property fmtid="{D5CDD505-2E9C-101B-9397-08002B2CF9AE}" pid="3" name="ICV">
    <vt:lpwstr>C08B894C18124F499F3E74523E944973_12</vt:lpwstr>
  </property>
  <property fmtid="{D5CDD505-2E9C-101B-9397-08002B2CF9AE}" pid="4" name="KSOProductBuildVer">
    <vt:lpwstr>1033-12.2.0.23131</vt:lpwstr>
  </property>
</Properties>
</file>